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tags/tag30.xml" ContentType="application/vnd.openxmlformats-officedocument.presentationml.tags+xml"/>
  <Override PartName="/ppt/notesSlides/notesSlide31.xml" ContentType="application/vnd.openxmlformats-officedocument.presentationml.notesSlide+xml"/>
  <Override PartName="/ppt/tags/tag31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32.xml" ContentType="application/vnd.openxmlformats-officedocument.presentationml.tags+xml"/>
  <Override PartName="/ppt/notesSlides/notesSlide34.xml" ContentType="application/vnd.openxmlformats-officedocument.presentationml.notesSlide+xml"/>
  <Override PartName="/ppt/tags/tag33.xml" ContentType="application/vnd.openxmlformats-officedocument.presentationml.tags+xml"/>
  <Override PartName="/ppt/notesSlides/notesSlide35.xml" ContentType="application/vnd.openxmlformats-officedocument.presentationml.notesSlide+xml"/>
  <Override PartName="/ppt/tags/tag34.xml" ContentType="application/vnd.openxmlformats-officedocument.presentationml.tags+xml"/>
  <Override PartName="/ppt/notesSlides/notesSlide36.xml" ContentType="application/vnd.openxmlformats-officedocument.presentationml.notesSlide+xml"/>
  <Override PartName="/ppt/tags/tag35.xml" ContentType="application/vnd.openxmlformats-officedocument.presentationml.tags+xml"/>
  <Override PartName="/ppt/notesSlides/notesSlide37.xml" ContentType="application/vnd.openxmlformats-officedocument.presentationml.notesSlide+xml"/>
  <Override PartName="/ppt/tags/tag36.xml" ContentType="application/vnd.openxmlformats-officedocument.presentationml.tags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76" r:id="rId2"/>
    <p:sldId id="304" r:id="rId3"/>
    <p:sldId id="374" r:id="rId4"/>
    <p:sldId id="399" r:id="rId5"/>
    <p:sldId id="444" r:id="rId6"/>
    <p:sldId id="401" r:id="rId7"/>
    <p:sldId id="429" r:id="rId8"/>
    <p:sldId id="402" r:id="rId9"/>
    <p:sldId id="403" r:id="rId10"/>
    <p:sldId id="404" r:id="rId11"/>
    <p:sldId id="405" r:id="rId12"/>
    <p:sldId id="406" r:id="rId13"/>
    <p:sldId id="432" r:id="rId14"/>
    <p:sldId id="433" r:id="rId15"/>
    <p:sldId id="407" r:id="rId16"/>
    <p:sldId id="446" r:id="rId17"/>
    <p:sldId id="408" r:id="rId18"/>
    <p:sldId id="434" r:id="rId19"/>
    <p:sldId id="423" r:id="rId20"/>
    <p:sldId id="367" r:id="rId21"/>
    <p:sldId id="412" r:id="rId22"/>
    <p:sldId id="413" r:id="rId23"/>
    <p:sldId id="414" r:id="rId24"/>
    <p:sldId id="415" r:id="rId25"/>
    <p:sldId id="416" r:id="rId26"/>
    <p:sldId id="417" r:id="rId27"/>
    <p:sldId id="437" r:id="rId28"/>
    <p:sldId id="422" r:id="rId29"/>
    <p:sldId id="373" r:id="rId30"/>
    <p:sldId id="419" r:id="rId31"/>
    <p:sldId id="382" r:id="rId32"/>
    <p:sldId id="385" r:id="rId33"/>
    <p:sldId id="383" r:id="rId34"/>
    <p:sldId id="381" r:id="rId35"/>
    <p:sldId id="363" r:id="rId36"/>
    <p:sldId id="350" r:id="rId37"/>
    <p:sldId id="380" r:id="rId38"/>
    <p:sldId id="42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B5FFF9"/>
    <a:srgbClr val="FFE69D"/>
    <a:srgbClr val="8EFA00"/>
    <a:srgbClr val="FDDCD9"/>
    <a:srgbClr val="D6ACED"/>
    <a:srgbClr val="FF2600"/>
    <a:srgbClr val="D3F2FB"/>
    <a:srgbClr val="929292"/>
    <a:srgbClr val="C5D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88451"/>
  </p:normalViewPr>
  <p:slideViewPr>
    <p:cSldViewPr snapToGrid="0">
      <p:cViewPr varScale="1">
        <p:scale>
          <a:sx n="108" d="100"/>
          <a:sy n="108" d="100"/>
        </p:scale>
        <p:origin x="1296" y="20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4162C-3968-5B49-82E5-182E865DFB2E}" type="datetimeFigureOut">
              <a:rPr lang="en-US" smtClean="0"/>
              <a:t>10/3/23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7F1B9-E77D-9D41-912E-71D9F79DF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9AACC-CFF0-314E-AC44-6F8683709756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61978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49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D1D5DB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8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5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33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220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47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90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04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09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935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40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70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009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460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983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136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90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023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606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416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336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3390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299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23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98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102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302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6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062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449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996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21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952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846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15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552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F1B9-E77D-9D41-912E-71D9F79DF18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00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9FC8-742B-3BBB-179C-C53EF457B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ADF3D-4C22-4416-BE3D-176BBE1C2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C4385-EB51-CB1D-6946-AE3D1AE1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2829B-B0D4-0248-A25C-1D7DC9658F7B}" type="datetime1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F1995-EB2A-155A-FF37-5345478F0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829B8-4CF0-B0B1-429B-E19C7290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40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6F6B5-D69B-B568-230C-327D982A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9141A-40A4-0EFB-133E-C0D0B5781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F0472-991E-FEE2-5C70-A0D32B64F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E387C-A43A-0E49-906A-725B277B0201}" type="datetime1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294E2-D4B4-6763-97BA-7E8D52C85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523B2-4DAD-1FA1-9C4F-38F6D7FB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0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36D2-1E9F-9ABD-DE9D-F430E8A88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14F65-86CE-6030-13B4-1EDE43E54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D790C-02D9-0113-E1E6-195816DD9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D757-D1DC-BB4F-9ACA-1A267632270E}" type="datetime1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E15A0-9F2A-BF64-E3F2-CB1CF2632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FF9E7-ABFB-5AA7-55AA-496B7BC22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9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3E1B1-C8A6-4320-B36A-3AB67ED01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3A676-F84F-3D1E-B3AE-28D4159B5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80EC2-52E2-33EC-2D23-72C204B66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684A0-6591-02AD-080C-EDCE1F57D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6982-99A9-3349-8EC5-3E8B4D987414}" type="datetime1">
              <a:rPr lang="en-US" smtClean="0"/>
              <a:t>10/3/23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510D8-BE7D-9918-042A-90BF4AAA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D55D8-6049-189B-290A-A3B2054CC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4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015AF-13C7-5F12-5FBC-3ECA2C4E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38621-CBE3-64C0-7E89-04069FAE9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5BED5-4E78-5FFE-30AA-DDD5109EC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AADCA-30BC-A1BE-95A0-F09851814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DE7BE5-C490-BB66-9F72-AE0AFCD9F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137414-7F6F-2213-9D57-1F4147849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47145-BD81-7847-BF2E-0F6114A2C4C4}" type="datetime1">
              <a:rPr lang="en-US" smtClean="0"/>
              <a:t>10/3/23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2F1C1-49FB-A0DC-A688-1AF11EFB7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A79C7A-0C97-B97E-3FED-381CAEC7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04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37C3-48F2-6F17-2D79-50E6A0225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B74E68-F7FA-5B86-78C4-F9641C1D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BEBBF-5B1F-9140-929F-1A0DD5DE6645}" type="datetime1">
              <a:rPr lang="en-US" smtClean="0"/>
              <a:t>10/3/23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43BA0-EFFE-D75D-6165-0083F771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0EB7A-2F8A-C3B3-CF16-DF0F5993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6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52DE29-2AED-A7C0-2A4B-D15B4037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3FA2-CD98-1C4A-B6A9-AAAA3535E633}" type="datetime1">
              <a:rPr lang="en-US" smtClean="0"/>
              <a:t>10/3/23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B8399-A0D3-7A4E-8EB5-C602F23E1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75253-E9DD-48D4-4D78-0B561476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00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73F2E-F06B-C94A-A4A8-A34A04645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43EFE-3828-92DC-5F2C-F97A05D0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583D7-39FF-564B-0AE6-2EC931972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5054C-CD8F-9152-1630-7BFA2240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901C-3549-0945-9E3E-C85C74EBCC6B}" type="datetime1">
              <a:rPr lang="en-US" smtClean="0"/>
              <a:t>10/3/23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6255E-B8DE-5D93-CAD3-0DBF03E22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8992B-6097-109C-162F-FB77DE76F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07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E405-8545-E1A0-73D2-1F582A82F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2E1337-EEAA-032D-746A-8EA6C0D5E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6275D-3A98-C1B2-6C6E-4487488DF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96918-2225-D8CF-A145-22828269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6A39-3CBB-3C4C-B21A-028B35AA26A6}" type="datetime1">
              <a:rPr lang="en-US" smtClean="0"/>
              <a:t>10/3/23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33F3E-440F-0BC8-BF90-FA4D9B91A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359E2-2FD8-1128-E740-4841CFE0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34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A4F73-C7AD-D38F-385D-C5772BDA7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C2CD5-C7F1-DBD7-B2DD-58CFD5D26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36EEB-6CB6-1CDA-CB73-D1EB00A9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34F3C-C9EC-A043-BB61-0CFEA2F4D9A6}" type="datetime1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395D0-0772-EEF0-1D34-598A9BB31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BCFE2-3634-7513-44E8-5F082D2F7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03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9C4988-1F06-083F-B16C-70F614300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7EF7B-3D6B-9F47-DCC4-1F4118438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2AEFF-B85D-AAC4-93F2-78B6574E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3BE3B-6629-A846-B3DB-056F6FBD2A8D}" type="datetime1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CD00A-E3FF-4853-5AAB-33C5F8FD1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AF4BF-2D62-329C-C13F-B4BF77C4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76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A09539-A08A-C39F-929A-172DC70D8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4BBE4-274C-2E50-F337-7F56A1402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36C3E-D147-8EE1-39AD-1D5CFFC12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C143C-A9AC-F54F-AA5E-2E775E8A85CB}" type="datetime1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0F479-A261-8571-5EDF-D6F7FB59C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8427C-5504-5B8E-448A-D6E2C0433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5BF07-81BE-5E4C-907D-DCE44E4A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85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24.png"/><Relationship Id="rId5" Type="http://schemas.openxmlformats.org/officeDocument/2006/relationships/image" Target="../media/image37.png"/><Relationship Id="rId10" Type="http://schemas.openxmlformats.org/officeDocument/2006/relationships/image" Target="../media/image38.jpeg"/><Relationship Id="rId4" Type="http://schemas.openxmlformats.org/officeDocument/2006/relationships/image" Target="../media/image36.png"/><Relationship Id="rId9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6" Type="http://schemas.openxmlformats.org/officeDocument/2006/relationships/image" Target="../media/image44.png"/><Relationship Id="rId5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6" Type="http://schemas.openxmlformats.org/officeDocument/2006/relationships/image" Target="../media/image44.png"/><Relationship Id="rId5" Type="http://schemas.openxmlformats.org/officeDocument/2006/relationships/image" Target="../media/image45.png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5" Type="http://schemas.openxmlformats.org/officeDocument/2006/relationships/image" Target="../media/image34.png"/><Relationship Id="rId4" Type="http://schemas.openxmlformats.org/officeDocument/2006/relationships/image" Target="../media/image4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5" Type="http://schemas.openxmlformats.org/officeDocument/2006/relationships/image" Target="../media/image48.emf"/><Relationship Id="rId4" Type="http://schemas.openxmlformats.org/officeDocument/2006/relationships/image" Target="../media/image4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2E292AE-2060-0140-BD39-3E139B937948}"/>
              </a:ext>
            </a:extLst>
          </p:cNvPr>
          <p:cNvSpPr/>
          <p:nvPr/>
        </p:nvSpPr>
        <p:spPr>
          <a:xfrm>
            <a:off x="-1" y="0"/>
            <a:ext cx="12192001" cy="368913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B11480-864A-2C42-9A8D-D7CE65B09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029" y="1600199"/>
            <a:ext cx="11016342" cy="1909763"/>
          </a:xfrm>
        </p:spPr>
        <p:txBody>
          <a:bodyPr anchor="ctr"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Network Load Balancing with </a:t>
            </a:r>
            <a:br>
              <a:rPr lang="en-US" sz="4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4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In-network Reordering Support for RDMA</a:t>
            </a:r>
            <a:endParaRPr kumimoji="1" lang="ko-Kore-KR" altLang="en-US" sz="4400" dirty="0">
              <a:solidFill>
                <a:schemeClr val="bg1"/>
              </a:solidFill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FCD944-D0BD-AA45-9CFF-44BF0E215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442" y="4841699"/>
            <a:ext cx="3837116" cy="151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9262C6A-CC4B-7B41-A656-6996105C9FF7}"/>
              </a:ext>
            </a:extLst>
          </p:cNvPr>
          <p:cNvSpPr/>
          <p:nvPr/>
        </p:nvSpPr>
        <p:spPr>
          <a:xfrm>
            <a:off x="189186" y="3814568"/>
            <a:ext cx="117715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ko-Kore-KR" sz="2400" b="1" u="sng" dirty="0">
                <a:latin typeface=""/>
                <a:ea typeface="Roboto" panose="02000000000000000000" pitchFamily="2" charset="0"/>
                <a:cs typeface="Roboto" panose="02000000000000000000" pitchFamily="2" charset="0"/>
              </a:rPr>
              <a:t>Cha Hwan Song</a:t>
            </a:r>
            <a:r>
              <a:rPr lang="en" altLang="ko-Kore-KR" sz="2400" dirty="0">
                <a:latin typeface=""/>
                <a:ea typeface="Roboto" panose="02000000000000000000" pitchFamily="2" charset="0"/>
                <a:cs typeface="Roboto" panose="02000000000000000000" pitchFamily="2" charset="0"/>
              </a:rPr>
              <a:t>    Xin </a:t>
            </a:r>
            <a:r>
              <a:rPr lang="en" altLang="ko-Kore-KR" sz="2400" dirty="0" err="1">
                <a:latin typeface=""/>
                <a:ea typeface="Roboto" panose="02000000000000000000" pitchFamily="2" charset="0"/>
                <a:cs typeface="Roboto" panose="02000000000000000000" pitchFamily="2" charset="0"/>
              </a:rPr>
              <a:t>Zhe</a:t>
            </a:r>
            <a:r>
              <a:rPr lang="en" altLang="ko-Kore-KR" sz="2400" dirty="0">
                <a:latin typeface="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" altLang="ko-Kore-KR" sz="2400" dirty="0" err="1">
                <a:latin typeface=""/>
                <a:ea typeface="Roboto" panose="02000000000000000000" pitchFamily="2" charset="0"/>
                <a:cs typeface="Roboto" panose="02000000000000000000" pitchFamily="2" charset="0"/>
              </a:rPr>
              <a:t>Khooi</a:t>
            </a:r>
            <a:r>
              <a:rPr lang="en" altLang="ko-Kore-KR" sz="2400" dirty="0">
                <a:latin typeface=""/>
                <a:ea typeface="Roboto" panose="02000000000000000000" pitchFamily="2" charset="0"/>
                <a:cs typeface="Roboto" panose="02000000000000000000" pitchFamily="2" charset="0"/>
              </a:rPr>
              <a:t>    Raj Joshi    </a:t>
            </a:r>
            <a:r>
              <a:rPr lang="en" altLang="ko-Kore-KR" sz="2400" dirty="0" err="1">
                <a:latin typeface=""/>
                <a:ea typeface="Roboto" panose="02000000000000000000" pitchFamily="2" charset="0"/>
                <a:cs typeface="Roboto" panose="02000000000000000000" pitchFamily="2" charset="0"/>
              </a:rPr>
              <a:t>Inho</a:t>
            </a:r>
            <a:r>
              <a:rPr lang="en" altLang="ko-Kore-KR" sz="2400" dirty="0">
                <a:latin typeface=""/>
                <a:ea typeface="Roboto" panose="02000000000000000000" pitchFamily="2" charset="0"/>
                <a:cs typeface="Roboto" panose="02000000000000000000" pitchFamily="2" charset="0"/>
              </a:rPr>
              <a:t> Choi     </a:t>
            </a:r>
            <a:r>
              <a:rPr lang="en" altLang="ko-Kore-KR" sz="2400" dirty="0" err="1">
                <a:latin typeface=""/>
                <a:ea typeface="Roboto" panose="02000000000000000000" pitchFamily="2" charset="0"/>
                <a:cs typeface="Roboto" panose="02000000000000000000" pitchFamily="2" charset="0"/>
              </a:rPr>
              <a:t>Jialin</a:t>
            </a:r>
            <a:r>
              <a:rPr lang="en" altLang="ko-Kore-KR" sz="2400" dirty="0">
                <a:latin typeface=""/>
                <a:ea typeface="Roboto" panose="02000000000000000000" pitchFamily="2" charset="0"/>
                <a:cs typeface="Roboto" panose="02000000000000000000" pitchFamily="2" charset="0"/>
              </a:rPr>
              <a:t> Li</a:t>
            </a:r>
            <a:br>
              <a:rPr lang="en" altLang="ko-Kore-KR" sz="2400" dirty="0">
                <a:latin typeface="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" altLang="ko-Kore-KR" sz="2400" dirty="0">
                <a:latin typeface=""/>
                <a:ea typeface="Roboto" panose="02000000000000000000" pitchFamily="2" charset="0"/>
                <a:cs typeface="Roboto" panose="02000000000000000000" pitchFamily="2" charset="0"/>
              </a:rPr>
              <a:t>Mun </a:t>
            </a:r>
            <a:r>
              <a:rPr lang="en" altLang="ko-Kore-KR" sz="2400" dirty="0" err="1">
                <a:latin typeface=""/>
                <a:ea typeface="Roboto" panose="02000000000000000000" pitchFamily="2" charset="0"/>
                <a:cs typeface="Roboto" panose="02000000000000000000" pitchFamily="2" charset="0"/>
              </a:rPr>
              <a:t>Choon</a:t>
            </a:r>
            <a:r>
              <a:rPr lang="en" altLang="ko-Kore-KR" sz="2400" dirty="0">
                <a:latin typeface=""/>
                <a:ea typeface="Roboto" panose="02000000000000000000" pitchFamily="2" charset="0"/>
                <a:cs typeface="Roboto" panose="02000000000000000000" pitchFamily="2" charset="0"/>
              </a:rPr>
              <a:t> Chan</a:t>
            </a:r>
            <a:endParaRPr lang="ko-Kore-KR" altLang="en-US" sz="2400" dirty="0">
              <a:latin typeface=""/>
              <a:cs typeface="Roboto" panose="020000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621455-CFBC-AC24-086E-575C7B63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961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Remote Direct Memory Access (RDMA)</a:t>
            </a:r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9211ABA-7E28-3AC1-BDC4-235FF8C99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39" y="1328244"/>
            <a:ext cx="11058279" cy="606987"/>
          </a:xfrm>
        </p:spPr>
        <p:txBody>
          <a:bodyPr>
            <a:normAutofit/>
          </a:bodyPr>
          <a:lstStyle/>
          <a:p>
            <a:r>
              <a:rPr lang="en-K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RDMA is the emerging standard in modern DCs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E762491-245E-14E1-86A4-8280A6050177}"/>
              </a:ext>
            </a:extLst>
          </p:cNvPr>
          <p:cNvGrpSpPr/>
          <p:nvPr/>
        </p:nvGrpSpPr>
        <p:grpSpPr>
          <a:xfrm>
            <a:off x="4600119" y="2030680"/>
            <a:ext cx="3134320" cy="4167819"/>
            <a:chOff x="4600120" y="1793174"/>
            <a:chExt cx="3134320" cy="4167819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F0E87D2-B624-D148-7BE7-BD2BBBAFB777}"/>
                </a:ext>
              </a:extLst>
            </p:cNvPr>
            <p:cNvSpPr/>
            <p:nvPr/>
          </p:nvSpPr>
          <p:spPr>
            <a:xfrm>
              <a:off x="4600120" y="1793174"/>
              <a:ext cx="3134320" cy="4167819"/>
            </a:xfrm>
            <a:prstGeom prst="roundRect">
              <a:avLst>
                <a:gd name="adj" fmla="val 10612"/>
              </a:avLst>
            </a:prstGeom>
            <a:solidFill>
              <a:srgbClr val="F4E4E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AC87165-E4E8-8EB9-F345-14E7655C9280}"/>
                </a:ext>
              </a:extLst>
            </p:cNvPr>
            <p:cNvSpPr txBox="1"/>
            <p:nvPr/>
          </p:nvSpPr>
          <p:spPr>
            <a:xfrm>
              <a:off x="4947977" y="4721526"/>
              <a:ext cx="2478564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KR" sz="2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RDMA + RPC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KR" sz="2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RDMA + Storage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KR" sz="2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RDMA + AI/ML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F767ECA-1C86-80B6-A801-E609941F3D8F}"/>
                </a:ext>
              </a:extLst>
            </p:cNvPr>
            <p:cNvSpPr txBox="1"/>
            <p:nvPr/>
          </p:nvSpPr>
          <p:spPr>
            <a:xfrm>
              <a:off x="5136741" y="4218155"/>
              <a:ext cx="21209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32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Versatility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A535CB3-886E-011D-FAC9-503FB43E6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90167" y="2191232"/>
              <a:ext cx="1783687" cy="1783687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E324862-26FF-1B19-1AB5-78378D920806}"/>
              </a:ext>
            </a:extLst>
          </p:cNvPr>
          <p:cNvGrpSpPr/>
          <p:nvPr/>
        </p:nvGrpSpPr>
        <p:grpSpPr>
          <a:xfrm>
            <a:off x="472439" y="2030680"/>
            <a:ext cx="3985124" cy="4167819"/>
            <a:chOff x="472440" y="1793174"/>
            <a:chExt cx="3985124" cy="4167819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C4D5CF5-3333-97BD-CAC4-B4780EB6391C}"/>
                </a:ext>
              </a:extLst>
            </p:cNvPr>
            <p:cNvSpPr/>
            <p:nvPr/>
          </p:nvSpPr>
          <p:spPr>
            <a:xfrm>
              <a:off x="472440" y="1793174"/>
              <a:ext cx="3985124" cy="4167819"/>
            </a:xfrm>
            <a:prstGeom prst="roundRect">
              <a:avLst>
                <a:gd name="adj" fmla="val 9868"/>
              </a:avLst>
            </a:prstGeom>
            <a:solidFill>
              <a:srgbClr val="EFFBF5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4" name="Folded Corner 3">
              <a:extLst>
                <a:ext uri="{FF2B5EF4-FFF2-40B4-BE49-F238E27FC236}">
                  <a16:creationId xmlns:a16="http://schemas.microsoft.com/office/drawing/2014/main" id="{7AB93D64-196F-4252-31D6-D43982F9294D}"/>
                </a:ext>
              </a:extLst>
            </p:cNvPr>
            <p:cNvSpPr/>
            <p:nvPr/>
          </p:nvSpPr>
          <p:spPr>
            <a:xfrm>
              <a:off x="842665" y="2019982"/>
              <a:ext cx="3244673" cy="2119254"/>
            </a:xfrm>
            <a:custGeom>
              <a:avLst/>
              <a:gdLst>
                <a:gd name="connsiteX0" fmla="*/ 0 w 3244673"/>
                <a:gd name="connsiteY0" fmla="*/ 0 h 2119254"/>
                <a:gd name="connsiteX1" fmla="*/ 508332 w 3244673"/>
                <a:gd name="connsiteY1" fmla="*/ 0 h 2119254"/>
                <a:gd name="connsiteX2" fmla="*/ 951771 w 3244673"/>
                <a:gd name="connsiteY2" fmla="*/ 0 h 2119254"/>
                <a:gd name="connsiteX3" fmla="*/ 1557443 w 3244673"/>
                <a:gd name="connsiteY3" fmla="*/ 0 h 2119254"/>
                <a:gd name="connsiteX4" fmla="*/ 2065775 w 3244673"/>
                <a:gd name="connsiteY4" fmla="*/ 0 h 2119254"/>
                <a:gd name="connsiteX5" fmla="*/ 2574107 w 3244673"/>
                <a:gd name="connsiteY5" fmla="*/ 0 h 2119254"/>
                <a:gd name="connsiteX6" fmla="*/ 3244673 w 3244673"/>
                <a:gd name="connsiteY6" fmla="*/ 0 h 2119254"/>
                <a:gd name="connsiteX7" fmla="*/ 3244673 w 3244673"/>
                <a:gd name="connsiteY7" fmla="*/ 553777 h 2119254"/>
                <a:gd name="connsiteX8" fmla="*/ 3244673 w 3244673"/>
                <a:gd name="connsiteY8" fmla="*/ 1142901 h 2119254"/>
                <a:gd name="connsiteX9" fmla="*/ 3244673 w 3244673"/>
                <a:gd name="connsiteY9" fmla="*/ 1767373 h 2119254"/>
                <a:gd name="connsiteX10" fmla="*/ 2892792 w 3244673"/>
                <a:gd name="connsiteY10" fmla="*/ 2119254 h 2119254"/>
                <a:gd name="connsiteX11" fmla="*/ 2314234 w 3244673"/>
                <a:gd name="connsiteY11" fmla="*/ 2119254 h 2119254"/>
                <a:gd name="connsiteX12" fmla="*/ 1706747 w 3244673"/>
                <a:gd name="connsiteY12" fmla="*/ 2119254 h 2119254"/>
                <a:gd name="connsiteX13" fmla="*/ 1157117 w 3244673"/>
                <a:gd name="connsiteY13" fmla="*/ 2119254 h 2119254"/>
                <a:gd name="connsiteX14" fmla="*/ 520703 w 3244673"/>
                <a:gd name="connsiteY14" fmla="*/ 2119254 h 2119254"/>
                <a:gd name="connsiteX15" fmla="*/ 0 w 3244673"/>
                <a:gd name="connsiteY15" fmla="*/ 2119254 h 2119254"/>
                <a:gd name="connsiteX16" fmla="*/ 0 w 3244673"/>
                <a:gd name="connsiteY16" fmla="*/ 1589441 h 2119254"/>
                <a:gd name="connsiteX17" fmla="*/ 0 w 3244673"/>
                <a:gd name="connsiteY17" fmla="*/ 1038434 h 2119254"/>
                <a:gd name="connsiteX18" fmla="*/ 0 w 3244673"/>
                <a:gd name="connsiteY18" fmla="*/ 572199 h 2119254"/>
                <a:gd name="connsiteX19" fmla="*/ 0 w 3244673"/>
                <a:gd name="connsiteY19" fmla="*/ 0 h 2119254"/>
                <a:gd name="connsiteX0" fmla="*/ 2892792 w 3244673"/>
                <a:gd name="connsiteY0" fmla="*/ 2119254 h 2119254"/>
                <a:gd name="connsiteX1" fmla="*/ 2963168 w 3244673"/>
                <a:gd name="connsiteY1" fmla="*/ 1837749 h 2119254"/>
                <a:gd name="connsiteX2" fmla="*/ 3244673 w 3244673"/>
                <a:gd name="connsiteY2" fmla="*/ 1767373 h 2119254"/>
                <a:gd name="connsiteX3" fmla="*/ 2892792 w 3244673"/>
                <a:gd name="connsiteY3" fmla="*/ 2119254 h 2119254"/>
                <a:gd name="connsiteX0" fmla="*/ 2892792 w 3244673"/>
                <a:gd name="connsiteY0" fmla="*/ 2119254 h 2119254"/>
                <a:gd name="connsiteX1" fmla="*/ 2963168 w 3244673"/>
                <a:gd name="connsiteY1" fmla="*/ 1837749 h 2119254"/>
                <a:gd name="connsiteX2" fmla="*/ 3244673 w 3244673"/>
                <a:gd name="connsiteY2" fmla="*/ 1767373 h 2119254"/>
                <a:gd name="connsiteX3" fmla="*/ 2892792 w 3244673"/>
                <a:gd name="connsiteY3" fmla="*/ 2119254 h 2119254"/>
                <a:gd name="connsiteX4" fmla="*/ 2372089 w 3244673"/>
                <a:gd name="connsiteY4" fmla="*/ 2119254 h 2119254"/>
                <a:gd name="connsiteX5" fmla="*/ 1735675 w 3244673"/>
                <a:gd name="connsiteY5" fmla="*/ 2119254 h 2119254"/>
                <a:gd name="connsiteX6" fmla="*/ 1157117 w 3244673"/>
                <a:gd name="connsiteY6" fmla="*/ 2119254 h 2119254"/>
                <a:gd name="connsiteX7" fmla="*/ 665342 w 3244673"/>
                <a:gd name="connsiteY7" fmla="*/ 2119254 h 2119254"/>
                <a:gd name="connsiteX8" fmla="*/ 0 w 3244673"/>
                <a:gd name="connsiteY8" fmla="*/ 2119254 h 2119254"/>
                <a:gd name="connsiteX9" fmla="*/ 0 w 3244673"/>
                <a:gd name="connsiteY9" fmla="*/ 1610633 h 2119254"/>
                <a:gd name="connsiteX10" fmla="*/ 0 w 3244673"/>
                <a:gd name="connsiteY10" fmla="*/ 1080820 h 2119254"/>
                <a:gd name="connsiteX11" fmla="*/ 0 w 3244673"/>
                <a:gd name="connsiteY11" fmla="*/ 508621 h 2119254"/>
                <a:gd name="connsiteX12" fmla="*/ 0 w 3244673"/>
                <a:gd name="connsiteY12" fmla="*/ 0 h 2119254"/>
                <a:gd name="connsiteX13" fmla="*/ 573226 w 3244673"/>
                <a:gd name="connsiteY13" fmla="*/ 0 h 2119254"/>
                <a:gd name="connsiteX14" fmla="*/ 1049111 w 3244673"/>
                <a:gd name="connsiteY14" fmla="*/ 0 h 2119254"/>
                <a:gd name="connsiteX15" fmla="*/ 1524996 w 3244673"/>
                <a:gd name="connsiteY15" fmla="*/ 0 h 2119254"/>
                <a:gd name="connsiteX16" fmla="*/ 2065775 w 3244673"/>
                <a:gd name="connsiteY16" fmla="*/ 0 h 2119254"/>
                <a:gd name="connsiteX17" fmla="*/ 2606554 w 3244673"/>
                <a:gd name="connsiteY17" fmla="*/ 0 h 2119254"/>
                <a:gd name="connsiteX18" fmla="*/ 3244673 w 3244673"/>
                <a:gd name="connsiteY18" fmla="*/ 0 h 2119254"/>
                <a:gd name="connsiteX19" fmla="*/ 3244673 w 3244673"/>
                <a:gd name="connsiteY19" fmla="*/ 624472 h 2119254"/>
                <a:gd name="connsiteX20" fmla="*/ 3244673 w 3244673"/>
                <a:gd name="connsiteY20" fmla="*/ 1248944 h 2119254"/>
                <a:gd name="connsiteX21" fmla="*/ 3244673 w 3244673"/>
                <a:gd name="connsiteY21" fmla="*/ 1767373 h 2119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44673" h="2119254" stroke="0" extrusionOk="0">
                  <a:moveTo>
                    <a:pt x="0" y="0"/>
                  </a:moveTo>
                  <a:cubicBezTo>
                    <a:pt x="242903" y="-10934"/>
                    <a:pt x="263811" y="21502"/>
                    <a:pt x="508332" y="0"/>
                  </a:cubicBezTo>
                  <a:cubicBezTo>
                    <a:pt x="752853" y="-21502"/>
                    <a:pt x="826832" y="14169"/>
                    <a:pt x="951771" y="0"/>
                  </a:cubicBezTo>
                  <a:cubicBezTo>
                    <a:pt x="1076710" y="-14169"/>
                    <a:pt x="1307305" y="47727"/>
                    <a:pt x="1557443" y="0"/>
                  </a:cubicBezTo>
                  <a:cubicBezTo>
                    <a:pt x="1807581" y="-47727"/>
                    <a:pt x="1853962" y="14841"/>
                    <a:pt x="2065775" y="0"/>
                  </a:cubicBezTo>
                  <a:cubicBezTo>
                    <a:pt x="2277588" y="-14841"/>
                    <a:pt x="2400943" y="17944"/>
                    <a:pt x="2574107" y="0"/>
                  </a:cubicBezTo>
                  <a:cubicBezTo>
                    <a:pt x="2747271" y="-17944"/>
                    <a:pt x="3081622" y="51793"/>
                    <a:pt x="3244673" y="0"/>
                  </a:cubicBezTo>
                  <a:cubicBezTo>
                    <a:pt x="3301295" y="114316"/>
                    <a:pt x="3232696" y="401404"/>
                    <a:pt x="3244673" y="553777"/>
                  </a:cubicBezTo>
                  <a:cubicBezTo>
                    <a:pt x="3256650" y="706150"/>
                    <a:pt x="3189455" y="983854"/>
                    <a:pt x="3244673" y="1142901"/>
                  </a:cubicBezTo>
                  <a:cubicBezTo>
                    <a:pt x="3299891" y="1301948"/>
                    <a:pt x="3206981" y="1564317"/>
                    <a:pt x="3244673" y="1767373"/>
                  </a:cubicBezTo>
                  <a:cubicBezTo>
                    <a:pt x="3174522" y="1873379"/>
                    <a:pt x="3066072" y="1943601"/>
                    <a:pt x="2892792" y="2119254"/>
                  </a:cubicBezTo>
                  <a:cubicBezTo>
                    <a:pt x="2672721" y="2128934"/>
                    <a:pt x="2516707" y="2059947"/>
                    <a:pt x="2314234" y="2119254"/>
                  </a:cubicBezTo>
                  <a:cubicBezTo>
                    <a:pt x="2111761" y="2178561"/>
                    <a:pt x="1871564" y="2065055"/>
                    <a:pt x="1706747" y="2119254"/>
                  </a:cubicBezTo>
                  <a:cubicBezTo>
                    <a:pt x="1541930" y="2173453"/>
                    <a:pt x="1355333" y="2095657"/>
                    <a:pt x="1157117" y="2119254"/>
                  </a:cubicBezTo>
                  <a:cubicBezTo>
                    <a:pt x="958901" y="2142851"/>
                    <a:pt x="809867" y="2105691"/>
                    <a:pt x="520703" y="2119254"/>
                  </a:cubicBezTo>
                  <a:cubicBezTo>
                    <a:pt x="231539" y="2132817"/>
                    <a:pt x="220025" y="2066736"/>
                    <a:pt x="0" y="2119254"/>
                  </a:cubicBezTo>
                  <a:cubicBezTo>
                    <a:pt x="-7319" y="1981374"/>
                    <a:pt x="20553" y="1713669"/>
                    <a:pt x="0" y="1589441"/>
                  </a:cubicBezTo>
                  <a:cubicBezTo>
                    <a:pt x="-20553" y="1465213"/>
                    <a:pt x="45971" y="1260040"/>
                    <a:pt x="0" y="1038434"/>
                  </a:cubicBezTo>
                  <a:cubicBezTo>
                    <a:pt x="-45971" y="816828"/>
                    <a:pt x="41149" y="772754"/>
                    <a:pt x="0" y="572199"/>
                  </a:cubicBezTo>
                  <a:cubicBezTo>
                    <a:pt x="-41149" y="371645"/>
                    <a:pt x="14938" y="255206"/>
                    <a:pt x="0" y="0"/>
                  </a:cubicBezTo>
                  <a:close/>
                </a:path>
                <a:path w="3244673" h="2119254" fill="darkenLess" stroke="0" extrusionOk="0">
                  <a:moveTo>
                    <a:pt x="2892792" y="2119254"/>
                  </a:moveTo>
                  <a:cubicBezTo>
                    <a:pt x="2896798" y="2059979"/>
                    <a:pt x="2940422" y="1963826"/>
                    <a:pt x="2963168" y="1837749"/>
                  </a:cubicBezTo>
                  <a:cubicBezTo>
                    <a:pt x="3034034" y="1818042"/>
                    <a:pt x="3151674" y="1814756"/>
                    <a:pt x="3244673" y="1767373"/>
                  </a:cubicBezTo>
                  <a:cubicBezTo>
                    <a:pt x="3097491" y="1919836"/>
                    <a:pt x="2956254" y="2025976"/>
                    <a:pt x="2892792" y="2119254"/>
                  </a:cubicBezTo>
                  <a:close/>
                </a:path>
                <a:path w="3244673" h="2119254" fill="none" extrusionOk="0">
                  <a:moveTo>
                    <a:pt x="2892792" y="2119254"/>
                  </a:moveTo>
                  <a:cubicBezTo>
                    <a:pt x="2886120" y="2037877"/>
                    <a:pt x="2964577" y="1959297"/>
                    <a:pt x="2963168" y="1837749"/>
                  </a:cubicBezTo>
                  <a:cubicBezTo>
                    <a:pt x="3031550" y="1820065"/>
                    <a:pt x="3116584" y="1822169"/>
                    <a:pt x="3244673" y="1767373"/>
                  </a:cubicBezTo>
                  <a:cubicBezTo>
                    <a:pt x="3087559" y="1946262"/>
                    <a:pt x="2999243" y="1954353"/>
                    <a:pt x="2892792" y="2119254"/>
                  </a:cubicBezTo>
                  <a:cubicBezTo>
                    <a:pt x="2648681" y="2164482"/>
                    <a:pt x="2614190" y="2068917"/>
                    <a:pt x="2372089" y="2119254"/>
                  </a:cubicBezTo>
                  <a:cubicBezTo>
                    <a:pt x="2129988" y="2169591"/>
                    <a:pt x="2017879" y="2051604"/>
                    <a:pt x="1735675" y="2119254"/>
                  </a:cubicBezTo>
                  <a:cubicBezTo>
                    <a:pt x="1453471" y="2186904"/>
                    <a:pt x="1335193" y="2107922"/>
                    <a:pt x="1157117" y="2119254"/>
                  </a:cubicBezTo>
                  <a:cubicBezTo>
                    <a:pt x="979041" y="2130586"/>
                    <a:pt x="809582" y="2079195"/>
                    <a:pt x="665342" y="2119254"/>
                  </a:cubicBezTo>
                  <a:cubicBezTo>
                    <a:pt x="521103" y="2159313"/>
                    <a:pt x="137857" y="2103978"/>
                    <a:pt x="0" y="2119254"/>
                  </a:cubicBezTo>
                  <a:cubicBezTo>
                    <a:pt x="-52908" y="1871950"/>
                    <a:pt x="21757" y="1820372"/>
                    <a:pt x="0" y="1610633"/>
                  </a:cubicBezTo>
                  <a:cubicBezTo>
                    <a:pt x="-21757" y="1400894"/>
                    <a:pt x="60804" y="1221908"/>
                    <a:pt x="0" y="1080820"/>
                  </a:cubicBezTo>
                  <a:cubicBezTo>
                    <a:pt x="-60804" y="939732"/>
                    <a:pt x="11162" y="731429"/>
                    <a:pt x="0" y="508621"/>
                  </a:cubicBezTo>
                  <a:cubicBezTo>
                    <a:pt x="-11162" y="285813"/>
                    <a:pt x="20239" y="150778"/>
                    <a:pt x="0" y="0"/>
                  </a:cubicBezTo>
                  <a:cubicBezTo>
                    <a:pt x="197607" y="-22109"/>
                    <a:pt x="397569" y="46851"/>
                    <a:pt x="573226" y="0"/>
                  </a:cubicBezTo>
                  <a:cubicBezTo>
                    <a:pt x="748883" y="-46851"/>
                    <a:pt x="872504" y="27778"/>
                    <a:pt x="1049111" y="0"/>
                  </a:cubicBezTo>
                  <a:cubicBezTo>
                    <a:pt x="1225718" y="-27778"/>
                    <a:pt x="1411837" y="13409"/>
                    <a:pt x="1524996" y="0"/>
                  </a:cubicBezTo>
                  <a:cubicBezTo>
                    <a:pt x="1638155" y="-13409"/>
                    <a:pt x="1940384" y="22086"/>
                    <a:pt x="2065775" y="0"/>
                  </a:cubicBezTo>
                  <a:cubicBezTo>
                    <a:pt x="2191166" y="-22086"/>
                    <a:pt x="2470917" y="5137"/>
                    <a:pt x="2606554" y="0"/>
                  </a:cubicBezTo>
                  <a:cubicBezTo>
                    <a:pt x="2742191" y="-5137"/>
                    <a:pt x="3077288" y="18803"/>
                    <a:pt x="3244673" y="0"/>
                  </a:cubicBezTo>
                  <a:cubicBezTo>
                    <a:pt x="3286688" y="193982"/>
                    <a:pt x="3215149" y="356452"/>
                    <a:pt x="3244673" y="624472"/>
                  </a:cubicBezTo>
                  <a:cubicBezTo>
                    <a:pt x="3274197" y="892492"/>
                    <a:pt x="3173730" y="1122643"/>
                    <a:pt x="3244673" y="1248944"/>
                  </a:cubicBezTo>
                  <a:cubicBezTo>
                    <a:pt x="3315616" y="1375245"/>
                    <a:pt x="3185070" y="1621511"/>
                    <a:pt x="3244673" y="1767373"/>
                  </a:cubicBezTo>
                </a:path>
                <a:path w="3244673" h="2119254" fill="none" stroke="0" extrusionOk="0">
                  <a:moveTo>
                    <a:pt x="2892792" y="2119254"/>
                  </a:moveTo>
                  <a:cubicBezTo>
                    <a:pt x="2884471" y="2053909"/>
                    <a:pt x="2961824" y="1958540"/>
                    <a:pt x="2963168" y="1837749"/>
                  </a:cubicBezTo>
                  <a:cubicBezTo>
                    <a:pt x="3073050" y="1802263"/>
                    <a:pt x="3163920" y="1797534"/>
                    <a:pt x="3244673" y="1767373"/>
                  </a:cubicBezTo>
                  <a:cubicBezTo>
                    <a:pt x="3132601" y="1897408"/>
                    <a:pt x="2974242" y="2022378"/>
                    <a:pt x="2892792" y="2119254"/>
                  </a:cubicBezTo>
                  <a:cubicBezTo>
                    <a:pt x="2624354" y="2121288"/>
                    <a:pt x="2480942" y="2083069"/>
                    <a:pt x="2256378" y="2119254"/>
                  </a:cubicBezTo>
                  <a:cubicBezTo>
                    <a:pt x="2031814" y="2155439"/>
                    <a:pt x="1772047" y="2060605"/>
                    <a:pt x="1648891" y="2119254"/>
                  </a:cubicBezTo>
                  <a:cubicBezTo>
                    <a:pt x="1525735" y="2177903"/>
                    <a:pt x="1243657" y="2073198"/>
                    <a:pt x="1128189" y="2119254"/>
                  </a:cubicBezTo>
                  <a:cubicBezTo>
                    <a:pt x="1012721" y="2165310"/>
                    <a:pt x="849784" y="2093875"/>
                    <a:pt x="636414" y="2119254"/>
                  </a:cubicBezTo>
                  <a:cubicBezTo>
                    <a:pt x="423044" y="2144633"/>
                    <a:pt x="316257" y="2057104"/>
                    <a:pt x="0" y="2119254"/>
                  </a:cubicBezTo>
                  <a:cubicBezTo>
                    <a:pt x="-52050" y="1901244"/>
                    <a:pt x="8621" y="1795688"/>
                    <a:pt x="0" y="1568248"/>
                  </a:cubicBezTo>
                  <a:cubicBezTo>
                    <a:pt x="-8621" y="1340808"/>
                    <a:pt x="56239" y="1313421"/>
                    <a:pt x="0" y="1080820"/>
                  </a:cubicBezTo>
                  <a:cubicBezTo>
                    <a:pt x="-56239" y="848219"/>
                    <a:pt x="47169" y="760371"/>
                    <a:pt x="0" y="614584"/>
                  </a:cubicBezTo>
                  <a:cubicBezTo>
                    <a:pt x="-47169" y="468797"/>
                    <a:pt x="39352" y="126667"/>
                    <a:pt x="0" y="0"/>
                  </a:cubicBezTo>
                  <a:cubicBezTo>
                    <a:pt x="130443" y="-5238"/>
                    <a:pt x="386443" y="30685"/>
                    <a:pt x="573226" y="0"/>
                  </a:cubicBezTo>
                  <a:cubicBezTo>
                    <a:pt x="760009" y="-30685"/>
                    <a:pt x="908827" y="33266"/>
                    <a:pt x="1016664" y="0"/>
                  </a:cubicBezTo>
                  <a:cubicBezTo>
                    <a:pt x="1124501" y="-33266"/>
                    <a:pt x="1447405" y="52584"/>
                    <a:pt x="1622337" y="0"/>
                  </a:cubicBezTo>
                  <a:cubicBezTo>
                    <a:pt x="1797269" y="-52584"/>
                    <a:pt x="1966281" y="1621"/>
                    <a:pt x="2163115" y="0"/>
                  </a:cubicBezTo>
                  <a:cubicBezTo>
                    <a:pt x="2359949" y="-1621"/>
                    <a:pt x="2498029" y="52777"/>
                    <a:pt x="2606554" y="0"/>
                  </a:cubicBezTo>
                  <a:cubicBezTo>
                    <a:pt x="2715079" y="-52777"/>
                    <a:pt x="3075556" y="59838"/>
                    <a:pt x="3244673" y="0"/>
                  </a:cubicBezTo>
                  <a:cubicBezTo>
                    <a:pt x="3275550" y="255947"/>
                    <a:pt x="3197935" y="469003"/>
                    <a:pt x="3244673" y="624472"/>
                  </a:cubicBezTo>
                  <a:cubicBezTo>
                    <a:pt x="3291411" y="779941"/>
                    <a:pt x="3183428" y="909244"/>
                    <a:pt x="3244673" y="1178249"/>
                  </a:cubicBezTo>
                  <a:cubicBezTo>
                    <a:pt x="3305918" y="1447254"/>
                    <a:pt x="3186650" y="1635531"/>
                    <a:pt x="3244673" y="1767373"/>
                  </a:cubicBez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foldedCorner">
                      <a:avLst>
                        <a:gd name="adj" fmla="val 16604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D3672E-010B-C9CF-5A66-6D44318B05A4}"/>
                </a:ext>
              </a:extLst>
            </p:cNvPr>
            <p:cNvSpPr txBox="1"/>
            <p:nvPr/>
          </p:nvSpPr>
          <p:spPr>
            <a:xfrm>
              <a:off x="1155751" y="4234360"/>
              <a:ext cx="269176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32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Performance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7D5B6F9-FE86-804B-6CF8-B85E89BE7807}"/>
                </a:ext>
              </a:extLst>
            </p:cNvPr>
            <p:cNvSpPr txBox="1"/>
            <p:nvPr/>
          </p:nvSpPr>
          <p:spPr>
            <a:xfrm>
              <a:off x="993133" y="4715739"/>
              <a:ext cx="2816797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KR" sz="2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High throughput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KR" sz="2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Low latency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KR" sz="2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Low CPU overhead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D8B6C0C-EF97-63CF-6D56-7792007C7802}"/>
                </a:ext>
              </a:extLst>
            </p:cNvPr>
            <p:cNvSpPr/>
            <p:nvPr/>
          </p:nvSpPr>
          <p:spPr>
            <a:xfrm>
              <a:off x="1043830" y="2105180"/>
              <a:ext cx="2278013" cy="6023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KR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Application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6DB11FB-314D-70FB-A3B7-68171760AA2F}"/>
                </a:ext>
              </a:extLst>
            </p:cNvPr>
            <p:cNvSpPr/>
            <p:nvPr/>
          </p:nvSpPr>
          <p:spPr>
            <a:xfrm>
              <a:off x="2375270" y="2191232"/>
              <a:ext cx="811350" cy="430261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Buffer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64D4A8-D7EE-6373-BCBB-8FB1EC5642D9}"/>
                </a:ext>
              </a:extLst>
            </p:cNvPr>
            <p:cNvSpPr/>
            <p:nvPr/>
          </p:nvSpPr>
          <p:spPr>
            <a:xfrm>
              <a:off x="1085052" y="2879776"/>
              <a:ext cx="1681898" cy="3463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KR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Host OS (TCP)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F43E752-67AE-53DE-24C5-1EDF7E7D231F}"/>
                </a:ext>
              </a:extLst>
            </p:cNvPr>
            <p:cNvCxnSpPr>
              <a:cxnSpLocks/>
            </p:cNvCxnSpPr>
            <p:nvPr/>
          </p:nvCxnSpPr>
          <p:spPr>
            <a:xfrm>
              <a:off x="1085053" y="2795483"/>
              <a:ext cx="2236789" cy="18517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5AFDF5B-C5E1-2ADD-A6F6-DBDE447DCF95}"/>
                </a:ext>
              </a:extLst>
            </p:cNvPr>
            <p:cNvCxnSpPr>
              <a:cxnSpLocks/>
            </p:cNvCxnSpPr>
            <p:nvPr/>
          </p:nvCxnSpPr>
          <p:spPr>
            <a:xfrm>
              <a:off x="1085053" y="3299403"/>
              <a:ext cx="2253706" cy="0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6CF500F-A559-A704-C32F-BD6FBE16CEFF}"/>
                </a:ext>
              </a:extLst>
            </p:cNvPr>
            <p:cNvSpPr/>
            <p:nvPr/>
          </p:nvSpPr>
          <p:spPr>
            <a:xfrm>
              <a:off x="1243267" y="3401398"/>
              <a:ext cx="2058748" cy="6023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KR" sz="2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              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6008C4E-A903-448B-D317-456FC1F9D313}"/>
                </a:ext>
              </a:extLst>
            </p:cNvPr>
            <p:cNvSpPr/>
            <p:nvPr/>
          </p:nvSpPr>
          <p:spPr>
            <a:xfrm>
              <a:off x="1499248" y="3487451"/>
              <a:ext cx="1581487" cy="430261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RDMA NIC</a:t>
              </a:r>
            </a:p>
          </p:txBody>
        </p:sp>
        <p:pic>
          <p:nvPicPr>
            <p:cNvPr id="5" name="Picture 2" descr="Performance - Free transportation icons">
              <a:extLst>
                <a:ext uri="{FF2B5EF4-FFF2-40B4-BE49-F238E27FC236}">
                  <a16:creationId xmlns:a16="http://schemas.microsoft.com/office/drawing/2014/main" id="{95F73195-7A4A-2967-12A9-D9A696626A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0167" y="1924858"/>
              <a:ext cx="1040351" cy="1040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7555FC9-AF77-7F42-2D01-A9163EACD43A}"/>
                </a:ext>
              </a:extLst>
            </p:cNvPr>
            <p:cNvCxnSpPr>
              <a:cxnSpLocks/>
            </p:cNvCxnSpPr>
            <p:nvPr/>
          </p:nvCxnSpPr>
          <p:spPr>
            <a:xfrm>
              <a:off x="2932004" y="2634534"/>
              <a:ext cx="0" cy="852917"/>
            </a:xfrm>
            <a:prstGeom prst="straightConnector1">
              <a:avLst/>
            </a:prstGeom>
            <a:ln w="38100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7DAA4E0-DE0C-95AA-8945-5144D2140F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2106" y="3702581"/>
              <a:ext cx="68523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695E997-80CB-52B7-9DC1-18765200F976}"/>
                </a:ext>
              </a:extLst>
            </p:cNvPr>
            <p:cNvSpPr/>
            <p:nvPr/>
          </p:nvSpPr>
          <p:spPr>
            <a:xfrm>
              <a:off x="3186620" y="3637766"/>
              <a:ext cx="215486" cy="167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D66BC61-F683-DBC4-815E-49516526F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45146" y="2877173"/>
              <a:ext cx="348957" cy="348957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4ADF461-2F52-D593-E84F-105C023E7CDE}"/>
              </a:ext>
            </a:extLst>
          </p:cNvPr>
          <p:cNvGrpSpPr/>
          <p:nvPr/>
        </p:nvGrpSpPr>
        <p:grpSpPr>
          <a:xfrm>
            <a:off x="6965064" y="2043560"/>
            <a:ext cx="4880073" cy="4720419"/>
            <a:chOff x="7098130" y="1793174"/>
            <a:chExt cx="4880073" cy="472041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CB40018-266F-4DB2-EC7B-F8F575DF3A37}"/>
                </a:ext>
              </a:extLst>
            </p:cNvPr>
            <p:cNvGrpSpPr/>
            <p:nvPr/>
          </p:nvGrpSpPr>
          <p:grpSpPr>
            <a:xfrm>
              <a:off x="7098130" y="1793174"/>
              <a:ext cx="4880073" cy="4720419"/>
              <a:chOff x="7098130" y="1793174"/>
              <a:chExt cx="4880073" cy="4720419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0F48C537-0836-09B2-5F7A-BEEAF7D2C883}"/>
                  </a:ext>
                </a:extLst>
              </p:cNvPr>
              <p:cNvSpPr/>
              <p:nvPr/>
            </p:nvSpPr>
            <p:spPr>
              <a:xfrm>
                <a:off x="7997943" y="1793174"/>
                <a:ext cx="3532776" cy="4167819"/>
              </a:xfrm>
              <a:prstGeom prst="roundRect">
                <a:avLst>
                  <a:gd name="adj" fmla="val 10436"/>
                </a:avLst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42E471A-52DD-9E73-20A2-2AE4B28D6C52}"/>
                  </a:ext>
                </a:extLst>
              </p:cNvPr>
              <p:cNvSpPr txBox="1"/>
              <p:nvPr/>
            </p:nvSpPr>
            <p:spPr>
              <a:xfrm>
                <a:off x="8182095" y="4719237"/>
                <a:ext cx="3149840" cy="769441"/>
              </a:xfrm>
              <a:prstGeom prst="rect">
                <a:avLst/>
              </a:prstGeom>
              <a:noFill/>
            </p:spPr>
            <p:txBody>
              <a:bodyPr wrap="square" lIns="14400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KR" sz="22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Production-level deployment in DCs</a:t>
                </a:r>
                <a:endParaRPr lang="en-KR" sz="2200" baseline="30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92EA33-1162-0D96-7953-6C915C892E6F}"/>
                  </a:ext>
                </a:extLst>
              </p:cNvPr>
              <p:cNvSpPr txBox="1"/>
              <p:nvPr/>
            </p:nvSpPr>
            <p:spPr>
              <a:xfrm>
                <a:off x="8510725" y="4209875"/>
                <a:ext cx="22781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32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Practicality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592250-4397-7667-A4C7-1FE0A9EDB871}"/>
                  </a:ext>
                </a:extLst>
              </p:cNvPr>
              <p:cNvSpPr txBox="1"/>
              <p:nvPr/>
            </p:nvSpPr>
            <p:spPr>
              <a:xfrm>
                <a:off x="7098130" y="6051928"/>
                <a:ext cx="48800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[1] Gao, </a:t>
                </a:r>
                <a:r>
                  <a:rPr lang="en-US" sz="1200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Yixiao</a:t>
                </a:r>
                <a:r>
                  <a:rPr lang="en-US" sz="12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, et al. “</a:t>
                </a:r>
                <a:r>
                  <a:rPr lang="en-US" sz="12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When cloud storage meets RDMA”</a:t>
                </a:r>
                <a:r>
                  <a:rPr lang="en-US" sz="12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. NSDI 2021</a:t>
                </a:r>
                <a:br>
                  <a:rPr lang="en-US" sz="12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</a:br>
                <a:r>
                  <a:rPr lang="en-SG" sz="12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[2] Bai, Wei, et al. “</a:t>
                </a:r>
                <a:r>
                  <a:rPr lang="en-SG" sz="12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Empowering azure storage with RDMA”</a:t>
                </a:r>
                <a:r>
                  <a:rPr lang="en-SG" sz="12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. NSDI 2023</a:t>
                </a:r>
                <a:endParaRPr lang="en-SG" sz="1200" dirty="0">
                  <a:effectLst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pic>
            <p:nvPicPr>
              <p:cNvPr id="1028" name="Picture 4" descr="Alibaba Cloud – Medium">
                <a:extLst>
                  <a:ext uri="{FF2B5EF4-FFF2-40B4-BE49-F238E27FC236}">
                    <a16:creationId xmlns:a16="http://schemas.microsoft.com/office/drawing/2014/main" id="{330BE8B7-4F2C-0A7C-22A9-3EDC3D2461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117" t="42479" r="12452" b="43907"/>
              <a:stretch/>
            </p:blipFill>
            <p:spPr bwMode="auto">
              <a:xfrm>
                <a:off x="8182094" y="3122859"/>
                <a:ext cx="3082890" cy="4700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4" name="Picture 10" descr="Microsoft Unveils a New Look - The Official Microsoft Blog">
                <a:extLst>
                  <a:ext uri="{FF2B5EF4-FFF2-40B4-BE49-F238E27FC236}">
                    <a16:creationId xmlns:a16="http://schemas.microsoft.com/office/drawing/2014/main" id="{D3533438-5685-F948-25C0-9911944E4A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208" t="25834" r="9534" b="23272"/>
              <a:stretch/>
            </p:blipFill>
            <p:spPr bwMode="auto">
              <a:xfrm>
                <a:off x="8261184" y="2363448"/>
                <a:ext cx="2751331" cy="633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CB611FC-7E72-F4B5-8998-E2BF0B171F55}"/>
                </a:ext>
              </a:extLst>
            </p:cNvPr>
            <p:cNvSpPr txBox="1"/>
            <p:nvPr/>
          </p:nvSpPr>
          <p:spPr>
            <a:xfrm>
              <a:off x="9811314" y="3642905"/>
              <a:ext cx="1598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chemeClr val="bg2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+ </a:t>
              </a:r>
              <a:r>
                <a:rPr lang="en-KR" sz="1400" i="1" dirty="0">
                  <a:solidFill>
                    <a:schemeClr val="bg2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probably more !</a:t>
              </a: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30E733E-896B-A3D9-4017-8D23F88C7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fld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274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 Talk: Network Load Balancing for RDMA </a:t>
            </a:r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7308C099-D3EE-5AAF-983A-87DC13A5AE46}"/>
              </a:ext>
            </a:extLst>
          </p:cNvPr>
          <p:cNvSpPr txBox="1">
            <a:spLocks/>
          </p:cNvSpPr>
          <p:nvPr/>
        </p:nvSpPr>
        <p:spPr>
          <a:xfrm>
            <a:off x="472440" y="1421484"/>
            <a:ext cx="11300460" cy="10085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Despite such benefits, RDMA does 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fully exploit the </a:t>
            </a:r>
            <a:b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high path diversity in DCNs. </a:t>
            </a: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32DDA4E0-1F6B-41AD-ADA2-E2A10A7611D2}"/>
              </a:ext>
            </a:extLst>
          </p:cNvPr>
          <p:cNvGrpSpPr/>
          <p:nvPr/>
        </p:nvGrpSpPr>
        <p:grpSpPr>
          <a:xfrm>
            <a:off x="2910038" y="2907040"/>
            <a:ext cx="6371924" cy="2262624"/>
            <a:chOff x="2662997" y="3091432"/>
            <a:chExt cx="6371924" cy="2262624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79C0139-0B01-1DD4-2D1B-E8A337EE0CAA}"/>
                </a:ext>
              </a:extLst>
            </p:cNvPr>
            <p:cNvGrpSpPr/>
            <p:nvPr/>
          </p:nvGrpSpPr>
          <p:grpSpPr>
            <a:xfrm>
              <a:off x="2662997" y="3091432"/>
              <a:ext cx="6371924" cy="2262624"/>
              <a:chOff x="2223754" y="2317600"/>
              <a:chExt cx="7399218" cy="2627408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2073F6EB-2E1A-413A-1670-34EC93D5D754}"/>
                  </a:ext>
                </a:extLst>
              </p:cNvPr>
              <p:cNvSpPr/>
              <p:nvPr/>
            </p:nvSpPr>
            <p:spPr>
              <a:xfrm>
                <a:off x="2223754" y="4556826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145468D9-5240-F571-1B82-22CA3BEF3C5C}"/>
                  </a:ext>
                </a:extLst>
              </p:cNvPr>
              <p:cNvSpPr/>
              <p:nvPr/>
            </p:nvSpPr>
            <p:spPr>
              <a:xfrm>
                <a:off x="2223754" y="4065063"/>
                <a:ext cx="1169216" cy="232680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1D41FECD-F621-1962-3182-CCAA54E9D2DE}"/>
                  </a:ext>
                </a:extLst>
              </p:cNvPr>
              <p:cNvSpPr/>
              <p:nvPr/>
            </p:nvSpPr>
            <p:spPr>
              <a:xfrm>
                <a:off x="2532055" y="4556826"/>
                <a:ext cx="244314" cy="38698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021968A0-C56D-83B4-736C-97903C9C79D2}"/>
                  </a:ext>
                </a:extLst>
              </p:cNvPr>
              <p:cNvSpPr/>
              <p:nvPr/>
            </p:nvSpPr>
            <p:spPr>
              <a:xfrm>
                <a:off x="2840355" y="4556826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A026341B-F284-2E50-7AA7-DC6FA2E398BB}"/>
                  </a:ext>
                </a:extLst>
              </p:cNvPr>
              <p:cNvSpPr/>
              <p:nvPr/>
            </p:nvSpPr>
            <p:spPr>
              <a:xfrm>
                <a:off x="3148656" y="4558020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33A4959F-E622-FF3A-8B37-373344259EE1}"/>
                  </a:ext>
                </a:extLst>
              </p:cNvPr>
              <p:cNvSpPr/>
              <p:nvPr/>
            </p:nvSpPr>
            <p:spPr>
              <a:xfrm>
                <a:off x="4073558" y="4556826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5E57E188-CA37-A3AD-3EC1-6695DE70BE1B}"/>
                  </a:ext>
                </a:extLst>
              </p:cNvPr>
              <p:cNvSpPr/>
              <p:nvPr/>
            </p:nvSpPr>
            <p:spPr>
              <a:xfrm>
                <a:off x="4073558" y="4065063"/>
                <a:ext cx="1169216" cy="232680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D233F69-4983-1328-D536-4665EDC9B187}"/>
                  </a:ext>
                </a:extLst>
              </p:cNvPr>
              <p:cNvSpPr/>
              <p:nvPr/>
            </p:nvSpPr>
            <p:spPr>
              <a:xfrm>
                <a:off x="4381859" y="4556826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496F63A-121D-1CD4-6CF8-909EAD2E4F25}"/>
                  </a:ext>
                </a:extLst>
              </p:cNvPr>
              <p:cNvSpPr/>
              <p:nvPr/>
            </p:nvSpPr>
            <p:spPr>
              <a:xfrm>
                <a:off x="4690159" y="4556826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02E4597B-A75C-75B6-8FDF-DA03CFD55370}"/>
                  </a:ext>
                </a:extLst>
              </p:cNvPr>
              <p:cNvSpPr/>
              <p:nvPr/>
            </p:nvSpPr>
            <p:spPr>
              <a:xfrm>
                <a:off x="4998460" y="4558020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32E8695-2B64-C6D5-DC8F-87F46592A2D1}"/>
                  </a:ext>
                </a:extLst>
              </p:cNvPr>
              <p:cNvSpPr/>
              <p:nvPr/>
            </p:nvSpPr>
            <p:spPr>
              <a:xfrm>
                <a:off x="2223754" y="3481222"/>
                <a:ext cx="1169216" cy="232680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F91B5897-D3D4-770A-6C66-9F0BDAB43497}"/>
                  </a:ext>
                </a:extLst>
              </p:cNvPr>
              <p:cNvSpPr/>
              <p:nvPr/>
            </p:nvSpPr>
            <p:spPr>
              <a:xfrm>
                <a:off x="4073558" y="3481222"/>
                <a:ext cx="1169216" cy="232680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498D7401-EAC9-2E95-0C4E-1A1D46D5EA6D}"/>
                  </a:ext>
                </a:extLst>
              </p:cNvPr>
              <p:cNvSpPr/>
              <p:nvPr/>
            </p:nvSpPr>
            <p:spPr>
              <a:xfrm>
                <a:off x="6603952" y="4550423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0B68785A-58CC-4A81-980F-36C99AF31C47}"/>
                  </a:ext>
                </a:extLst>
              </p:cNvPr>
              <p:cNvSpPr/>
              <p:nvPr/>
            </p:nvSpPr>
            <p:spPr>
              <a:xfrm>
                <a:off x="6603952" y="4058661"/>
                <a:ext cx="1169216" cy="232680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0A48A799-034D-5C5C-4606-B1EB062C5A87}"/>
                  </a:ext>
                </a:extLst>
              </p:cNvPr>
              <p:cNvSpPr/>
              <p:nvPr/>
            </p:nvSpPr>
            <p:spPr>
              <a:xfrm>
                <a:off x="6912253" y="4550423"/>
                <a:ext cx="244314" cy="38698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1383686F-C85E-5D39-8E33-5AE61A1C41FE}"/>
                  </a:ext>
                </a:extLst>
              </p:cNvPr>
              <p:cNvSpPr/>
              <p:nvPr/>
            </p:nvSpPr>
            <p:spPr>
              <a:xfrm>
                <a:off x="7220554" y="4550423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93A7EC1B-63D0-A47E-A42A-640E1B06D397}"/>
                  </a:ext>
                </a:extLst>
              </p:cNvPr>
              <p:cNvSpPr/>
              <p:nvPr/>
            </p:nvSpPr>
            <p:spPr>
              <a:xfrm>
                <a:off x="7528854" y="4551618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B9A73389-B7B8-FA0C-A2A5-FAECE9A2934D}"/>
                  </a:ext>
                </a:extLst>
              </p:cNvPr>
              <p:cNvSpPr/>
              <p:nvPr/>
            </p:nvSpPr>
            <p:spPr>
              <a:xfrm>
                <a:off x="8453756" y="4550423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BED566EE-BD87-A7DC-FC4D-A111736F6EED}"/>
                  </a:ext>
                </a:extLst>
              </p:cNvPr>
              <p:cNvSpPr/>
              <p:nvPr/>
            </p:nvSpPr>
            <p:spPr>
              <a:xfrm>
                <a:off x="8453756" y="4058661"/>
                <a:ext cx="1169216" cy="232680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8CE3C481-81CD-4F26-43BA-9DBB9612661F}"/>
                  </a:ext>
                </a:extLst>
              </p:cNvPr>
              <p:cNvSpPr/>
              <p:nvPr/>
            </p:nvSpPr>
            <p:spPr>
              <a:xfrm>
                <a:off x="8762057" y="4550423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2E4ADF23-6D0C-C53F-D32B-EABDA60A3464}"/>
                  </a:ext>
                </a:extLst>
              </p:cNvPr>
              <p:cNvSpPr/>
              <p:nvPr/>
            </p:nvSpPr>
            <p:spPr>
              <a:xfrm>
                <a:off x="9070358" y="4550423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69205200-C674-1AF3-A9B1-344A252CFA9E}"/>
                  </a:ext>
                </a:extLst>
              </p:cNvPr>
              <p:cNvSpPr/>
              <p:nvPr/>
            </p:nvSpPr>
            <p:spPr>
              <a:xfrm>
                <a:off x="9378658" y="4551618"/>
                <a:ext cx="244314" cy="386988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851D66EF-D093-5944-6FCF-EF16916D12D2}"/>
                  </a:ext>
                </a:extLst>
              </p:cNvPr>
              <p:cNvSpPr/>
              <p:nvPr/>
            </p:nvSpPr>
            <p:spPr>
              <a:xfrm>
                <a:off x="6603952" y="3474820"/>
                <a:ext cx="1169216" cy="232680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9099254-5797-24B1-42C4-B2E1AC86A5C5}"/>
                  </a:ext>
                </a:extLst>
              </p:cNvPr>
              <p:cNvSpPr/>
              <p:nvPr/>
            </p:nvSpPr>
            <p:spPr>
              <a:xfrm>
                <a:off x="8453756" y="3474820"/>
                <a:ext cx="1169216" cy="232680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07A2CEE2-907D-1C20-BCEB-38681823CB59}"/>
                  </a:ext>
                </a:extLst>
              </p:cNvPr>
              <p:cNvSpPr/>
              <p:nvPr/>
            </p:nvSpPr>
            <p:spPr>
              <a:xfrm>
                <a:off x="4073558" y="2317600"/>
                <a:ext cx="1169216" cy="417830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E1009356-2130-BB38-61D5-0B2EBB6BC0E3}"/>
                  </a:ext>
                </a:extLst>
              </p:cNvPr>
              <p:cNvSpPr/>
              <p:nvPr/>
            </p:nvSpPr>
            <p:spPr>
              <a:xfrm>
                <a:off x="6635946" y="2317600"/>
                <a:ext cx="1169216" cy="417830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91F631E4-4B3D-CBD8-D2E1-A1663CDB9132}"/>
                  </a:ext>
                </a:extLst>
              </p:cNvPr>
              <p:cNvCxnSpPr>
                <a:stCxn id="108" idx="2"/>
                <a:endCxn id="99" idx="0"/>
              </p:cNvCxnSpPr>
              <p:nvPr/>
            </p:nvCxnSpPr>
            <p:spPr>
              <a:xfrm>
                <a:off x="2808362" y="3713902"/>
                <a:ext cx="0" cy="35116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24E1EDC4-A6C9-3A0F-9760-414DF1AB72A3}"/>
                  </a:ext>
                </a:extLst>
              </p:cNvPr>
              <p:cNvCxnSpPr>
                <a:cxnSpLocks/>
                <a:stCxn id="109" idx="2"/>
                <a:endCxn id="104" idx="0"/>
              </p:cNvCxnSpPr>
              <p:nvPr/>
            </p:nvCxnSpPr>
            <p:spPr>
              <a:xfrm>
                <a:off x="4658166" y="3713902"/>
                <a:ext cx="0" cy="35116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DBE09BD8-E601-FFE8-1A0B-DF5E27F92AF8}"/>
                  </a:ext>
                </a:extLst>
              </p:cNvPr>
              <p:cNvCxnSpPr>
                <a:cxnSpLocks/>
                <a:stCxn id="108" idx="2"/>
                <a:endCxn id="104" idx="0"/>
              </p:cNvCxnSpPr>
              <p:nvPr/>
            </p:nvCxnSpPr>
            <p:spPr>
              <a:xfrm>
                <a:off x="2808362" y="3713902"/>
                <a:ext cx="1849804" cy="35116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8FB307EE-8EE6-0B8E-22FE-1B5B1CDA8365}"/>
                  </a:ext>
                </a:extLst>
              </p:cNvPr>
              <p:cNvCxnSpPr>
                <a:cxnSpLocks/>
                <a:stCxn id="99" idx="0"/>
                <a:endCxn id="109" idx="2"/>
              </p:cNvCxnSpPr>
              <p:nvPr/>
            </p:nvCxnSpPr>
            <p:spPr>
              <a:xfrm flipV="1">
                <a:off x="2808362" y="3713902"/>
                <a:ext cx="1849804" cy="35116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A58EF1C1-BB1A-BB71-2F6D-6B4C1AD82089}"/>
                  </a:ext>
                </a:extLst>
              </p:cNvPr>
              <p:cNvCxnSpPr>
                <a:cxnSpLocks/>
                <a:stCxn id="111" idx="0"/>
                <a:endCxn id="121" idx="2"/>
              </p:cNvCxnSpPr>
              <p:nvPr/>
            </p:nvCxnSpPr>
            <p:spPr>
              <a:xfrm flipV="1">
                <a:off x="7188560" y="3707500"/>
                <a:ext cx="1849804" cy="35116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E2D5EC2A-6AB2-9208-C51C-CAA801121BD3}"/>
                  </a:ext>
                </a:extLst>
              </p:cNvPr>
              <p:cNvCxnSpPr>
                <a:cxnSpLocks/>
                <a:stCxn id="116" idx="0"/>
                <a:endCxn id="120" idx="2"/>
              </p:cNvCxnSpPr>
              <p:nvPr/>
            </p:nvCxnSpPr>
            <p:spPr>
              <a:xfrm flipH="1" flipV="1">
                <a:off x="7188560" y="3707500"/>
                <a:ext cx="1849804" cy="35116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B7BA27F7-9732-676B-76C3-02D5533B0D65}"/>
                  </a:ext>
                </a:extLst>
              </p:cNvPr>
              <p:cNvCxnSpPr>
                <a:cxnSpLocks/>
                <a:stCxn id="111" idx="0"/>
                <a:endCxn id="120" idx="2"/>
              </p:cNvCxnSpPr>
              <p:nvPr/>
            </p:nvCxnSpPr>
            <p:spPr>
              <a:xfrm flipV="1">
                <a:off x="7188560" y="3707500"/>
                <a:ext cx="0" cy="35116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461AC2AC-9834-844F-7DA8-84208E1993A0}"/>
                  </a:ext>
                </a:extLst>
              </p:cNvPr>
              <p:cNvCxnSpPr>
                <a:cxnSpLocks/>
                <a:stCxn id="116" idx="0"/>
                <a:endCxn id="121" idx="2"/>
              </p:cNvCxnSpPr>
              <p:nvPr/>
            </p:nvCxnSpPr>
            <p:spPr>
              <a:xfrm flipV="1">
                <a:off x="9038364" y="3707500"/>
                <a:ext cx="0" cy="35116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F10ACEBA-6F2F-011D-98DA-BE29EC709C4C}"/>
                  </a:ext>
                </a:extLst>
              </p:cNvPr>
              <p:cNvCxnSpPr>
                <a:cxnSpLocks/>
                <a:stCxn id="121" idx="0"/>
                <a:endCxn id="123" idx="2"/>
              </p:cNvCxnSpPr>
              <p:nvPr/>
            </p:nvCxnSpPr>
            <p:spPr>
              <a:xfrm flipH="1" flipV="1">
                <a:off x="7220554" y="2735430"/>
                <a:ext cx="1817810" cy="7393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98784227-2C2F-3F29-B84A-6CF7C2EB616D}"/>
                  </a:ext>
                </a:extLst>
              </p:cNvPr>
              <p:cNvCxnSpPr>
                <a:cxnSpLocks/>
                <a:stCxn id="120" idx="0"/>
                <a:endCxn id="123" idx="2"/>
              </p:cNvCxnSpPr>
              <p:nvPr/>
            </p:nvCxnSpPr>
            <p:spPr>
              <a:xfrm flipV="1">
                <a:off x="7188560" y="2735430"/>
                <a:ext cx="31993" cy="7393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8E8B7D08-9324-3B89-B24E-75F689A5A431}"/>
                  </a:ext>
                </a:extLst>
              </p:cNvPr>
              <p:cNvCxnSpPr>
                <a:cxnSpLocks/>
                <a:stCxn id="109" idx="0"/>
                <a:endCxn id="123" idx="2"/>
              </p:cNvCxnSpPr>
              <p:nvPr/>
            </p:nvCxnSpPr>
            <p:spPr>
              <a:xfrm flipV="1">
                <a:off x="4658166" y="2735430"/>
                <a:ext cx="2562388" cy="74579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244EE519-407F-D543-3754-A01977A68100}"/>
                  </a:ext>
                </a:extLst>
              </p:cNvPr>
              <p:cNvCxnSpPr>
                <a:cxnSpLocks/>
                <a:stCxn id="108" idx="0"/>
                <a:endCxn id="123" idx="2"/>
              </p:cNvCxnSpPr>
              <p:nvPr/>
            </p:nvCxnSpPr>
            <p:spPr>
              <a:xfrm flipV="1">
                <a:off x="2808362" y="2735430"/>
                <a:ext cx="4412192" cy="74579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D6F464F1-DF19-50E6-A37E-7B9523C0445B}"/>
                  </a:ext>
                </a:extLst>
              </p:cNvPr>
              <p:cNvCxnSpPr>
                <a:cxnSpLocks/>
                <a:stCxn id="108" idx="0"/>
                <a:endCxn id="122" idx="2"/>
              </p:cNvCxnSpPr>
              <p:nvPr/>
            </p:nvCxnSpPr>
            <p:spPr>
              <a:xfrm flipV="1">
                <a:off x="2808362" y="2735430"/>
                <a:ext cx="1849804" cy="74579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81F5B5A5-E625-A11D-2559-9FF02D55A4E7}"/>
                  </a:ext>
                </a:extLst>
              </p:cNvPr>
              <p:cNvCxnSpPr>
                <a:cxnSpLocks/>
                <a:stCxn id="109" idx="0"/>
                <a:endCxn id="122" idx="2"/>
              </p:cNvCxnSpPr>
              <p:nvPr/>
            </p:nvCxnSpPr>
            <p:spPr>
              <a:xfrm flipV="1">
                <a:off x="4658166" y="2735430"/>
                <a:ext cx="0" cy="74579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8374FD98-0100-C80F-7CA2-78DDD2A5CE64}"/>
                  </a:ext>
                </a:extLst>
              </p:cNvPr>
              <p:cNvCxnSpPr>
                <a:cxnSpLocks/>
                <a:stCxn id="120" idx="0"/>
                <a:endCxn id="122" idx="2"/>
              </p:cNvCxnSpPr>
              <p:nvPr/>
            </p:nvCxnSpPr>
            <p:spPr>
              <a:xfrm flipH="1" flipV="1">
                <a:off x="4658166" y="2735430"/>
                <a:ext cx="2530394" cy="7393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C29CF664-4A1B-4F57-2E44-CB201B4570A9}"/>
                  </a:ext>
                </a:extLst>
              </p:cNvPr>
              <p:cNvCxnSpPr>
                <a:cxnSpLocks/>
                <a:stCxn id="121" idx="0"/>
                <a:endCxn id="122" idx="2"/>
              </p:cNvCxnSpPr>
              <p:nvPr/>
            </p:nvCxnSpPr>
            <p:spPr>
              <a:xfrm flipH="1" flipV="1">
                <a:off x="4658166" y="2735430"/>
                <a:ext cx="4380198" cy="73939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58A7E4C2-DC22-F00B-A0F2-E972F2E694F6}"/>
                  </a:ext>
                </a:extLst>
              </p:cNvPr>
              <p:cNvCxnSpPr>
                <a:cxnSpLocks/>
                <a:stCxn id="99" idx="2"/>
                <a:endCxn id="98" idx="0"/>
              </p:cNvCxnSpPr>
              <p:nvPr/>
            </p:nvCxnSpPr>
            <p:spPr>
              <a:xfrm flipH="1">
                <a:off x="2345911" y="4297743"/>
                <a:ext cx="462451" cy="2590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9EA399D9-FDA5-CB6D-C68D-894FD2525FD1}"/>
                  </a:ext>
                </a:extLst>
              </p:cNvPr>
              <p:cNvCxnSpPr>
                <a:cxnSpLocks/>
                <a:stCxn id="99" idx="2"/>
                <a:endCxn id="100" idx="0"/>
              </p:cNvCxnSpPr>
              <p:nvPr/>
            </p:nvCxnSpPr>
            <p:spPr>
              <a:xfrm flipH="1">
                <a:off x="2654212" y="4297743"/>
                <a:ext cx="154150" cy="2590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369360E4-0604-EC0C-A12C-D66ED0C3EAD0}"/>
                  </a:ext>
                </a:extLst>
              </p:cNvPr>
              <p:cNvCxnSpPr>
                <a:cxnSpLocks/>
                <a:stCxn id="99" idx="2"/>
                <a:endCxn id="101" idx="0"/>
              </p:cNvCxnSpPr>
              <p:nvPr/>
            </p:nvCxnSpPr>
            <p:spPr>
              <a:xfrm>
                <a:off x="2808362" y="4297743"/>
                <a:ext cx="154150" cy="2590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7BC10E48-9B25-B91E-017C-17B8F76C1AC6}"/>
                  </a:ext>
                </a:extLst>
              </p:cNvPr>
              <p:cNvCxnSpPr>
                <a:cxnSpLocks/>
                <a:stCxn id="99" idx="2"/>
                <a:endCxn id="102" idx="0"/>
              </p:cNvCxnSpPr>
              <p:nvPr/>
            </p:nvCxnSpPr>
            <p:spPr>
              <a:xfrm>
                <a:off x="2808362" y="4297743"/>
                <a:ext cx="462451" cy="26027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FE6C82CB-39C8-3302-C367-49F1DAEC2CFD}"/>
                  </a:ext>
                </a:extLst>
              </p:cNvPr>
              <p:cNvCxnSpPr>
                <a:cxnSpLocks/>
                <a:stCxn id="104" idx="2"/>
                <a:endCxn id="103" idx="0"/>
              </p:cNvCxnSpPr>
              <p:nvPr/>
            </p:nvCxnSpPr>
            <p:spPr>
              <a:xfrm flipH="1">
                <a:off x="4195715" y="4297743"/>
                <a:ext cx="462451" cy="2590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8B012477-CD53-7DB6-1B4C-51059B5AC6C4}"/>
                  </a:ext>
                </a:extLst>
              </p:cNvPr>
              <p:cNvCxnSpPr>
                <a:cxnSpLocks/>
                <a:stCxn id="104" idx="2"/>
                <a:endCxn id="105" idx="0"/>
              </p:cNvCxnSpPr>
              <p:nvPr/>
            </p:nvCxnSpPr>
            <p:spPr>
              <a:xfrm flipH="1">
                <a:off x="4504015" y="4297743"/>
                <a:ext cx="154150" cy="2590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1F3478B9-41F2-04C6-7D6B-74227979ACB2}"/>
                  </a:ext>
                </a:extLst>
              </p:cNvPr>
              <p:cNvCxnSpPr>
                <a:cxnSpLocks/>
                <a:stCxn id="104" idx="2"/>
                <a:endCxn id="106" idx="0"/>
              </p:cNvCxnSpPr>
              <p:nvPr/>
            </p:nvCxnSpPr>
            <p:spPr>
              <a:xfrm>
                <a:off x="4658166" y="4297743"/>
                <a:ext cx="154150" cy="2590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78F994BC-55A5-C83E-8630-45BB34E5BB12}"/>
                  </a:ext>
                </a:extLst>
              </p:cNvPr>
              <p:cNvCxnSpPr>
                <a:cxnSpLocks/>
                <a:stCxn id="104" idx="2"/>
                <a:endCxn id="107" idx="0"/>
              </p:cNvCxnSpPr>
              <p:nvPr/>
            </p:nvCxnSpPr>
            <p:spPr>
              <a:xfrm>
                <a:off x="4658166" y="4297743"/>
                <a:ext cx="462451" cy="26027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58AB0037-1FA8-610E-DD8A-66B5BFB0819C}"/>
                  </a:ext>
                </a:extLst>
              </p:cNvPr>
              <p:cNvCxnSpPr>
                <a:cxnSpLocks/>
                <a:stCxn id="111" idx="2"/>
                <a:endCxn id="110" idx="0"/>
              </p:cNvCxnSpPr>
              <p:nvPr/>
            </p:nvCxnSpPr>
            <p:spPr>
              <a:xfrm flipH="1">
                <a:off x="6726109" y="4291340"/>
                <a:ext cx="462451" cy="2590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ACC9530D-B5A1-1F12-3D03-F1CF51824D85}"/>
                  </a:ext>
                </a:extLst>
              </p:cNvPr>
              <p:cNvCxnSpPr>
                <a:cxnSpLocks/>
                <a:stCxn id="111" idx="2"/>
                <a:endCxn id="112" idx="0"/>
              </p:cNvCxnSpPr>
              <p:nvPr/>
            </p:nvCxnSpPr>
            <p:spPr>
              <a:xfrm flipH="1">
                <a:off x="7034410" y="4291340"/>
                <a:ext cx="154150" cy="2590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84D3C1F2-0B24-3C43-B867-5663B1C2131B}"/>
                  </a:ext>
                </a:extLst>
              </p:cNvPr>
              <p:cNvCxnSpPr>
                <a:cxnSpLocks/>
                <a:stCxn id="111" idx="2"/>
                <a:endCxn id="113" idx="0"/>
              </p:cNvCxnSpPr>
              <p:nvPr/>
            </p:nvCxnSpPr>
            <p:spPr>
              <a:xfrm>
                <a:off x="7188560" y="4291340"/>
                <a:ext cx="154150" cy="2590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DC7EF04C-02AF-E47E-C039-AECACF5FC0FE}"/>
                  </a:ext>
                </a:extLst>
              </p:cNvPr>
              <p:cNvCxnSpPr>
                <a:cxnSpLocks/>
                <a:stCxn id="111" idx="2"/>
                <a:endCxn id="114" idx="0"/>
              </p:cNvCxnSpPr>
              <p:nvPr/>
            </p:nvCxnSpPr>
            <p:spPr>
              <a:xfrm>
                <a:off x="7188560" y="4291340"/>
                <a:ext cx="462451" cy="26027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3F5E8AB5-BB64-BBA9-AA62-B30D00835C8D}"/>
                  </a:ext>
                </a:extLst>
              </p:cNvPr>
              <p:cNvCxnSpPr>
                <a:cxnSpLocks/>
                <a:stCxn id="116" idx="2"/>
                <a:endCxn id="115" idx="0"/>
              </p:cNvCxnSpPr>
              <p:nvPr/>
            </p:nvCxnSpPr>
            <p:spPr>
              <a:xfrm flipH="1">
                <a:off x="8575913" y="4291340"/>
                <a:ext cx="462451" cy="2590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D4ED9ADB-3A0D-D767-2B1A-6A7EA3189F23}"/>
                  </a:ext>
                </a:extLst>
              </p:cNvPr>
              <p:cNvCxnSpPr>
                <a:cxnSpLocks/>
                <a:stCxn id="116" idx="2"/>
                <a:endCxn id="117" idx="0"/>
              </p:cNvCxnSpPr>
              <p:nvPr/>
            </p:nvCxnSpPr>
            <p:spPr>
              <a:xfrm flipH="1">
                <a:off x="8884214" y="4291340"/>
                <a:ext cx="154150" cy="2590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2F7CD458-1C7D-02C8-029E-2CD9E2AB42E2}"/>
                  </a:ext>
                </a:extLst>
              </p:cNvPr>
              <p:cNvCxnSpPr>
                <a:cxnSpLocks/>
                <a:stCxn id="116" idx="2"/>
                <a:endCxn id="118" idx="0"/>
              </p:cNvCxnSpPr>
              <p:nvPr/>
            </p:nvCxnSpPr>
            <p:spPr>
              <a:xfrm>
                <a:off x="9038364" y="4291340"/>
                <a:ext cx="154150" cy="259083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11882E2C-6928-6BD2-3F70-D7A5CC4FF1EC}"/>
                  </a:ext>
                </a:extLst>
              </p:cNvPr>
              <p:cNvCxnSpPr>
                <a:cxnSpLocks/>
                <a:stCxn id="116" idx="2"/>
                <a:endCxn id="119" idx="0"/>
              </p:cNvCxnSpPr>
              <p:nvPr/>
            </p:nvCxnSpPr>
            <p:spPr>
              <a:xfrm>
                <a:off x="9038364" y="4291340"/>
                <a:ext cx="462451" cy="260277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906CBBA2-8D4C-9DEB-60DB-580409574565}"/>
                </a:ext>
              </a:extLst>
            </p:cNvPr>
            <p:cNvGrpSpPr/>
            <p:nvPr/>
          </p:nvGrpSpPr>
          <p:grpSpPr>
            <a:xfrm>
              <a:off x="2975773" y="3423576"/>
              <a:ext cx="5582249" cy="1634120"/>
              <a:chOff x="2992582" y="3503221"/>
              <a:chExt cx="5557652" cy="1626919"/>
            </a:xfrm>
          </p:grpSpPr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0691F937-76D9-E0A1-D5C0-DFE13239F3C7}"/>
                  </a:ext>
                </a:extLst>
              </p:cNvPr>
              <p:cNvSpPr/>
              <p:nvPr/>
            </p:nvSpPr>
            <p:spPr>
              <a:xfrm>
                <a:off x="3016332" y="3515096"/>
                <a:ext cx="3895107" cy="1591294"/>
              </a:xfrm>
              <a:custGeom>
                <a:avLst/>
                <a:gdLst>
                  <a:gd name="connsiteX0" fmla="*/ 0 w 3895107"/>
                  <a:gd name="connsiteY0" fmla="*/ 1567543 h 1591294"/>
                  <a:gd name="connsiteX1" fmla="*/ 118754 w 3895107"/>
                  <a:gd name="connsiteY1" fmla="*/ 1353787 h 1591294"/>
                  <a:gd name="connsiteX2" fmla="*/ 118754 w 3895107"/>
                  <a:gd name="connsiteY2" fmla="*/ 700644 h 1591294"/>
                  <a:gd name="connsiteX3" fmla="*/ 1721923 w 3895107"/>
                  <a:gd name="connsiteY3" fmla="*/ 0 h 1591294"/>
                  <a:gd name="connsiteX4" fmla="*/ 3895107 w 3895107"/>
                  <a:gd name="connsiteY4" fmla="*/ 653143 h 1591294"/>
                  <a:gd name="connsiteX5" fmla="*/ 3883232 w 3895107"/>
                  <a:gd name="connsiteY5" fmla="*/ 1341912 h 1591294"/>
                  <a:gd name="connsiteX6" fmla="*/ 3752603 w 3895107"/>
                  <a:gd name="connsiteY6" fmla="*/ 1591294 h 1591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95107" h="1591294">
                    <a:moveTo>
                      <a:pt x="0" y="1567543"/>
                    </a:moveTo>
                    <a:lnTo>
                      <a:pt x="118754" y="1353787"/>
                    </a:lnTo>
                    <a:lnTo>
                      <a:pt x="118754" y="700644"/>
                    </a:lnTo>
                    <a:lnTo>
                      <a:pt x="1721923" y="0"/>
                    </a:lnTo>
                    <a:lnTo>
                      <a:pt x="3895107" y="653143"/>
                    </a:lnTo>
                    <a:lnTo>
                      <a:pt x="3883232" y="1341912"/>
                    </a:lnTo>
                    <a:lnTo>
                      <a:pt x="3752603" y="1591294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headEnd type="arrow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C2584F44-2B99-6AAE-25BF-47C8F4BA8648}"/>
                  </a:ext>
                </a:extLst>
              </p:cNvPr>
              <p:cNvSpPr/>
              <p:nvPr/>
            </p:nvSpPr>
            <p:spPr>
              <a:xfrm>
                <a:off x="3028208" y="3526971"/>
                <a:ext cx="3906982" cy="1579419"/>
              </a:xfrm>
              <a:custGeom>
                <a:avLst/>
                <a:gdLst>
                  <a:gd name="connsiteX0" fmla="*/ 0 w 3906982"/>
                  <a:gd name="connsiteY0" fmla="*/ 1579419 h 1579419"/>
                  <a:gd name="connsiteX1" fmla="*/ 118753 w 3906982"/>
                  <a:gd name="connsiteY1" fmla="*/ 1377538 h 1579419"/>
                  <a:gd name="connsiteX2" fmla="*/ 130628 w 3906982"/>
                  <a:gd name="connsiteY2" fmla="*/ 712520 h 1579419"/>
                  <a:gd name="connsiteX3" fmla="*/ 3895106 w 3906982"/>
                  <a:gd name="connsiteY3" fmla="*/ 0 h 1579419"/>
                  <a:gd name="connsiteX4" fmla="*/ 3906982 w 3906982"/>
                  <a:gd name="connsiteY4" fmla="*/ 676894 h 1579419"/>
                  <a:gd name="connsiteX5" fmla="*/ 3906982 w 3906982"/>
                  <a:gd name="connsiteY5" fmla="*/ 1365663 h 1579419"/>
                  <a:gd name="connsiteX6" fmla="*/ 3740727 w 3906982"/>
                  <a:gd name="connsiteY6" fmla="*/ 1579419 h 1579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06982" h="1579419">
                    <a:moveTo>
                      <a:pt x="0" y="1579419"/>
                    </a:moveTo>
                    <a:lnTo>
                      <a:pt x="118753" y="1377538"/>
                    </a:lnTo>
                    <a:lnTo>
                      <a:pt x="130628" y="712520"/>
                    </a:lnTo>
                    <a:lnTo>
                      <a:pt x="3895106" y="0"/>
                    </a:lnTo>
                    <a:lnTo>
                      <a:pt x="3906982" y="676894"/>
                    </a:lnTo>
                    <a:lnTo>
                      <a:pt x="3906982" y="1365663"/>
                    </a:lnTo>
                    <a:lnTo>
                      <a:pt x="3740727" y="1579419"/>
                    </a:lnTo>
                  </a:path>
                </a:pathLst>
              </a:custGeom>
              <a:noFill/>
              <a:ln w="38100">
                <a:solidFill>
                  <a:schemeClr val="accent6"/>
                </a:solidFill>
                <a:headEnd type="arrow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9118A4FA-C80C-FFAF-D8A3-863484B83259}"/>
                  </a:ext>
                </a:extLst>
              </p:cNvPr>
              <p:cNvSpPr/>
              <p:nvPr/>
            </p:nvSpPr>
            <p:spPr>
              <a:xfrm>
                <a:off x="2992582" y="3526971"/>
                <a:ext cx="5498275" cy="1603169"/>
              </a:xfrm>
              <a:custGeom>
                <a:avLst/>
                <a:gdLst>
                  <a:gd name="connsiteX0" fmla="*/ 0 w 5498275"/>
                  <a:gd name="connsiteY0" fmla="*/ 1567543 h 1603169"/>
                  <a:gd name="connsiteX1" fmla="*/ 190005 w 5498275"/>
                  <a:gd name="connsiteY1" fmla="*/ 1353787 h 1603169"/>
                  <a:gd name="connsiteX2" fmla="*/ 142504 w 5498275"/>
                  <a:gd name="connsiteY2" fmla="*/ 1128156 h 1603169"/>
                  <a:gd name="connsiteX3" fmla="*/ 1769423 w 5498275"/>
                  <a:gd name="connsiteY3" fmla="*/ 855024 h 1603169"/>
                  <a:gd name="connsiteX4" fmla="*/ 1757548 w 5498275"/>
                  <a:gd name="connsiteY4" fmla="*/ 617517 h 1603169"/>
                  <a:gd name="connsiteX5" fmla="*/ 3966358 w 5498275"/>
                  <a:gd name="connsiteY5" fmla="*/ 0 h 1603169"/>
                  <a:gd name="connsiteX6" fmla="*/ 5498275 w 5498275"/>
                  <a:gd name="connsiteY6" fmla="*/ 641268 h 1603169"/>
                  <a:gd name="connsiteX7" fmla="*/ 5498275 w 5498275"/>
                  <a:gd name="connsiteY7" fmla="*/ 878774 h 1603169"/>
                  <a:gd name="connsiteX8" fmla="*/ 3966358 w 5498275"/>
                  <a:gd name="connsiteY8" fmla="*/ 1151907 h 1603169"/>
                  <a:gd name="connsiteX9" fmla="*/ 3990109 w 5498275"/>
                  <a:gd name="connsiteY9" fmla="*/ 1413164 h 1603169"/>
                  <a:gd name="connsiteX10" fmla="*/ 3800104 w 5498275"/>
                  <a:gd name="connsiteY10" fmla="*/ 1603169 h 1603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98275" h="1603169">
                    <a:moveTo>
                      <a:pt x="0" y="1567543"/>
                    </a:moveTo>
                    <a:lnTo>
                      <a:pt x="190005" y="1353787"/>
                    </a:lnTo>
                    <a:lnTo>
                      <a:pt x="142504" y="1128156"/>
                    </a:lnTo>
                    <a:lnTo>
                      <a:pt x="1769423" y="855024"/>
                    </a:lnTo>
                    <a:lnTo>
                      <a:pt x="1757548" y="617517"/>
                    </a:lnTo>
                    <a:lnTo>
                      <a:pt x="3966358" y="0"/>
                    </a:lnTo>
                    <a:lnTo>
                      <a:pt x="5498275" y="641268"/>
                    </a:lnTo>
                    <a:lnTo>
                      <a:pt x="5498275" y="878774"/>
                    </a:lnTo>
                    <a:lnTo>
                      <a:pt x="3966358" y="1151907"/>
                    </a:lnTo>
                    <a:lnTo>
                      <a:pt x="3990109" y="1413164"/>
                    </a:lnTo>
                    <a:lnTo>
                      <a:pt x="3800104" y="1603169"/>
                    </a:lnTo>
                  </a:path>
                </a:pathLst>
              </a:custGeom>
              <a:noFill/>
              <a:ln w="57150">
                <a:solidFill>
                  <a:schemeClr val="tx1">
                    <a:lumMod val="85000"/>
                    <a:lumOff val="15000"/>
                  </a:schemeClr>
                </a:solidFill>
                <a:headEnd type="arrow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D57ECF3A-514C-9A4A-EF67-8A613FEB4B42}"/>
                  </a:ext>
                </a:extLst>
              </p:cNvPr>
              <p:cNvSpPr/>
              <p:nvPr/>
            </p:nvSpPr>
            <p:spPr>
              <a:xfrm>
                <a:off x="3028208" y="3538847"/>
                <a:ext cx="3918857" cy="1591293"/>
              </a:xfrm>
              <a:custGeom>
                <a:avLst/>
                <a:gdLst>
                  <a:gd name="connsiteX0" fmla="*/ 0 w 3918857"/>
                  <a:gd name="connsiteY0" fmla="*/ 1567543 h 1591293"/>
                  <a:gd name="connsiteX1" fmla="*/ 130628 w 3918857"/>
                  <a:gd name="connsiteY1" fmla="*/ 1413163 h 1591293"/>
                  <a:gd name="connsiteX2" fmla="*/ 106878 w 3918857"/>
                  <a:gd name="connsiteY2" fmla="*/ 1151906 h 1591293"/>
                  <a:gd name="connsiteX3" fmla="*/ 1710047 w 3918857"/>
                  <a:gd name="connsiteY3" fmla="*/ 855023 h 1591293"/>
                  <a:gd name="connsiteX4" fmla="*/ 1721922 w 3918857"/>
                  <a:gd name="connsiteY4" fmla="*/ 617517 h 1591293"/>
                  <a:gd name="connsiteX5" fmla="*/ 3918857 w 3918857"/>
                  <a:gd name="connsiteY5" fmla="*/ 0 h 1591293"/>
                  <a:gd name="connsiteX6" fmla="*/ 3859480 w 3918857"/>
                  <a:gd name="connsiteY6" fmla="*/ 653143 h 1591293"/>
                  <a:gd name="connsiteX7" fmla="*/ 3883231 w 3918857"/>
                  <a:gd name="connsiteY7" fmla="*/ 1341911 h 1591293"/>
                  <a:gd name="connsiteX8" fmla="*/ 3764478 w 3918857"/>
                  <a:gd name="connsiteY8" fmla="*/ 1591293 h 1591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18857" h="1591293">
                    <a:moveTo>
                      <a:pt x="0" y="1567543"/>
                    </a:moveTo>
                    <a:lnTo>
                      <a:pt x="130628" y="1413163"/>
                    </a:lnTo>
                    <a:lnTo>
                      <a:pt x="106878" y="1151906"/>
                    </a:lnTo>
                    <a:lnTo>
                      <a:pt x="1710047" y="855023"/>
                    </a:lnTo>
                    <a:lnTo>
                      <a:pt x="1721922" y="617517"/>
                    </a:lnTo>
                    <a:lnTo>
                      <a:pt x="3918857" y="0"/>
                    </a:lnTo>
                    <a:lnTo>
                      <a:pt x="3859480" y="653143"/>
                    </a:lnTo>
                    <a:lnTo>
                      <a:pt x="3883231" y="1341911"/>
                    </a:lnTo>
                    <a:lnTo>
                      <a:pt x="3764478" y="1591293"/>
                    </a:lnTo>
                  </a:path>
                </a:pathLst>
              </a:custGeom>
              <a:noFill/>
              <a:ln w="38100">
                <a:solidFill>
                  <a:schemeClr val="accent5"/>
                </a:solidFill>
                <a:headEnd type="arrow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BEFDC283-D21B-05F4-3746-12AE9724B8AF}"/>
                  </a:ext>
                </a:extLst>
              </p:cNvPr>
              <p:cNvSpPr/>
              <p:nvPr/>
            </p:nvSpPr>
            <p:spPr>
              <a:xfrm>
                <a:off x="2992582" y="3503221"/>
                <a:ext cx="5557652" cy="1591293"/>
              </a:xfrm>
              <a:custGeom>
                <a:avLst/>
                <a:gdLst>
                  <a:gd name="connsiteX0" fmla="*/ 0 w 5557652"/>
                  <a:gd name="connsiteY0" fmla="*/ 1591293 h 1591293"/>
                  <a:gd name="connsiteX1" fmla="*/ 142504 w 5557652"/>
                  <a:gd name="connsiteY1" fmla="*/ 1330036 h 1591293"/>
                  <a:gd name="connsiteX2" fmla="*/ 130628 w 5557652"/>
                  <a:gd name="connsiteY2" fmla="*/ 736270 h 1591293"/>
                  <a:gd name="connsiteX3" fmla="*/ 1781299 w 5557652"/>
                  <a:gd name="connsiteY3" fmla="*/ 0 h 1591293"/>
                  <a:gd name="connsiteX4" fmla="*/ 5557652 w 5557652"/>
                  <a:gd name="connsiteY4" fmla="*/ 665018 h 1591293"/>
                  <a:gd name="connsiteX5" fmla="*/ 5545776 w 5557652"/>
                  <a:gd name="connsiteY5" fmla="*/ 950026 h 1591293"/>
                  <a:gd name="connsiteX6" fmla="*/ 3847605 w 5557652"/>
                  <a:gd name="connsiteY6" fmla="*/ 1187532 h 1591293"/>
                  <a:gd name="connsiteX7" fmla="*/ 3859480 w 5557652"/>
                  <a:gd name="connsiteY7" fmla="*/ 1341911 h 1591293"/>
                  <a:gd name="connsiteX8" fmla="*/ 3811979 w 5557652"/>
                  <a:gd name="connsiteY8" fmla="*/ 1543792 h 1591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57652" h="1591293">
                    <a:moveTo>
                      <a:pt x="0" y="1591293"/>
                    </a:moveTo>
                    <a:lnTo>
                      <a:pt x="142504" y="1330036"/>
                    </a:lnTo>
                    <a:lnTo>
                      <a:pt x="130628" y="736270"/>
                    </a:lnTo>
                    <a:lnTo>
                      <a:pt x="1781299" y="0"/>
                    </a:lnTo>
                    <a:lnTo>
                      <a:pt x="5557652" y="665018"/>
                    </a:lnTo>
                    <a:lnTo>
                      <a:pt x="5545776" y="950026"/>
                    </a:lnTo>
                    <a:lnTo>
                      <a:pt x="3847605" y="1187532"/>
                    </a:lnTo>
                    <a:lnTo>
                      <a:pt x="3859480" y="1341911"/>
                    </a:lnTo>
                    <a:lnTo>
                      <a:pt x="3811979" y="1543792"/>
                    </a:lnTo>
                  </a:path>
                </a:pathLst>
              </a:custGeom>
              <a:noFill/>
              <a:ln w="38100">
                <a:solidFill>
                  <a:schemeClr val="accent4"/>
                </a:solidFill>
                <a:headEnd type="arrow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69E7591-80FA-C6FD-0FC7-23C94C923B59}"/>
              </a:ext>
            </a:extLst>
          </p:cNvPr>
          <p:cNvSpPr/>
          <p:nvPr/>
        </p:nvSpPr>
        <p:spPr>
          <a:xfrm>
            <a:off x="0" y="2560560"/>
            <a:ext cx="12192000" cy="4332062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CCFDEF0-A736-A9B9-6376-A438F028F226}"/>
              </a:ext>
            </a:extLst>
          </p:cNvPr>
          <p:cNvSpPr/>
          <p:nvPr/>
        </p:nvSpPr>
        <p:spPr>
          <a:xfrm>
            <a:off x="1797806" y="2530450"/>
            <a:ext cx="8649728" cy="566382"/>
          </a:xfrm>
          <a:prstGeom prst="roundRect">
            <a:avLst>
              <a:gd name="adj" fmla="val 34739"/>
            </a:avLst>
          </a:prstGeom>
          <a:solidFill>
            <a:srgbClr val="C00000"/>
          </a:solidFill>
          <a:ln w="38100">
            <a:solidFill>
              <a:srgbClr val="C00000"/>
            </a:solidFill>
          </a:ln>
          <a:effectLst>
            <a:outerShdw blurRad="52305" dist="55624" dir="2820000" algn="ctr" rotWithShape="0">
              <a:srgbClr val="000000">
                <a:alpha val="49231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Existing LB schemes </a:t>
            </a:r>
            <a:r>
              <a:rPr lang="en-KR" sz="2400" b="1" dirty="0">
                <a:solidFill>
                  <a:srgbClr val="FFFF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 not </a:t>
            </a:r>
            <a:r>
              <a:rPr lang="en-KR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fit well with RDMA.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C45F585-B9B0-D40D-C31C-DD843CEFD9E3}"/>
              </a:ext>
            </a:extLst>
          </p:cNvPr>
          <p:cNvGrpSpPr/>
          <p:nvPr/>
        </p:nvGrpSpPr>
        <p:grpSpPr>
          <a:xfrm>
            <a:off x="2744641" y="3215707"/>
            <a:ext cx="6829203" cy="1217483"/>
            <a:chOff x="2744641" y="3215707"/>
            <a:chExt cx="6829203" cy="1217483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8208971-F4BF-D251-26AC-3D70B8EE0EB9}"/>
                </a:ext>
              </a:extLst>
            </p:cNvPr>
            <p:cNvSpPr/>
            <p:nvPr/>
          </p:nvSpPr>
          <p:spPr>
            <a:xfrm>
              <a:off x="3734003" y="3739807"/>
              <a:ext cx="5839841" cy="566382"/>
            </a:xfrm>
            <a:prstGeom prst="roundRect">
              <a:avLst>
                <a:gd name="adj" fmla="val 34739"/>
              </a:avLst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2400" dirty="0">
                  <a:solidFill>
                    <a:srgbClr val="C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Why, and what is the solution?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10F556E-0B8B-51F3-FA60-19215D9DE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44641" y="3215707"/>
              <a:ext cx="1217483" cy="1217483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3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615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Load Balancing Designs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4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3FBCF0-9D05-061B-BB8D-275438CFFDC3}"/>
              </a:ext>
            </a:extLst>
          </p:cNvPr>
          <p:cNvSpPr/>
          <p:nvPr/>
        </p:nvSpPr>
        <p:spPr>
          <a:xfrm>
            <a:off x="3463137" y="1129215"/>
            <a:ext cx="4267698" cy="461665"/>
          </a:xfrm>
          <a:prstGeom prst="rect">
            <a:avLst/>
          </a:prstGeom>
          <a:solidFill>
            <a:schemeClr val="accent2"/>
          </a:solidFill>
          <a:ln>
            <a:solidFill>
              <a:srgbClr val="FFE6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Per-flowlet</a:t>
            </a:r>
            <a:endParaRPr lang="en-KR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1E343B-31CC-1684-21B1-256EDE95B549}"/>
              </a:ext>
            </a:extLst>
          </p:cNvPr>
          <p:cNvSpPr/>
          <p:nvPr/>
        </p:nvSpPr>
        <p:spPr>
          <a:xfrm>
            <a:off x="504349" y="1132704"/>
            <a:ext cx="2954977" cy="461665"/>
          </a:xfrm>
          <a:prstGeom prst="rect">
            <a:avLst/>
          </a:prstGeom>
          <a:solidFill>
            <a:schemeClr val="accent6"/>
          </a:solidFill>
          <a:ln w="12700">
            <a:solidFill>
              <a:srgbClr val="8EF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Per-flow</a:t>
            </a:r>
            <a:endParaRPr lang="en-KR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2DA6E7-F276-DEEE-5014-BBD143FA3EA8}"/>
              </a:ext>
            </a:extLst>
          </p:cNvPr>
          <p:cNvSpPr/>
          <p:nvPr/>
        </p:nvSpPr>
        <p:spPr>
          <a:xfrm>
            <a:off x="7730835" y="1132509"/>
            <a:ext cx="3956815" cy="461665"/>
          </a:xfrm>
          <a:prstGeom prst="rect">
            <a:avLst/>
          </a:prstGeom>
          <a:solidFill>
            <a:schemeClr val="accent1"/>
          </a:solidFill>
          <a:ln>
            <a:solidFill>
              <a:srgbClr val="B5FF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Per-packet</a:t>
            </a:r>
            <a:endParaRPr lang="en-KR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E9C96D-3883-1622-9412-993CFC372237}"/>
              </a:ext>
            </a:extLst>
          </p:cNvPr>
          <p:cNvSpPr txBox="1"/>
          <p:nvPr/>
        </p:nvSpPr>
        <p:spPr>
          <a:xfrm>
            <a:off x="9709242" y="1823322"/>
            <a:ext cx="1822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Fine-grained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DE5423-201B-B57C-78F0-4A55C78E37EB}"/>
              </a:ext>
            </a:extLst>
          </p:cNvPr>
          <p:cNvSpPr txBox="1"/>
          <p:nvPr/>
        </p:nvSpPr>
        <p:spPr>
          <a:xfrm>
            <a:off x="797057" y="1823322"/>
            <a:ext cx="2369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Coarsed-grained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CC76071-6E12-AC6C-586F-CB01C23B4C08}"/>
              </a:ext>
            </a:extLst>
          </p:cNvPr>
          <p:cNvCxnSpPr>
            <a:cxnSpLocks/>
          </p:cNvCxnSpPr>
          <p:nvPr/>
        </p:nvCxnSpPr>
        <p:spPr>
          <a:xfrm>
            <a:off x="504349" y="1777338"/>
            <a:ext cx="11215211" cy="0"/>
          </a:xfrm>
          <a:prstGeom prst="straightConnector1">
            <a:avLst/>
          </a:prstGeom>
          <a:ln w="571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D41DE87-7B22-D329-5F5E-906CA0C0EAF2}"/>
              </a:ext>
            </a:extLst>
          </p:cNvPr>
          <p:cNvSpPr txBox="1"/>
          <p:nvPr/>
        </p:nvSpPr>
        <p:spPr>
          <a:xfrm>
            <a:off x="5280131" y="1869488"/>
            <a:ext cx="1685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Reroute</a:t>
            </a:r>
            <a:b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granularity</a:t>
            </a:r>
            <a:endParaRPr lang="en-KR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2558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Load Balancing Designs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6EB423-82BF-BB2B-44AA-11884FEFFABF}"/>
              </a:ext>
            </a:extLst>
          </p:cNvPr>
          <p:cNvSpPr/>
          <p:nvPr/>
        </p:nvSpPr>
        <p:spPr>
          <a:xfrm>
            <a:off x="504349" y="1132704"/>
            <a:ext cx="2954977" cy="461665"/>
          </a:xfrm>
          <a:prstGeom prst="rect">
            <a:avLst/>
          </a:prstGeom>
          <a:solidFill>
            <a:schemeClr val="accent6"/>
          </a:solidFill>
          <a:ln w="12700">
            <a:solidFill>
              <a:srgbClr val="8EF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Per-flow </a:t>
            </a:r>
            <a:r>
              <a:rPr lang="en-KR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[e.g., ECMP]</a:t>
            </a:r>
            <a:endParaRPr lang="en-KR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5FA153-3372-6252-E459-A22832DB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1704707"/>
            <a:ext cx="10515600" cy="606987"/>
          </a:xfrm>
        </p:spPr>
        <p:txBody>
          <a:bodyPr>
            <a:normAutofit/>
          </a:bodyPr>
          <a:lstStyle/>
          <a:p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ECMP 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qual </a:t>
            </a:r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ost </a:t>
            </a:r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ulti </a:t>
            </a:r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ath)</a:t>
            </a:r>
            <a:r>
              <a:rPr lang="en-KR" sz="2400" dirty="0">
                <a:latin typeface="Fira Sans" panose="020B0503050000020004" pitchFamily="34" charset="0"/>
                <a:ea typeface="Roboto" panose="02000000000000000000" pitchFamily="2" charset="0"/>
                <a:cs typeface="Abadi" panose="020F0502020204030204" pitchFamily="34" charset="0"/>
              </a:rPr>
              <a:t> 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 </a:t>
            </a:r>
            <a:r>
              <a:rPr lang="en-KR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de-facto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standard for RoCEv2</a:t>
            </a:r>
            <a:r>
              <a:rPr lang="en-KR" sz="24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DC9A7-8C7E-2AF3-0302-BA4621A01635}"/>
              </a:ext>
            </a:extLst>
          </p:cNvPr>
          <p:cNvSpPr/>
          <p:nvPr/>
        </p:nvSpPr>
        <p:spPr>
          <a:xfrm>
            <a:off x="3036366" y="2338753"/>
            <a:ext cx="6119267" cy="31573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9F9482-9E18-049B-8D3B-7A7C253EF579}"/>
              </a:ext>
            </a:extLst>
          </p:cNvPr>
          <p:cNvSpPr txBox="1"/>
          <p:nvPr/>
        </p:nvSpPr>
        <p:spPr>
          <a:xfrm>
            <a:off x="341060" y="6406838"/>
            <a:ext cx="106469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US" sz="12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SG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InfiniBand Trade Association. 2020. InfiniBand Architecture Specification Release 1.4 Annex A17: RoCEv2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D3C918-7394-D5C1-F344-56C6DD482F1B}"/>
              </a:ext>
            </a:extLst>
          </p:cNvPr>
          <p:cNvSpPr/>
          <p:nvPr/>
        </p:nvSpPr>
        <p:spPr>
          <a:xfrm>
            <a:off x="4148641" y="3491196"/>
            <a:ext cx="1021080" cy="20320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F9E1C-0932-625D-C21B-17A97189DDCF}"/>
              </a:ext>
            </a:extLst>
          </p:cNvPr>
          <p:cNvSpPr/>
          <p:nvPr/>
        </p:nvSpPr>
        <p:spPr>
          <a:xfrm>
            <a:off x="7248543" y="2929800"/>
            <a:ext cx="1021080" cy="20320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1C7359-D276-F6D4-77C6-3B73258A00B9}"/>
              </a:ext>
            </a:extLst>
          </p:cNvPr>
          <p:cNvSpPr/>
          <p:nvPr/>
        </p:nvSpPr>
        <p:spPr>
          <a:xfrm>
            <a:off x="7248543" y="4040263"/>
            <a:ext cx="1021080" cy="20320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DFB60D-58AE-2BF8-3A03-18A7F221A096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5169721" y="3592796"/>
            <a:ext cx="2078822" cy="5490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1FAEFD7-ECD3-5DCA-33E5-50D7EB5585DC}"/>
              </a:ext>
            </a:extLst>
          </p:cNvPr>
          <p:cNvSpPr txBox="1"/>
          <p:nvPr/>
        </p:nvSpPr>
        <p:spPr>
          <a:xfrm>
            <a:off x="5142189" y="2757463"/>
            <a:ext cx="166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H(Pkt) % 2 ==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2297D8-BF24-2B5A-751E-95AF1C37F1C9}"/>
              </a:ext>
            </a:extLst>
          </p:cNvPr>
          <p:cNvSpPr txBox="1"/>
          <p:nvPr/>
        </p:nvSpPr>
        <p:spPr>
          <a:xfrm>
            <a:off x="5161071" y="3918903"/>
            <a:ext cx="166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H(Pkt) % 2 ==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292A6B-721C-D53F-C314-BE9699C81012}"/>
              </a:ext>
            </a:extLst>
          </p:cNvPr>
          <p:cNvSpPr txBox="1"/>
          <p:nvPr/>
        </p:nvSpPr>
        <p:spPr>
          <a:xfrm>
            <a:off x="3036366" y="4538450"/>
            <a:ext cx="61192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Fira Sans" panose="020B0503050000020004" pitchFamily="34" charset="0"/>
              </a:rPr>
              <a:t>e.g., Hashing 5-tuple </a:t>
            </a:r>
            <a:r>
              <a:rPr lang="en-US" sz="2400" dirty="0">
                <a:latin typeface="Fira Sans" panose="020B0503050000020004" pitchFamily="34" charset="0"/>
              </a:rPr>
              <a:t>to decide the </a:t>
            </a:r>
          </a:p>
          <a:p>
            <a:pPr algn="ctr"/>
            <a:r>
              <a:rPr lang="en-US" sz="2400" dirty="0">
                <a:latin typeface="Fira Sans" panose="020B0503050000020004" pitchFamily="34" charset="0"/>
              </a:rPr>
              <a:t>egress link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E5E9B4D-15FA-CBE6-86FB-ED11536524DC}"/>
              </a:ext>
            </a:extLst>
          </p:cNvPr>
          <p:cNvSpPr/>
          <p:nvPr/>
        </p:nvSpPr>
        <p:spPr>
          <a:xfrm rot="2184763">
            <a:off x="5563017" y="3576015"/>
            <a:ext cx="1537775" cy="603232"/>
          </a:xfrm>
          <a:custGeom>
            <a:avLst/>
            <a:gdLst>
              <a:gd name="connsiteX0" fmla="*/ 0 w 2059459"/>
              <a:gd name="connsiteY0" fmla="*/ 543698 h 543698"/>
              <a:gd name="connsiteX1" fmla="*/ 2059459 w 2059459"/>
              <a:gd name="connsiteY1" fmla="*/ 0 h 543698"/>
              <a:gd name="connsiteX2" fmla="*/ 2059459 w 2059459"/>
              <a:gd name="connsiteY2" fmla="*/ 0 h 543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9459" h="543698">
                <a:moveTo>
                  <a:pt x="0" y="543698"/>
                </a:moveTo>
                <a:lnTo>
                  <a:pt x="2059459" y="0"/>
                </a:lnTo>
                <a:lnTo>
                  <a:pt x="2059459" y="0"/>
                </a:lnTo>
              </a:path>
            </a:pathLst>
          </a:custGeom>
          <a:noFill/>
          <a:ln w="25400">
            <a:solidFill>
              <a:schemeClr val="accent6"/>
            </a:solidFill>
            <a:headEnd type="none" w="med" len="med"/>
            <a:tailEnd type="arrow" w="med" len="med"/>
          </a:ln>
          <a:effectLst>
            <a:glow rad="38100">
              <a:schemeClr val="accent5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B26CB9-0B40-E5D5-DC18-ED379792D5FD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5169721" y="3031400"/>
            <a:ext cx="2078822" cy="5613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47CE62-809A-E213-5F2D-C605A44B97F0}"/>
              </a:ext>
            </a:extLst>
          </p:cNvPr>
          <p:cNvGrpSpPr/>
          <p:nvPr/>
        </p:nvGrpSpPr>
        <p:grpSpPr>
          <a:xfrm>
            <a:off x="5502703" y="3062438"/>
            <a:ext cx="1475328" cy="485768"/>
            <a:chOff x="5249833" y="3615155"/>
            <a:chExt cx="1475328" cy="485768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1657A63-7DF4-0BB7-9F52-47BA4B6B3D98}"/>
                </a:ext>
              </a:extLst>
            </p:cNvPr>
            <p:cNvSpPr/>
            <p:nvPr/>
          </p:nvSpPr>
          <p:spPr>
            <a:xfrm>
              <a:off x="5249833" y="3615155"/>
              <a:ext cx="1447796" cy="384896"/>
            </a:xfrm>
            <a:custGeom>
              <a:avLst/>
              <a:gdLst>
                <a:gd name="connsiteX0" fmla="*/ 0 w 2059459"/>
                <a:gd name="connsiteY0" fmla="*/ 543698 h 543698"/>
                <a:gd name="connsiteX1" fmla="*/ 2059459 w 2059459"/>
                <a:gd name="connsiteY1" fmla="*/ 0 h 543698"/>
                <a:gd name="connsiteX2" fmla="*/ 2059459 w 2059459"/>
                <a:gd name="connsiteY2" fmla="*/ 0 h 543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9459" h="543698">
                  <a:moveTo>
                    <a:pt x="0" y="543698"/>
                  </a:moveTo>
                  <a:lnTo>
                    <a:pt x="2059459" y="0"/>
                  </a:lnTo>
                  <a:lnTo>
                    <a:pt x="2059459" y="0"/>
                  </a:lnTo>
                </a:path>
              </a:pathLst>
            </a:custGeom>
            <a:noFill/>
            <a:ln w="76200">
              <a:solidFill>
                <a:schemeClr val="accent2"/>
              </a:solidFill>
              <a:headEnd type="none" w="med" len="med"/>
              <a:tailEnd type="arrow" w="med" len="med"/>
            </a:ln>
            <a:effectLst>
              <a:glow rad="381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B9B1788-E1E1-576F-960C-3229BBEDE1E7}"/>
                </a:ext>
              </a:extLst>
            </p:cNvPr>
            <p:cNvSpPr/>
            <p:nvPr/>
          </p:nvSpPr>
          <p:spPr>
            <a:xfrm>
              <a:off x="5277366" y="3701729"/>
              <a:ext cx="1447795" cy="399194"/>
            </a:xfrm>
            <a:custGeom>
              <a:avLst/>
              <a:gdLst>
                <a:gd name="connsiteX0" fmla="*/ 0 w 2059459"/>
                <a:gd name="connsiteY0" fmla="*/ 543698 h 543698"/>
                <a:gd name="connsiteX1" fmla="*/ 2059459 w 2059459"/>
                <a:gd name="connsiteY1" fmla="*/ 0 h 543698"/>
                <a:gd name="connsiteX2" fmla="*/ 2059459 w 2059459"/>
                <a:gd name="connsiteY2" fmla="*/ 0 h 543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9459" h="543698">
                  <a:moveTo>
                    <a:pt x="0" y="543698"/>
                  </a:moveTo>
                  <a:lnTo>
                    <a:pt x="2059459" y="0"/>
                  </a:lnTo>
                  <a:lnTo>
                    <a:pt x="2059459" y="0"/>
                  </a:lnTo>
                </a:path>
              </a:pathLst>
            </a:custGeom>
            <a:noFill/>
            <a:ln w="76200">
              <a:solidFill>
                <a:srgbClr val="7030A0"/>
              </a:solidFill>
              <a:headEnd type="none" w="med" len="med"/>
              <a:tailEnd type="arrow" w="med" len="med"/>
            </a:ln>
            <a:effectLst>
              <a:glow rad="381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</p:grpSp>
      <p:sp>
        <p:nvSpPr>
          <p:cNvPr id="22" name="Explosion 2 21">
            <a:extLst>
              <a:ext uri="{FF2B5EF4-FFF2-40B4-BE49-F238E27FC236}">
                <a16:creationId xmlns:a16="http://schemas.microsoft.com/office/drawing/2014/main" id="{4870C354-BAD5-02E3-3FC5-467E4B3310E9}"/>
              </a:ext>
            </a:extLst>
          </p:cNvPr>
          <p:cNvSpPr/>
          <p:nvPr/>
        </p:nvSpPr>
        <p:spPr>
          <a:xfrm>
            <a:off x="6884239" y="2831791"/>
            <a:ext cx="472934" cy="430698"/>
          </a:xfrm>
          <a:prstGeom prst="irregularSeal2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96F9E68-B60A-BBD6-A906-037927FDF59E}"/>
              </a:ext>
            </a:extLst>
          </p:cNvPr>
          <p:cNvGrpSpPr/>
          <p:nvPr/>
        </p:nvGrpSpPr>
        <p:grpSpPr>
          <a:xfrm>
            <a:off x="1334276" y="5329093"/>
            <a:ext cx="9278909" cy="758134"/>
            <a:chOff x="921922" y="2235934"/>
            <a:chExt cx="9278909" cy="758134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BDF2B8AB-BC62-56C6-80EB-451A431243C1}"/>
                </a:ext>
              </a:extLst>
            </p:cNvPr>
            <p:cNvSpPr/>
            <p:nvPr/>
          </p:nvSpPr>
          <p:spPr>
            <a:xfrm>
              <a:off x="1501539" y="2290231"/>
              <a:ext cx="8699292" cy="566382"/>
            </a:xfrm>
            <a:prstGeom prst="roundRect">
              <a:avLst>
                <a:gd name="adj" fmla="val 34739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2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Cannot evenly distribute flows based on their sizes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69480DC-9A2A-5FE2-84FE-A350977E4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1922" y="2235934"/>
              <a:ext cx="758134" cy="758134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B405289-F28B-0FBC-DD75-96EC45129FD2}"/>
              </a:ext>
            </a:extLst>
          </p:cNvPr>
          <p:cNvSpPr txBox="1"/>
          <p:nvPr/>
        </p:nvSpPr>
        <p:spPr>
          <a:xfrm>
            <a:off x="8045240" y="2029213"/>
            <a:ext cx="26709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Fira Sans" panose="020B0503050000020004" pitchFamily="34" charset="0"/>
              </a:rPr>
              <a:t>RDMA over Converged Ethernet</a:t>
            </a:r>
            <a:endParaRPr lang="en-KR" sz="1400" i="1" dirty="0">
              <a:solidFill>
                <a:schemeClr val="bg2">
                  <a:lumMod val="50000"/>
                </a:schemeClr>
              </a:solidFill>
              <a:latin typeface="Fira Sans" panose="020B05030500000200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742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4" grpId="0"/>
      <p:bldP spid="14" grpId="1"/>
      <p:bldP spid="15" grpId="0"/>
      <p:bldP spid="15" grpId="1"/>
      <p:bldP spid="16" grpId="0"/>
      <p:bldP spid="17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Load Balancing Designs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5FA153-3372-6252-E459-A22832DB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1704707"/>
            <a:ext cx="10515600" cy="606987"/>
          </a:xfrm>
        </p:spPr>
        <p:txBody>
          <a:bodyPr>
            <a:normAutofit/>
          </a:bodyPr>
          <a:lstStyle/>
          <a:p>
            <a:r>
              <a:rPr lang="en-KR" sz="2400" b="1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Per-packet rerouting</a:t>
            </a:r>
            <a:r>
              <a:rPr lang="en-KR" sz="2400" dirty="0">
                <a:latin typeface="Fira Sans" panose="020B0503050000020004" pitchFamily="34" charset="0"/>
                <a:ea typeface="Roboto" panose="02000000000000000000" pitchFamily="2" charset="0"/>
                <a:cs typeface="Abadi" panose="020F0502020204030204" pitchFamily="34" charset="0"/>
              </a:rPr>
              <a:t> 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provides a </a:t>
            </a:r>
            <a:r>
              <a:rPr lang="en-KR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near-optimal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load balance</a:t>
            </a:r>
            <a:endParaRPr lang="en-KR" sz="2400" baseline="30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C0B132-FFF5-5A6C-67ED-F03B68F97CAA}"/>
              </a:ext>
            </a:extLst>
          </p:cNvPr>
          <p:cNvSpPr/>
          <p:nvPr/>
        </p:nvSpPr>
        <p:spPr>
          <a:xfrm>
            <a:off x="7730835" y="1132509"/>
            <a:ext cx="3956815" cy="461665"/>
          </a:xfrm>
          <a:prstGeom prst="rect">
            <a:avLst/>
          </a:prstGeom>
          <a:solidFill>
            <a:schemeClr val="accent1"/>
          </a:solidFill>
          <a:ln>
            <a:solidFill>
              <a:srgbClr val="B5FF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Per-packet </a:t>
            </a:r>
            <a:r>
              <a:rPr lang="en-KR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[e.g., spraying, DRILL]</a:t>
            </a:r>
            <a:endParaRPr lang="en-KR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A47F81-ADAD-424A-0F94-208EC7E4BD84}"/>
              </a:ext>
            </a:extLst>
          </p:cNvPr>
          <p:cNvSpPr/>
          <p:nvPr/>
        </p:nvSpPr>
        <p:spPr>
          <a:xfrm>
            <a:off x="3036366" y="2338754"/>
            <a:ext cx="6119267" cy="3030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8870045-FA2C-68BE-4FCB-F4DA5A49322C}"/>
              </a:ext>
            </a:extLst>
          </p:cNvPr>
          <p:cNvSpPr/>
          <p:nvPr/>
        </p:nvSpPr>
        <p:spPr>
          <a:xfrm>
            <a:off x="4148641" y="3491196"/>
            <a:ext cx="1021080" cy="20320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123F79-BC9F-2171-F085-0724F20EFBDE}"/>
              </a:ext>
            </a:extLst>
          </p:cNvPr>
          <p:cNvSpPr/>
          <p:nvPr/>
        </p:nvSpPr>
        <p:spPr>
          <a:xfrm>
            <a:off x="7248543" y="2929800"/>
            <a:ext cx="1021080" cy="20320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302D06-278D-BC25-752C-09696DCAEB95}"/>
              </a:ext>
            </a:extLst>
          </p:cNvPr>
          <p:cNvSpPr/>
          <p:nvPr/>
        </p:nvSpPr>
        <p:spPr>
          <a:xfrm>
            <a:off x="7248543" y="4040263"/>
            <a:ext cx="1021080" cy="20320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99AE5DF-B3B4-7FBA-593E-7CBEBB05679B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>
            <a:off x="5169721" y="3592796"/>
            <a:ext cx="2078822" cy="5490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077203F-4644-BE02-18C0-C2DFA011788E}"/>
              </a:ext>
            </a:extLst>
          </p:cNvPr>
          <p:cNvSpPr txBox="1"/>
          <p:nvPr/>
        </p:nvSpPr>
        <p:spPr>
          <a:xfrm>
            <a:off x="3036366" y="4621429"/>
            <a:ext cx="6119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Fira Sans" panose="020B0503050000020004" pitchFamily="34" charset="0"/>
              </a:rPr>
              <a:t>Rerouting decision for every packet</a:t>
            </a:r>
            <a:endParaRPr lang="en-US" sz="2400" dirty="0">
              <a:latin typeface="Fira Sans" panose="020B0503050000020004" pitchFamily="34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F72FD5D-59FD-0544-5F83-27EA395671EA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5169721" y="3031400"/>
            <a:ext cx="2078822" cy="5613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B9D4558D-BE55-93F9-512D-0AFAAA4CB3AB}"/>
              </a:ext>
            </a:extLst>
          </p:cNvPr>
          <p:cNvSpPr/>
          <p:nvPr/>
        </p:nvSpPr>
        <p:spPr>
          <a:xfrm>
            <a:off x="5025027" y="3211023"/>
            <a:ext cx="2368210" cy="72216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000" dirty="0"/>
              <a:t>Spray, or to the</a:t>
            </a:r>
            <a:br>
              <a:rPr lang="en-KR" sz="2000" dirty="0"/>
            </a:br>
            <a:r>
              <a:rPr lang="en-KR" sz="2000" dirty="0"/>
              <a:t>smallest Eg.Queue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54BC790-7B43-0DEA-A3E9-CF9391990486}"/>
              </a:ext>
            </a:extLst>
          </p:cNvPr>
          <p:cNvGrpSpPr/>
          <p:nvPr/>
        </p:nvGrpSpPr>
        <p:grpSpPr>
          <a:xfrm>
            <a:off x="1592338" y="5222924"/>
            <a:ext cx="8487083" cy="758134"/>
            <a:chOff x="1711535" y="2222508"/>
            <a:chExt cx="8487083" cy="758134"/>
          </a:xfrm>
        </p:grpSpPr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FE0A408D-BED7-3966-C98D-2C2A629902D5}"/>
                </a:ext>
              </a:extLst>
            </p:cNvPr>
            <p:cNvSpPr/>
            <p:nvPr/>
          </p:nvSpPr>
          <p:spPr>
            <a:xfrm>
              <a:off x="2244436" y="2290231"/>
              <a:ext cx="7954182" cy="566382"/>
            </a:xfrm>
            <a:prstGeom prst="roundRect">
              <a:avLst>
                <a:gd name="adj" fmla="val 34739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2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RDMA is highly sensitive to out-of-order packets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B5A38AB-F64E-F0B0-8EB0-69368F072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11535" y="2222508"/>
              <a:ext cx="758134" cy="7581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4E54802-788E-EDC5-4F3D-889B05A75A3E}"/>
              </a:ext>
            </a:extLst>
          </p:cNvPr>
          <p:cNvSpPr/>
          <p:nvPr/>
        </p:nvSpPr>
        <p:spPr>
          <a:xfrm>
            <a:off x="4408111" y="3414072"/>
            <a:ext cx="357447" cy="35744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4C5B8A-F66C-F972-F1C5-BBE8BEC17C4C}"/>
              </a:ext>
            </a:extLst>
          </p:cNvPr>
          <p:cNvSpPr/>
          <p:nvPr/>
        </p:nvSpPr>
        <p:spPr>
          <a:xfrm>
            <a:off x="4848684" y="3418780"/>
            <a:ext cx="357447" cy="35744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5C8B62-903C-9279-B882-D56A4CD5A9F5}"/>
              </a:ext>
            </a:extLst>
          </p:cNvPr>
          <p:cNvSpPr txBox="1"/>
          <p:nvPr/>
        </p:nvSpPr>
        <p:spPr>
          <a:xfrm>
            <a:off x="9381898" y="2897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Oval Callout 9">
            <a:extLst>
              <a:ext uri="{FF2B5EF4-FFF2-40B4-BE49-F238E27FC236}">
                <a16:creationId xmlns:a16="http://schemas.microsoft.com/office/drawing/2014/main" id="{E1A3BBE9-6470-54F2-4B80-25C6F6D465C9}"/>
              </a:ext>
            </a:extLst>
          </p:cNvPr>
          <p:cNvSpPr/>
          <p:nvPr/>
        </p:nvSpPr>
        <p:spPr>
          <a:xfrm>
            <a:off x="9105874" y="2383921"/>
            <a:ext cx="1631256" cy="827102"/>
          </a:xfrm>
          <a:prstGeom prst="wedgeEllipseCallout">
            <a:avLst>
              <a:gd name="adj1" fmla="val -38671"/>
              <a:gd name="adj2" fmla="val 63436"/>
            </a:avLst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0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Out-of-order!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C05EA5-2359-3472-E556-2E8D387D6017}"/>
              </a:ext>
            </a:extLst>
          </p:cNvPr>
          <p:cNvSpPr txBox="1"/>
          <p:nvPr/>
        </p:nvSpPr>
        <p:spPr>
          <a:xfrm>
            <a:off x="341060" y="6406838"/>
            <a:ext cx="106469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Resilient datacenter load balancing in the wild [SIGCOMM’17]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673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0.00463 L 0.18086 -0.0787 L 0.26575 -0.0787 L 0.30625 -0.00046 " pathEditMode="relative" rAng="0" ptsTypes="AAAA">
                                      <p:cBhvr>
                                        <p:cTn id="14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13" y="-349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62 0.00139 L 0.21693 0.08172 L 0.30235 0.08172 L 0.34115 0.00139 L 0.37422 0.00139 " pathEditMode="relative" ptsTypes="AAAAAA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Callout 10">
            <a:extLst>
              <a:ext uri="{FF2B5EF4-FFF2-40B4-BE49-F238E27FC236}">
                <a16:creationId xmlns:a16="http://schemas.microsoft.com/office/drawing/2014/main" id="{B1938065-0C98-9373-299D-E096CD372CF8}"/>
              </a:ext>
            </a:extLst>
          </p:cNvPr>
          <p:cNvSpPr/>
          <p:nvPr/>
        </p:nvSpPr>
        <p:spPr>
          <a:xfrm>
            <a:off x="9105874" y="2383921"/>
            <a:ext cx="1631256" cy="827102"/>
          </a:xfrm>
          <a:prstGeom prst="wedgeEllipseCallout">
            <a:avLst>
              <a:gd name="adj1" fmla="val -38671"/>
              <a:gd name="adj2" fmla="val 63436"/>
            </a:avLst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0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Out-of-order!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Load Balancing Designs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5FA153-3372-6252-E459-A22832DB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1704707"/>
            <a:ext cx="10515600" cy="606987"/>
          </a:xfrm>
        </p:spPr>
        <p:txBody>
          <a:bodyPr>
            <a:normAutofit/>
          </a:bodyPr>
          <a:lstStyle/>
          <a:p>
            <a:r>
              <a:rPr lang="en-KR" sz="2400" b="1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Per-packet rerouting</a:t>
            </a:r>
            <a:r>
              <a:rPr lang="en-KR" sz="2400" dirty="0">
                <a:latin typeface="Fira Sans" panose="020B0503050000020004" pitchFamily="34" charset="0"/>
                <a:ea typeface="Roboto" panose="02000000000000000000" pitchFamily="2" charset="0"/>
                <a:cs typeface="Abadi" panose="020F0502020204030204" pitchFamily="34" charset="0"/>
              </a:rPr>
              <a:t> 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provides a </a:t>
            </a:r>
            <a:r>
              <a:rPr lang="en-KR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near-optimal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load balance</a:t>
            </a:r>
            <a:endParaRPr lang="en-KR" sz="2400" baseline="30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C0B132-FFF5-5A6C-67ED-F03B68F97CAA}"/>
              </a:ext>
            </a:extLst>
          </p:cNvPr>
          <p:cNvSpPr/>
          <p:nvPr/>
        </p:nvSpPr>
        <p:spPr>
          <a:xfrm>
            <a:off x="7730835" y="1132509"/>
            <a:ext cx="3956815" cy="461665"/>
          </a:xfrm>
          <a:prstGeom prst="rect">
            <a:avLst/>
          </a:prstGeom>
          <a:solidFill>
            <a:schemeClr val="accent1"/>
          </a:solidFill>
          <a:ln>
            <a:solidFill>
              <a:srgbClr val="B5FF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Per-packet </a:t>
            </a:r>
            <a:r>
              <a:rPr lang="en-KR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[e.g., spraying, DRILL]</a:t>
            </a:r>
            <a:endParaRPr lang="en-KR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650A89-C5E6-111E-77B7-1C935AF0C805}"/>
              </a:ext>
            </a:extLst>
          </p:cNvPr>
          <p:cNvSpPr/>
          <p:nvPr/>
        </p:nvSpPr>
        <p:spPr>
          <a:xfrm>
            <a:off x="3036366" y="2338754"/>
            <a:ext cx="6119267" cy="303092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A3A771-FB2F-8E43-7B69-66ADF8453AE4}"/>
              </a:ext>
            </a:extLst>
          </p:cNvPr>
          <p:cNvSpPr/>
          <p:nvPr/>
        </p:nvSpPr>
        <p:spPr>
          <a:xfrm>
            <a:off x="4148641" y="3491196"/>
            <a:ext cx="1021080" cy="20320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F82655-BD1D-B4BA-BFA0-3229C95404ED}"/>
              </a:ext>
            </a:extLst>
          </p:cNvPr>
          <p:cNvSpPr/>
          <p:nvPr/>
        </p:nvSpPr>
        <p:spPr>
          <a:xfrm>
            <a:off x="7248543" y="2929800"/>
            <a:ext cx="1021080" cy="20320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E4010E-7EAB-9528-A7B9-B8215826573C}"/>
              </a:ext>
            </a:extLst>
          </p:cNvPr>
          <p:cNvSpPr/>
          <p:nvPr/>
        </p:nvSpPr>
        <p:spPr>
          <a:xfrm>
            <a:off x="7248543" y="4040263"/>
            <a:ext cx="1021080" cy="20320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A146955-3FF1-40C5-6FD8-D8CCF3870A40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5169721" y="3592796"/>
            <a:ext cx="2078822" cy="5490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12EF36D-83C6-A110-0C2E-BC9AF1323A5E}"/>
              </a:ext>
            </a:extLst>
          </p:cNvPr>
          <p:cNvSpPr txBox="1"/>
          <p:nvPr/>
        </p:nvSpPr>
        <p:spPr>
          <a:xfrm>
            <a:off x="3036366" y="4621429"/>
            <a:ext cx="6119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Fira Sans" panose="020B0503050000020004" pitchFamily="34" charset="0"/>
              </a:rPr>
              <a:t>Rerouting decision for every packet</a:t>
            </a:r>
            <a:endParaRPr lang="en-US" sz="2400" dirty="0">
              <a:latin typeface="Fira Sans" panose="020B05030500000200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AE6C40-02FB-5E39-91E6-B96DD71E8E44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169721" y="3031400"/>
            <a:ext cx="2078822" cy="5613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E8E7A0C-B1BB-D029-8719-A62AA04355A5}"/>
              </a:ext>
            </a:extLst>
          </p:cNvPr>
          <p:cNvSpPr/>
          <p:nvPr/>
        </p:nvSpPr>
        <p:spPr>
          <a:xfrm>
            <a:off x="5025027" y="3211023"/>
            <a:ext cx="2368210" cy="72216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000" dirty="0"/>
              <a:t>Spray, or to the</a:t>
            </a:r>
            <a:br>
              <a:rPr lang="en-KR" sz="2000" dirty="0"/>
            </a:br>
            <a:r>
              <a:rPr lang="en-KR" sz="2000" dirty="0"/>
              <a:t>smallest Eg.Queue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5551033-325E-95FA-B42E-71536EC9B715}"/>
              </a:ext>
            </a:extLst>
          </p:cNvPr>
          <p:cNvGrpSpPr/>
          <p:nvPr/>
        </p:nvGrpSpPr>
        <p:grpSpPr>
          <a:xfrm>
            <a:off x="1592338" y="5222924"/>
            <a:ext cx="8487083" cy="758134"/>
            <a:chOff x="1711535" y="2222508"/>
            <a:chExt cx="8487083" cy="758134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22FD6AC6-0BF6-E787-9BBD-33F180A283CB}"/>
                </a:ext>
              </a:extLst>
            </p:cNvPr>
            <p:cNvSpPr/>
            <p:nvPr/>
          </p:nvSpPr>
          <p:spPr>
            <a:xfrm>
              <a:off x="2244436" y="2290231"/>
              <a:ext cx="7954182" cy="566382"/>
            </a:xfrm>
            <a:prstGeom prst="roundRect">
              <a:avLst>
                <a:gd name="adj" fmla="val 34739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26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RDMA is highly sensitive to out-of-order packets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E89A1FE-1056-29F6-2D06-96804F408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11535" y="2222508"/>
              <a:ext cx="758134" cy="758134"/>
            </a:xfrm>
            <a:prstGeom prst="rect">
              <a:avLst/>
            </a:prstGeom>
          </p:spPr>
        </p:pic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28CB1A81-4745-1A9E-8F42-73211E2E4EED}"/>
              </a:ext>
            </a:extLst>
          </p:cNvPr>
          <p:cNvSpPr/>
          <p:nvPr/>
        </p:nvSpPr>
        <p:spPr>
          <a:xfrm>
            <a:off x="1340427" y="2131172"/>
            <a:ext cx="9792392" cy="422517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04BEDCC-E936-8ACC-0A98-64B1AB3BF340}"/>
              </a:ext>
            </a:extLst>
          </p:cNvPr>
          <p:cNvGrpSpPr/>
          <p:nvPr/>
        </p:nvGrpSpPr>
        <p:grpSpPr>
          <a:xfrm>
            <a:off x="3392295" y="3102492"/>
            <a:ext cx="5279585" cy="1820379"/>
            <a:chOff x="7183638" y="3454202"/>
            <a:chExt cx="4589262" cy="1820379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2661551-B873-7B62-3355-7B256ADB0595}"/>
                </a:ext>
              </a:extLst>
            </p:cNvPr>
            <p:cNvSpPr txBox="1"/>
            <p:nvPr/>
          </p:nvSpPr>
          <p:spPr>
            <a:xfrm>
              <a:off x="7183638" y="4628250"/>
              <a:ext cx="171244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KR" dirty="0"/>
                <a:t>Sender</a:t>
              </a:r>
              <a:br>
                <a:rPr lang="en-KR" dirty="0"/>
              </a:br>
              <a:r>
                <a:rPr lang="en-KR" i="1" dirty="0"/>
                <a:t>NVIDIA CX-6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4D0019D-DE05-2F0A-D965-356C348D08F8}"/>
                </a:ext>
              </a:extLst>
            </p:cNvPr>
            <p:cNvSpPr txBox="1"/>
            <p:nvPr/>
          </p:nvSpPr>
          <p:spPr>
            <a:xfrm>
              <a:off x="10326872" y="4628250"/>
              <a:ext cx="144602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KR" dirty="0"/>
                <a:t>Receiver</a:t>
              </a:r>
              <a:br>
                <a:rPr lang="en-KR" dirty="0"/>
              </a:br>
              <a:r>
                <a:rPr lang="en-KR" i="1" dirty="0"/>
                <a:t>NVIDIA CX-6</a:t>
              </a:r>
            </a:p>
          </p:txBody>
        </p:sp>
        <p:pic>
          <p:nvPicPr>
            <p:cNvPr id="60" name="Picture 8" descr="Free icon &quot;Servers icon&quot;">
              <a:extLst>
                <a:ext uri="{FF2B5EF4-FFF2-40B4-BE49-F238E27FC236}">
                  <a16:creationId xmlns:a16="http://schemas.microsoft.com/office/drawing/2014/main" id="{D5C46E1E-618C-E357-2EB7-A64FA78821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7859" y="3885508"/>
              <a:ext cx="742742" cy="742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60" descr="Free icon &quot;Servers icon&quot;">
              <a:extLst>
                <a:ext uri="{FF2B5EF4-FFF2-40B4-BE49-F238E27FC236}">
                  <a16:creationId xmlns:a16="http://schemas.microsoft.com/office/drawing/2014/main" id="{2925FFE5-A1E2-C4A2-AAFD-F1CCB9A2B0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78515" y="3885508"/>
              <a:ext cx="742742" cy="742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61" descr="Switch - Free technology icons">
              <a:extLst>
                <a:ext uri="{FF2B5EF4-FFF2-40B4-BE49-F238E27FC236}">
                  <a16:creationId xmlns:a16="http://schemas.microsoft.com/office/drawing/2014/main" id="{FC13F485-E70E-2283-95DB-89FCC8DD8D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5878" y="3906721"/>
              <a:ext cx="712990" cy="712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CFB791B-8A5B-883D-C268-F5C58772DC50}"/>
                </a:ext>
              </a:extLst>
            </p:cNvPr>
            <p:cNvSpPr txBox="1"/>
            <p:nvPr/>
          </p:nvSpPr>
          <p:spPr>
            <a:xfrm>
              <a:off x="8896082" y="4500747"/>
              <a:ext cx="1433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dirty="0"/>
                <a:t>Tofino Switch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49750E4-71DF-EB1D-FB98-7AD5F33CC95C}"/>
                </a:ext>
              </a:extLst>
            </p:cNvPr>
            <p:cNvCxnSpPr>
              <a:cxnSpLocks/>
              <a:endCxn id="62" idx="1"/>
            </p:cNvCxnSpPr>
            <p:nvPr/>
          </p:nvCxnSpPr>
          <p:spPr>
            <a:xfrm flipV="1">
              <a:off x="8158110" y="4263216"/>
              <a:ext cx="1077768" cy="254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6FBABA4-A5D7-E61C-D0A2-98240F831012}"/>
                </a:ext>
              </a:extLst>
            </p:cNvPr>
            <p:cNvCxnSpPr>
              <a:cxnSpLocks/>
              <a:stCxn id="62" idx="3"/>
            </p:cNvCxnSpPr>
            <p:nvPr/>
          </p:nvCxnSpPr>
          <p:spPr>
            <a:xfrm>
              <a:off x="9948868" y="4263216"/>
              <a:ext cx="1048360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6" name="Picture 10" descr="Arrow, direction, recirculate icon - Download on Iconfinder">
              <a:extLst>
                <a:ext uri="{FF2B5EF4-FFF2-40B4-BE49-F238E27FC236}">
                  <a16:creationId xmlns:a16="http://schemas.microsoft.com/office/drawing/2014/main" id="{A93071C7-B33E-B417-786F-F3A9308371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6653" y="3760964"/>
              <a:ext cx="489415" cy="489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384F8E9-F738-6881-F711-77241D57C0BC}"/>
                </a:ext>
              </a:extLst>
            </p:cNvPr>
            <p:cNvSpPr txBox="1"/>
            <p:nvPr/>
          </p:nvSpPr>
          <p:spPr>
            <a:xfrm>
              <a:off x="8271966" y="3454202"/>
              <a:ext cx="3353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Randomly craft 1 out-of-order pkt</a:t>
              </a:r>
              <a:endParaRPr lang="en-KR" i="1" dirty="0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70D6701A-50A2-2181-BEB6-E75EE26A3681}"/>
                </a:ext>
              </a:extLst>
            </p:cNvPr>
            <p:cNvCxnSpPr>
              <a:cxnSpLocks/>
            </p:cNvCxnSpPr>
            <p:nvPr/>
          </p:nvCxnSpPr>
          <p:spPr>
            <a:xfrm>
              <a:off x="8395698" y="4254402"/>
              <a:ext cx="785160" cy="0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AD5BF23A-A92D-7AE7-0622-F8695D8FC287}"/>
                </a:ext>
              </a:extLst>
            </p:cNvPr>
            <p:cNvCxnSpPr>
              <a:cxnSpLocks/>
            </p:cNvCxnSpPr>
            <p:nvPr/>
          </p:nvCxnSpPr>
          <p:spPr>
            <a:xfrm>
              <a:off x="9948868" y="4254402"/>
              <a:ext cx="785160" cy="0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37813A8C-CFC5-C435-0D4E-FC760E7E4C61}"/>
              </a:ext>
            </a:extLst>
          </p:cNvPr>
          <p:cNvSpPr txBox="1"/>
          <p:nvPr/>
        </p:nvSpPr>
        <p:spPr>
          <a:xfrm>
            <a:off x="1255149" y="2303485"/>
            <a:ext cx="99712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Unlike TCP, a </a:t>
            </a:r>
            <a:r>
              <a:rPr lang="en-SG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“single” out-of-order packet </a:t>
            </a:r>
            <a:r>
              <a:rPr lang="en-SG" sz="2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largely</a:t>
            </a:r>
            <a:r>
              <a:rPr lang="en-SG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SG" sz="2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increases FCT</a:t>
            </a:r>
            <a:br>
              <a:rPr lang="en-SG" sz="2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SG" sz="2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 spurious </a:t>
            </a:r>
            <a:r>
              <a:rPr lang="en-SG" sz="2400" dirty="0" err="1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ReTx</a:t>
            </a:r>
            <a:r>
              <a:rPr lang="en-SG" sz="2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rate decrease</a:t>
            </a:r>
            <a:endParaRPr lang="en-KR" sz="24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71" name="Table 43">
            <a:extLst>
              <a:ext uri="{FF2B5EF4-FFF2-40B4-BE49-F238E27FC236}">
                <a16:creationId xmlns:a16="http://schemas.microsoft.com/office/drawing/2014/main" id="{3351D670-66A3-1314-FD4B-6EDB9563A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412368"/>
              </p:ext>
            </p:extLst>
          </p:nvPr>
        </p:nvGraphicFramePr>
        <p:xfrm>
          <a:off x="2306658" y="4980783"/>
          <a:ext cx="7632024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6025">
                  <a:extLst>
                    <a:ext uri="{9D8B030D-6E8A-4147-A177-3AD203B41FA5}">
                      <a16:colId xmlns:a16="http://schemas.microsoft.com/office/drawing/2014/main" val="4126078068"/>
                    </a:ext>
                  </a:extLst>
                </a:gridCol>
                <a:gridCol w="1609388">
                  <a:extLst>
                    <a:ext uri="{9D8B030D-6E8A-4147-A177-3AD203B41FA5}">
                      <a16:colId xmlns:a16="http://schemas.microsoft.com/office/drawing/2014/main" val="2282254512"/>
                    </a:ext>
                  </a:extLst>
                </a:gridCol>
                <a:gridCol w="1546611">
                  <a:extLst>
                    <a:ext uri="{9D8B030D-6E8A-4147-A177-3AD203B41FA5}">
                      <a16:colId xmlns:a16="http://schemas.microsoft.com/office/drawing/2014/main" val="60600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2000" dirty="0"/>
                        <a:t>FCT normalized to in-order msg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000" dirty="0"/>
                        <a:t>10KB msg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000" dirty="0"/>
                        <a:t>1MB msg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304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2000" dirty="0"/>
                        <a:t>50</a:t>
                      </a:r>
                      <a:r>
                        <a:rPr lang="en-KR" sz="2000" baseline="30000" dirty="0"/>
                        <a:t>th</a:t>
                      </a:r>
                      <a:r>
                        <a:rPr lang="en-KR" sz="2000" dirty="0"/>
                        <a:t>-percentile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000" dirty="0"/>
                        <a:t>1.65x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000" dirty="0"/>
                        <a:t>2.65x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861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sz="2000" dirty="0"/>
                        <a:t>99</a:t>
                      </a:r>
                      <a:r>
                        <a:rPr lang="en-KR" sz="2000" baseline="30000" dirty="0"/>
                        <a:t>th</a:t>
                      </a:r>
                      <a:r>
                        <a:rPr lang="en-KR" sz="2000" dirty="0"/>
                        <a:t>-percentile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000" dirty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000" b="1" dirty="0"/>
                        <a:t>3.27x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52071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5560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Load Balancing Designs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5FA153-3372-6252-E459-A22832DB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1704707"/>
            <a:ext cx="10515600" cy="606987"/>
          </a:xfrm>
        </p:spPr>
        <p:txBody>
          <a:bodyPr>
            <a:normAutofit/>
          </a:bodyPr>
          <a:lstStyle/>
          <a:p>
            <a:r>
              <a:rPr lang="en-KR" sz="24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Per-flowlet rerouting</a:t>
            </a:r>
            <a:r>
              <a:rPr lang="en-KR" sz="2400" dirty="0">
                <a:latin typeface="Fira Sans" panose="020B0503050000020004" pitchFamily="34" charset="0"/>
                <a:ea typeface="Roboto" panose="02000000000000000000" pitchFamily="2" charset="0"/>
                <a:cs typeface="Abadi" panose="020F0502020204030204" pitchFamily="34" charset="0"/>
              </a:rPr>
              <a:t> 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avoids out-of-order arrivals </a:t>
            </a:r>
            <a:r>
              <a:rPr lang="en-KR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via timegaps</a:t>
            </a:r>
            <a:endParaRPr lang="en-KR" sz="2400" i="1" baseline="30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C3D2E1-7A3D-D3B4-73E7-D1F4A625CA63}"/>
              </a:ext>
            </a:extLst>
          </p:cNvPr>
          <p:cNvGrpSpPr/>
          <p:nvPr/>
        </p:nvGrpSpPr>
        <p:grpSpPr>
          <a:xfrm>
            <a:off x="2753096" y="2375694"/>
            <a:ext cx="6685808" cy="2546179"/>
            <a:chOff x="2826327" y="2643338"/>
            <a:chExt cx="6685808" cy="254617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9EBE68-DA3A-2770-209D-51AEA7BFBB98}"/>
                </a:ext>
              </a:extLst>
            </p:cNvPr>
            <p:cNvSpPr/>
            <p:nvPr/>
          </p:nvSpPr>
          <p:spPr>
            <a:xfrm>
              <a:off x="2826327" y="2643338"/>
              <a:ext cx="6685808" cy="254617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F3A2371-0A2C-2BBF-4008-356C4FCCD682}"/>
                </a:ext>
              </a:extLst>
            </p:cNvPr>
            <p:cNvGrpSpPr/>
            <p:nvPr/>
          </p:nvGrpSpPr>
          <p:grpSpPr>
            <a:xfrm>
              <a:off x="4404814" y="3478076"/>
              <a:ext cx="1036838" cy="320511"/>
              <a:chOff x="6447154" y="3739852"/>
              <a:chExt cx="1036838" cy="320511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7AC33F03-F25E-122D-B0AC-7126D220A3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7154" y="3927210"/>
                <a:ext cx="1036838" cy="0"/>
              </a:xfrm>
              <a:prstGeom prst="straightConnector1">
                <a:avLst/>
              </a:prstGeom>
              <a:ln w="28575">
                <a:headEnd type="triangle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50E6B1C8-BE72-7B80-55CC-89BAD4D3DB2C}"/>
                  </a:ext>
                </a:extLst>
              </p:cNvPr>
              <p:cNvCxnSpPr/>
              <p:nvPr/>
            </p:nvCxnSpPr>
            <p:spPr>
              <a:xfrm>
                <a:off x="6447154" y="3739852"/>
                <a:ext cx="0" cy="320511"/>
              </a:xfrm>
              <a:prstGeom prst="line">
                <a:avLst/>
              </a:prstGeom>
              <a:ln w="28575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E3A9A1E-4072-26D5-43B0-1E4410A85287}"/>
                  </a:ext>
                </a:extLst>
              </p:cNvPr>
              <p:cNvCxnSpPr/>
              <p:nvPr/>
            </p:nvCxnSpPr>
            <p:spPr>
              <a:xfrm>
                <a:off x="7483885" y="3739852"/>
                <a:ext cx="0" cy="320511"/>
              </a:xfrm>
              <a:prstGeom prst="line">
                <a:avLst/>
              </a:prstGeom>
              <a:ln w="28575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D82CFBB-1BD2-A436-B2B0-0C3FB6EE4C0F}"/>
                </a:ext>
              </a:extLst>
            </p:cNvPr>
            <p:cNvGrpSpPr/>
            <p:nvPr/>
          </p:nvGrpSpPr>
          <p:grpSpPr>
            <a:xfrm>
              <a:off x="6579709" y="3472311"/>
              <a:ext cx="1197095" cy="340543"/>
              <a:chOff x="9084162" y="2590206"/>
              <a:chExt cx="1197095" cy="340543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6E797B3-7D9D-B02E-C1E4-5CECC7A83B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4162" y="2750462"/>
                <a:ext cx="1197095" cy="0"/>
              </a:xfrm>
              <a:prstGeom prst="straightConnector1">
                <a:avLst/>
              </a:prstGeom>
              <a:ln w="28575">
                <a:headEnd type="triangle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C3FCCBD-85F0-14B8-79A3-4FC591C3D83A}"/>
                  </a:ext>
                </a:extLst>
              </p:cNvPr>
              <p:cNvCxnSpPr/>
              <p:nvPr/>
            </p:nvCxnSpPr>
            <p:spPr>
              <a:xfrm>
                <a:off x="9084162" y="2590206"/>
                <a:ext cx="0" cy="320511"/>
              </a:xfrm>
              <a:prstGeom prst="line">
                <a:avLst/>
              </a:prstGeom>
              <a:ln w="28575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2D8D8063-E515-3BA9-645A-C4B388698EF5}"/>
                  </a:ext>
                </a:extLst>
              </p:cNvPr>
              <p:cNvCxnSpPr/>
              <p:nvPr/>
            </p:nvCxnSpPr>
            <p:spPr>
              <a:xfrm>
                <a:off x="10281257" y="2610238"/>
                <a:ext cx="0" cy="320511"/>
              </a:xfrm>
              <a:prstGeom prst="line">
                <a:avLst/>
              </a:prstGeom>
              <a:ln w="28575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F962313-9321-9A77-4688-B67F6E10F280}"/>
                </a:ext>
              </a:extLst>
            </p:cNvPr>
            <p:cNvGrpSpPr/>
            <p:nvPr/>
          </p:nvGrpSpPr>
          <p:grpSpPr>
            <a:xfrm>
              <a:off x="3764576" y="3134048"/>
              <a:ext cx="4649203" cy="344028"/>
              <a:chOff x="5806916" y="3395824"/>
              <a:chExt cx="4649203" cy="34402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9E46727-1C1C-D41D-E412-3598D09A1F08}"/>
                  </a:ext>
                </a:extLst>
              </p:cNvPr>
              <p:cNvSpPr/>
              <p:nvPr/>
            </p:nvSpPr>
            <p:spPr>
              <a:xfrm>
                <a:off x="5806916" y="3398130"/>
                <a:ext cx="641023" cy="34172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2FCDF58-1561-7E8E-8659-69F10B281BA9}"/>
                  </a:ext>
                </a:extLst>
              </p:cNvPr>
              <p:cNvSpPr/>
              <p:nvPr/>
            </p:nvSpPr>
            <p:spPr>
              <a:xfrm>
                <a:off x="7484777" y="3398130"/>
                <a:ext cx="1129645" cy="34172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B4E6054-1152-04E7-A5B4-9D0D7CE08358}"/>
                  </a:ext>
                </a:extLst>
              </p:cNvPr>
              <p:cNvSpPr/>
              <p:nvPr/>
            </p:nvSpPr>
            <p:spPr>
              <a:xfrm>
                <a:off x="9811517" y="3398130"/>
                <a:ext cx="322301" cy="34172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1C5DB5F-BC70-FBF6-D156-497EBBC782BC}"/>
                  </a:ext>
                </a:extLst>
              </p:cNvPr>
              <p:cNvSpPr/>
              <p:nvPr/>
            </p:nvSpPr>
            <p:spPr>
              <a:xfrm>
                <a:off x="5878222" y="3494832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6DDB598-CA7F-6B83-3FDB-835F696B3814}"/>
                  </a:ext>
                </a:extLst>
              </p:cNvPr>
              <p:cNvSpPr/>
              <p:nvPr/>
            </p:nvSpPr>
            <p:spPr>
              <a:xfrm>
                <a:off x="6150565" y="3502389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87CA0BF-AD89-98AF-5637-45C9DA913346}"/>
                  </a:ext>
                </a:extLst>
              </p:cNvPr>
              <p:cNvSpPr/>
              <p:nvPr/>
            </p:nvSpPr>
            <p:spPr>
              <a:xfrm>
                <a:off x="7539879" y="3498333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281A0A0-6C4D-0D3F-FB04-168E9065E887}"/>
                  </a:ext>
                </a:extLst>
              </p:cNvPr>
              <p:cNvSpPr/>
              <p:nvPr/>
            </p:nvSpPr>
            <p:spPr>
              <a:xfrm>
                <a:off x="7812222" y="3505890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8B2EB96-1F41-9D1E-0CE7-8AB28CE69F0F}"/>
                  </a:ext>
                </a:extLst>
              </p:cNvPr>
              <p:cNvSpPr/>
              <p:nvPr/>
            </p:nvSpPr>
            <p:spPr>
              <a:xfrm>
                <a:off x="8081427" y="3505465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41A0C6E-C99E-7342-2E61-DCEC3F9DAAF8}"/>
                  </a:ext>
                </a:extLst>
              </p:cNvPr>
              <p:cNvSpPr/>
              <p:nvPr/>
            </p:nvSpPr>
            <p:spPr>
              <a:xfrm>
                <a:off x="8353770" y="3513022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550FDBF-B891-E3CC-FF59-A3706F8EE276}"/>
                  </a:ext>
                </a:extLst>
              </p:cNvPr>
              <p:cNvSpPr/>
              <p:nvPr/>
            </p:nvSpPr>
            <p:spPr>
              <a:xfrm>
                <a:off x="9894860" y="3502389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FFECDC8-BCF7-AD6B-DDF5-D63ECBCF8BB5}"/>
                  </a:ext>
                </a:extLst>
              </p:cNvPr>
              <p:cNvSpPr/>
              <p:nvPr/>
            </p:nvSpPr>
            <p:spPr>
              <a:xfrm>
                <a:off x="10133818" y="3395824"/>
                <a:ext cx="322301" cy="34172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96DC2F1-FE64-40CC-C316-9907781E99FF}"/>
                  </a:ext>
                </a:extLst>
              </p:cNvPr>
              <p:cNvSpPr/>
              <p:nvPr/>
            </p:nvSpPr>
            <p:spPr>
              <a:xfrm>
                <a:off x="10217161" y="3500312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B6325F0-8571-9DD4-2A4B-E1D30E3F8419}"/>
                </a:ext>
              </a:extLst>
            </p:cNvPr>
            <p:cNvGrpSpPr/>
            <p:nvPr/>
          </p:nvGrpSpPr>
          <p:grpSpPr>
            <a:xfrm>
              <a:off x="3094011" y="3483366"/>
              <a:ext cx="6268992" cy="1553927"/>
              <a:chOff x="5136351" y="3745142"/>
              <a:chExt cx="6268992" cy="1553927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9A9BD5-49D3-7450-74AA-0A1675D38209}"/>
                  </a:ext>
                </a:extLst>
              </p:cNvPr>
              <p:cNvSpPr txBox="1"/>
              <p:nvPr/>
            </p:nvSpPr>
            <p:spPr>
              <a:xfrm>
                <a:off x="5437510" y="3754119"/>
                <a:ext cx="1031020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700" i="1" dirty="0" err="1">
                    <a:latin typeface="Fira Sans" panose="020B0503050000020004" pitchFamily="34" charset="0"/>
                  </a:rPr>
                  <a:t>Flowlet</a:t>
                </a:r>
                <a:r>
                  <a:rPr lang="en-US" sz="1700" i="1" dirty="0">
                    <a:latin typeface="Fira Sans" panose="020B0503050000020004" pitchFamily="34" charset="0"/>
                  </a:rPr>
                  <a:t> 1</a:t>
                </a:r>
                <a:endParaRPr lang="en-KR" sz="1700" dirty="0">
                  <a:latin typeface="Fira Sans" panose="020B0503050000020004" pitchFamily="34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F22ADE-8CDD-E423-32A2-C3561835D9B7}"/>
                  </a:ext>
                </a:extLst>
              </p:cNvPr>
              <p:cNvSpPr txBox="1"/>
              <p:nvPr/>
            </p:nvSpPr>
            <p:spPr>
              <a:xfrm>
                <a:off x="7520368" y="3745142"/>
                <a:ext cx="1058461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700" i="1" dirty="0" err="1">
                    <a:latin typeface="Fira Sans" panose="020B0503050000020004" pitchFamily="34" charset="0"/>
                  </a:rPr>
                  <a:t>Flowlet</a:t>
                </a:r>
                <a:r>
                  <a:rPr lang="en-US" sz="1700" i="1" dirty="0">
                    <a:latin typeface="Fira Sans" panose="020B0503050000020004" pitchFamily="34" charset="0"/>
                  </a:rPr>
                  <a:t> 2</a:t>
                </a:r>
                <a:endParaRPr lang="en-KR" sz="1700" dirty="0">
                  <a:latin typeface="Fira Sans" panose="020B0503050000020004" pitchFamily="34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529CD95-BA05-2878-E4B4-079BBFE834B7}"/>
                  </a:ext>
                </a:extLst>
              </p:cNvPr>
              <p:cNvSpPr txBox="1"/>
              <p:nvPr/>
            </p:nvSpPr>
            <p:spPr>
              <a:xfrm>
                <a:off x="9785297" y="3748071"/>
                <a:ext cx="1058461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700" i="1" dirty="0" err="1">
                    <a:latin typeface="Fira Sans" panose="020B0503050000020004" pitchFamily="34" charset="0"/>
                  </a:rPr>
                  <a:t>Flowlet</a:t>
                </a:r>
                <a:r>
                  <a:rPr lang="en-US" sz="1700" i="1" dirty="0">
                    <a:latin typeface="Fira Sans" panose="020B0503050000020004" pitchFamily="34" charset="0"/>
                  </a:rPr>
                  <a:t> 3</a:t>
                </a:r>
                <a:endParaRPr lang="en-KR" sz="1700" dirty="0">
                  <a:latin typeface="Fira Sans" panose="020B0503050000020004" pitchFamily="34" charset="0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BAF9AC1-B8B8-ACE5-4C9E-46C73561F331}"/>
                  </a:ext>
                </a:extLst>
              </p:cNvPr>
              <p:cNvSpPr txBox="1"/>
              <p:nvPr/>
            </p:nvSpPr>
            <p:spPr>
              <a:xfrm>
                <a:off x="5136351" y="4468072"/>
                <a:ext cx="626899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i="1" dirty="0"/>
                  <a:t>Reroute only if there is</a:t>
                </a:r>
                <a:br>
                  <a:rPr lang="en-US" sz="2400" i="1" dirty="0"/>
                </a:br>
                <a:r>
                  <a:rPr lang="en-US" sz="2400" i="1" dirty="0">
                    <a:solidFill>
                      <a:schemeClr val="accent2"/>
                    </a:solidFill>
                  </a:rPr>
                  <a:t>enough inactive </a:t>
                </a:r>
                <a:r>
                  <a:rPr lang="en-US" sz="2400" i="1" dirty="0" err="1">
                    <a:solidFill>
                      <a:schemeClr val="accent2"/>
                    </a:solidFill>
                  </a:rPr>
                  <a:t>timegap</a:t>
                </a:r>
                <a:r>
                  <a:rPr lang="en-US" sz="2400" b="1" i="1" dirty="0">
                    <a:solidFill>
                      <a:schemeClr val="accent2"/>
                    </a:solidFill>
                  </a:rPr>
                  <a:t> </a:t>
                </a:r>
                <a:r>
                  <a:rPr lang="en-US" sz="2400" i="1" dirty="0"/>
                  <a:t>between two packets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9099228-F066-9714-F9C3-495C0D937F8A}"/>
                  </a:ext>
                </a:extLst>
              </p:cNvPr>
              <p:cNvSpPr txBox="1"/>
              <p:nvPr/>
            </p:nvSpPr>
            <p:spPr>
              <a:xfrm>
                <a:off x="6688684" y="3854626"/>
                <a:ext cx="5661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2800" dirty="0">
                    <a:solidFill>
                      <a:schemeClr val="accent2"/>
                    </a:solidFill>
                  </a:rPr>
                  <a:t>&gt;∆</a:t>
                </a:r>
                <a:endParaRPr lang="en-KR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B242F5-BAFE-0E23-1020-F6E4D94EC3C7}"/>
                  </a:ext>
                </a:extLst>
              </p:cNvPr>
              <p:cNvSpPr txBox="1"/>
              <p:nvPr/>
            </p:nvSpPr>
            <p:spPr>
              <a:xfrm>
                <a:off x="8922820" y="3862696"/>
                <a:ext cx="5661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2800" dirty="0">
                    <a:solidFill>
                      <a:schemeClr val="accent2"/>
                    </a:solidFill>
                  </a:rPr>
                  <a:t>&gt;∆</a:t>
                </a:r>
                <a:endParaRPr lang="en-KR" dirty="0">
                  <a:solidFill>
                    <a:schemeClr val="accent2"/>
                  </a:solidFill>
                </a:endParaRPr>
              </a:p>
            </p:txBody>
          </p:sp>
        </p:grp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D6AF90CD-4C18-F7D6-86D6-C10FDE8A8E79}"/>
              </a:ext>
            </a:extLst>
          </p:cNvPr>
          <p:cNvSpPr/>
          <p:nvPr/>
        </p:nvSpPr>
        <p:spPr>
          <a:xfrm>
            <a:off x="3463137" y="1129215"/>
            <a:ext cx="4267698" cy="461665"/>
          </a:xfrm>
          <a:prstGeom prst="rect">
            <a:avLst/>
          </a:prstGeom>
          <a:solidFill>
            <a:schemeClr val="accent2"/>
          </a:solidFill>
          <a:ln>
            <a:solidFill>
              <a:srgbClr val="FFE6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Per-flowlet </a:t>
            </a:r>
            <a:r>
              <a:rPr lang="en-KR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[e.g., Conga, Letflow, PLB]</a:t>
            </a:r>
            <a:endParaRPr lang="en-KR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C371140-7030-343C-9D66-A589363142E1}"/>
              </a:ext>
            </a:extLst>
          </p:cNvPr>
          <p:cNvGrpSpPr/>
          <p:nvPr/>
        </p:nvGrpSpPr>
        <p:grpSpPr>
          <a:xfrm>
            <a:off x="1981837" y="4749702"/>
            <a:ext cx="7803428" cy="758134"/>
            <a:chOff x="1981837" y="2236271"/>
            <a:chExt cx="7803428" cy="758134"/>
          </a:xfrm>
        </p:grpSpPr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EC697B20-6884-51F3-E653-B47A599F74B0}"/>
                </a:ext>
              </a:extLst>
            </p:cNvPr>
            <p:cNvSpPr/>
            <p:nvPr/>
          </p:nvSpPr>
          <p:spPr>
            <a:xfrm>
              <a:off x="2422566" y="2311693"/>
              <a:ext cx="7362699" cy="554463"/>
            </a:xfrm>
            <a:prstGeom prst="roundRect">
              <a:avLst>
                <a:gd name="adj" fmla="val 34739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00" dirty="0">
                  <a:latin typeface="Fira Sans" panose="020B0503050000020004" pitchFamily="34" charset="0"/>
                </a:rPr>
                <a:t>Hard to find time gaps in RDMA</a:t>
              </a:r>
              <a:endParaRPr lang="en-KR" sz="2600" i="1" baseline="30000" dirty="0">
                <a:latin typeface="Fira Sans" panose="020B0503050000020004" pitchFamily="34" charset="0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B393305-D741-6697-C3B9-0003B0FA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81837" y="2236271"/>
              <a:ext cx="758134" cy="758134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BE370B38-7A5B-86B2-C5C1-37A56E3E6886}"/>
              </a:ext>
            </a:extLst>
          </p:cNvPr>
          <p:cNvSpPr txBox="1"/>
          <p:nvPr/>
        </p:nvSpPr>
        <p:spPr>
          <a:xfrm>
            <a:off x="341060" y="6161665"/>
            <a:ext cx="106469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CONGA: Distributed congestion-aware load balancing for datacenters [SIGCOMM’14]</a:t>
            </a:r>
          </a:p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Let it flow: Resilient asymmetric load balancing with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flowlet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switching [NSDI’17]</a:t>
            </a:r>
          </a:p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PLB: congestion signals are simple and effective for network load balancing [SIGCOMM’22]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011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Load Balancing Designs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5FA153-3372-6252-E459-A22832DB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1704707"/>
            <a:ext cx="10515600" cy="606987"/>
          </a:xfrm>
        </p:spPr>
        <p:txBody>
          <a:bodyPr>
            <a:normAutofit/>
          </a:bodyPr>
          <a:lstStyle/>
          <a:p>
            <a:r>
              <a:rPr lang="en-KR" sz="24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Per-flowlet rerouting</a:t>
            </a:r>
            <a:r>
              <a:rPr lang="en-KR" sz="2400" dirty="0">
                <a:latin typeface="Fira Sans" panose="020B0503050000020004" pitchFamily="34" charset="0"/>
                <a:ea typeface="Roboto" panose="02000000000000000000" pitchFamily="2" charset="0"/>
                <a:cs typeface="Abadi" panose="020F0502020204030204" pitchFamily="34" charset="0"/>
              </a:rPr>
              <a:t> 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avoids out-of-order arrivals </a:t>
            </a:r>
            <a:r>
              <a:rPr lang="en-KR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via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KR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timegaps</a:t>
            </a:r>
            <a:endParaRPr lang="en-KR" sz="2400" i="1" baseline="30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AF90CD-4C18-F7D6-86D6-C10FDE8A8E79}"/>
              </a:ext>
            </a:extLst>
          </p:cNvPr>
          <p:cNvSpPr/>
          <p:nvPr/>
        </p:nvSpPr>
        <p:spPr>
          <a:xfrm>
            <a:off x="3463137" y="1129215"/>
            <a:ext cx="4267698" cy="461665"/>
          </a:xfrm>
          <a:prstGeom prst="rect">
            <a:avLst/>
          </a:prstGeom>
          <a:solidFill>
            <a:schemeClr val="accent2"/>
          </a:solidFill>
          <a:ln>
            <a:solidFill>
              <a:srgbClr val="FFE6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Per-flowlet </a:t>
            </a:r>
            <a:r>
              <a:rPr lang="en-KR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[e.g., Conga, Letflow, PLB]</a:t>
            </a:r>
            <a:endParaRPr lang="en-KR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3E42E6C-CCF0-FB58-8B0C-D9332E746FEB}"/>
              </a:ext>
            </a:extLst>
          </p:cNvPr>
          <p:cNvGrpSpPr/>
          <p:nvPr/>
        </p:nvGrpSpPr>
        <p:grpSpPr>
          <a:xfrm>
            <a:off x="2753096" y="2375694"/>
            <a:ext cx="6685808" cy="2546179"/>
            <a:chOff x="2826327" y="2643338"/>
            <a:chExt cx="6685808" cy="2546179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6E323D5-6ECC-394E-D9CD-98DC1653372D}"/>
                </a:ext>
              </a:extLst>
            </p:cNvPr>
            <p:cNvSpPr/>
            <p:nvPr/>
          </p:nvSpPr>
          <p:spPr>
            <a:xfrm>
              <a:off x="2826327" y="2643338"/>
              <a:ext cx="6685808" cy="254617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8DAE9BD-F8A0-427D-AEA5-35F4C4C09CB1}"/>
                </a:ext>
              </a:extLst>
            </p:cNvPr>
            <p:cNvGrpSpPr/>
            <p:nvPr/>
          </p:nvGrpSpPr>
          <p:grpSpPr>
            <a:xfrm>
              <a:off x="4404814" y="3478076"/>
              <a:ext cx="1036838" cy="320511"/>
              <a:chOff x="6447154" y="3739852"/>
              <a:chExt cx="1036838" cy="320511"/>
            </a:xfrm>
          </p:grpSpPr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8FCFE8CD-8340-4EC9-8283-12C0EBA271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7154" y="3927210"/>
                <a:ext cx="1036838" cy="0"/>
              </a:xfrm>
              <a:prstGeom prst="straightConnector1">
                <a:avLst/>
              </a:prstGeom>
              <a:ln w="28575">
                <a:headEnd type="triangle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01B7801E-559B-2888-2846-19731190796E}"/>
                  </a:ext>
                </a:extLst>
              </p:cNvPr>
              <p:cNvCxnSpPr/>
              <p:nvPr/>
            </p:nvCxnSpPr>
            <p:spPr>
              <a:xfrm>
                <a:off x="6447154" y="3739852"/>
                <a:ext cx="0" cy="320511"/>
              </a:xfrm>
              <a:prstGeom prst="line">
                <a:avLst/>
              </a:prstGeom>
              <a:ln w="28575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E19275C-F92B-2DC2-0F44-4E5C97532DFC}"/>
                  </a:ext>
                </a:extLst>
              </p:cNvPr>
              <p:cNvCxnSpPr/>
              <p:nvPr/>
            </p:nvCxnSpPr>
            <p:spPr>
              <a:xfrm>
                <a:off x="7483885" y="3739852"/>
                <a:ext cx="0" cy="320511"/>
              </a:xfrm>
              <a:prstGeom prst="line">
                <a:avLst/>
              </a:prstGeom>
              <a:ln w="28575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1FBDBC4-FF69-D552-3B45-AD819674C876}"/>
                </a:ext>
              </a:extLst>
            </p:cNvPr>
            <p:cNvGrpSpPr/>
            <p:nvPr/>
          </p:nvGrpSpPr>
          <p:grpSpPr>
            <a:xfrm>
              <a:off x="6579709" y="3472311"/>
              <a:ext cx="1197095" cy="340543"/>
              <a:chOff x="9084162" y="2590206"/>
              <a:chExt cx="1197095" cy="340543"/>
            </a:xfrm>
          </p:grpSpPr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9D131A4A-3B3E-70A8-10E1-AE184388CC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4162" y="2750462"/>
                <a:ext cx="1197095" cy="0"/>
              </a:xfrm>
              <a:prstGeom prst="straightConnector1">
                <a:avLst/>
              </a:prstGeom>
              <a:ln w="28575">
                <a:headEnd type="triangle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4E3CBCF4-D634-710C-EB65-4BA5C5BD3228}"/>
                  </a:ext>
                </a:extLst>
              </p:cNvPr>
              <p:cNvCxnSpPr/>
              <p:nvPr/>
            </p:nvCxnSpPr>
            <p:spPr>
              <a:xfrm>
                <a:off x="9084162" y="2590206"/>
                <a:ext cx="0" cy="320511"/>
              </a:xfrm>
              <a:prstGeom prst="line">
                <a:avLst/>
              </a:prstGeom>
              <a:ln w="28575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793A3D4-9727-231B-DC8D-EB3D23D211CF}"/>
                  </a:ext>
                </a:extLst>
              </p:cNvPr>
              <p:cNvCxnSpPr/>
              <p:nvPr/>
            </p:nvCxnSpPr>
            <p:spPr>
              <a:xfrm>
                <a:off x="10281257" y="2610238"/>
                <a:ext cx="0" cy="320511"/>
              </a:xfrm>
              <a:prstGeom prst="line">
                <a:avLst/>
              </a:prstGeom>
              <a:ln w="28575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F23F432-347C-7856-433D-8E952CA344DD}"/>
                </a:ext>
              </a:extLst>
            </p:cNvPr>
            <p:cNvGrpSpPr/>
            <p:nvPr/>
          </p:nvGrpSpPr>
          <p:grpSpPr>
            <a:xfrm>
              <a:off x="3764576" y="3134048"/>
              <a:ext cx="4649203" cy="344028"/>
              <a:chOff x="5806916" y="3395824"/>
              <a:chExt cx="4649203" cy="344028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E9D5BE4-890A-D0FD-5259-E8B3D289CFFF}"/>
                  </a:ext>
                </a:extLst>
              </p:cNvPr>
              <p:cNvSpPr/>
              <p:nvPr/>
            </p:nvSpPr>
            <p:spPr>
              <a:xfrm>
                <a:off x="5806916" y="3398130"/>
                <a:ext cx="641023" cy="34172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9F1A8F6-439B-90DC-36D9-0A07D6F1551C}"/>
                  </a:ext>
                </a:extLst>
              </p:cNvPr>
              <p:cNvSpPr/>
              <p:nvPr/>
            </p:nvSpPr>
            <p:spPr>
              <a:xfrm>
                <a:off x="7484777" y="3398130"/>
                <a:ext cx="1129645" cy="34172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5612E2C-485D-3344-2478-B317424B1AB1}"/>
                  </a:ext>
                </a:extLst>
              </p:cNvPr>
              <p:cNvSpPr/>
              <p:nvPr/>
            </p:nvSpPr>
            <p:spPr>
              <a:xfrm>
                <a:off x="9811517" y="3398130"/>
                <a:ext cx="322301" cy="34172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5D481AB-DE80-E8D9-0457-3C578C6358EA}"/>
                  </a:ext>
                </a:extLst>
              </p:cNvPr>
              <p:cNvSpPr/>
              <p:nvPr/>
            </p:nvSpPr>
            <p:spPr>
              <a:xfrm>
                <a:off x="5878222" y="3494832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96FC377-A2F3-3AC2-2690-9053AC8762DC}"/>
                  </a:ext>
                </a:extLst>
              </p:cNvPr>
              <p:cNvSpPr/>
              <p:nvPr/>
            </p:nvSpPr>
            <p:spPr>
              <a:xfrm>
                <a:off x="6150565" y="3502389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67C20C7F-18A1-F0D6-6950-F40C8A01D143}"/>
                  </a:ext>
                </a:extLst>
              </p:cNvPr>
              <p:cNvSpPr/>
              <p:nvPr/>
            </p:nvSpPr>
            <p:spPr>
              <a:xfrm>
                <a:off x="7539879" y="3498333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DAE8B2E-4292-642A-0A65-951E94F6F3E6}"/>
                  </a:ext>
                </a:extLst>
              </p:cNvPr>
              <p:cNvSpPr/>
              <p:nvPr/>
            </p:nvSpPr>
            <p:spPr>
              <a:xfrm>
                <a:off x="7812222" y="3505890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9E7CECE-EEAB-4866-5E92-14655C120881}"/>
                  </a:ext>
                </a:extLst>
              </p:cNvPr>
              <p:cNvSpPr/>
              <p:nvPr/>
            </p:nvSpPr>
            <p:spPr>
              <a:xfrm>
                <a:off x="8081427" y="3505465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43AA997-F13F-C1F3-355A-12BC167E76F6}"/>
                  </a:ext>
                </a:extLst>
              </p:cNvPr>
              <p:cNvSpPr/>
              <p:nvPr/>
            </p:nvSpPr>
            <p:spPr>
              <a:xfrm>
                <a:off x="8353770" y="3513022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1DA2437-40D1-9F3C-F928-9954128F3AF6}"/>
                  </a:ext>
                </a:extLst>
              </p:cNvPr>
              <p:cNvSpPr/>
              <p:nvPr/>
            </p:nvSpPr>
            <p:spPr>
              <a:xfrm>
                <a:off x="9894860" y="3502389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71680EC-2F59-E714-AD7B-4AA9978EC2CE}"/>
                  </a:ext>
                </a:extLst>
              </p:cNvPr>
              <p:cNvSpPr/>
              <p:nvPr/>
            </p:nvSpPr>
            <p:spPr>
              <a:xfrm>
                <a:off x="10133818" y="3395824"/>
                <a:ext cx="322301" cy="34172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F706815B-3C3F-54F2-F8F8-F65EE2ABBA67}"/>
                  </a:ext>
                </a:extLst>
              </p:cNvPr>
              <p:cNvSpPr/>
              <p:nvPr/>
            </p:nvSpPr>
            <p:spPr>
              <a:xfrm>
                <a:off x="10217161" y="3500312"/>
                <a:ext cx="159306" cy="1482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EE545C7-5AAC-02B0-6852-73AA20F02683}"/>
                </a:ext>
              </a:extLst>
            </p:cNvPr>
            <p:cNvGrpSpPr/>
            <p:nvPr/>
          </p:nvGrpSpPr>
          <p:grpSpPr>
            <a:xfrm>
              <a:off x="3094011" y="3483366"/>
              <a:ext cx="6268992" cy="1553927"/>
              <a:chOff x="5136351" y="3745142"/>
              <a:chExt cx="6268992" cy="1553927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4A69987-F445-0181-F006-45202B5BD7A9}"/>
                  </a:ext>
                </a:extLst>
              </p:cNvPr>
              <p:cNvSpPr txBox="1"/>
              <p:nvPr/>
            </p:nvSpPr>
            <p:spPr>
              <a:xfrm>
                <a:off x="5437510" y="3754119"/>
                <a:ext cx="1031020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700" i="1" dirty="0" err="1">
                    <a:latin typeface="Fira Sans" panose="020B0503050000020004" pitchFamily="34" charset="0"/>
                  </a:rPr>
                  <a:t>Flowlet</a:t>
                </a:r>
                <a:r>
                  <a:rPr lang="en-US" sz="1700" i="1" dirty="0">
                    <a:latin typeface="Fira Sans" panose="020B0503050000020004" pitchFamily="34" charset="0"/>
                  </a:rPr>
                  <a:t> 1</a:t>
                </a:r>
                <a:endParaRPr lang="en-KR" sz="1700" dirty="0">
                  <a:latin typeface="Fira Sans" panose="020B0503050000020004" pitchFamily="34" charset="0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B8A75CF-C628-5CC8-F0F4-F459C95AA2D7}"/>
                  </a:ext>
                </a:extLst>
              </p:cNvPr>
              <p:cNvSpPr txBox="1"/>
              <p:nvPr/>
            </p:nvSpPr>
            <p:spPr>
              <a:xfrm>
                <a:off x="7520368" y="3745142"/>
                <a:ext cx="1058461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700" i="1" dirty="0" err="1">
                    <a:latin typeface="Fira Sans" panose="020B0503050000020004" pitchFamily="34" charset="0"/>
                  </a:rPr>
                  <a:t>Flowlet</a:t>
                </a:r>
                <a:r>
                  <a:rPr lang="en-US" sz="1700" i="1" dirty="0">
                    <a:latin typeface="Fira Sans" panose="020B0503050000020004" pitchFamily="34" charset="0"/>
                  </a:rPr>
                  <a:t> 2</a:t>
                </a:r>
                <a:endParaRPr lang="en-KR" sz="1700" dirty="0">
                  <a:latin typeface="Fira Sans" panose="020B0503050000020004" pitchFamily="34" charset="0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9953BCE-E7FC-5B8A-C4C6-8D81A5D885D6}"/>
                  </a:ext>
                </a:extLst>
              </p:cNvPr>
              <p:cNvSpPr txBox="1"/>
              <p:nvPr/>
            </p:nvSpPr>
            <p:spPr>
              <a:xfrm>
                <a:off x="9785297" y="3748071"/>
                <a:ext cx="1058461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700" i="1" dirty="0" err="1">
                    <a:latin typeface="Fira Sans" panose="020B0503050000020004" pitchFamily="34" charset="0"/>
                  </a:rPr>
                  <a:t>Flowlet</a:t>
                </a:r>
                <a:r>
                  <a:rPr lang="en-US" sz="1700" i="1" dirty="0">
                    <a:latin typeface="Fira Sans" panose="020B0503050000020004" pitchFamily="34" charset="0"/>
                  </a:rPr>
                  <a:t> 3</a:t>
                </a:r>
                <a:endParaRPr lang="en-KR" sz="1700" dirty="0">
                  <a:latin typeface="Fira Sans" panose="020B0503050000020004" pitchFamily="34" charset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D62C690-4478-8BC0-8291-B862E0266406}"/>
                  </a:ext>
                </a:extLst>
              </p:cNvPr>
              <p:cNvSpPr txBox="1"/>
              <p:nvPr/>
            </p:nvSpPr>
            <p:spPr>
              <a:xfrm>
                <a:off x="5136351" y="4468072"/>
                <a:ext cx="626899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i="1" dirty="0"/>
                  <a:t>Reroute only if there is</a:t>
                </a:r>
                <a:br>
                  <a:rPr lang="en-US" sz="2400" i="1" dirty="0"/>
                </a:br>
                <a:r>
                  <a:rPr lang="en-US" sz="2400" i="1" dirty="0">
                    <a:solidFill>
                      <a:schemeClr val="accent2"/>
                    </a:solidFill>
                  </a:rPr>
                  <a:t>enough inactive </a:t>
                </a:r>
                <a:r>
                  <a:rPr lang="en-US" sz="2400" i="1" dirty="0" err="1">
                    <a:solidFill>
                      <a:schemeClr val="accent2"/>
                    </a:solidFill>
                  </a:rPr>
                  <a:t>timegap</a:t>
                </a:r>
                <a:r>
                  <a:rPr lang="en-US" sz="2400" b="1" i="1" dirty="0">
                    <a:solidFill>
                      <a:schemeClr val="accent2"/>
                    </a:solidFill>
                  </a:rPr>
                  <a:t> </a:t>
                </a:r>
                <a:r>
                  <a:rPr lang="en-US" sz="2400" i="1" dirty="0"/>
                  <a:t>between two packets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226F966-FCED-8331-2E4D-0096568E98B0}"/>
                  </a:ext>
                </a:extLst>
              </p:cNvPr>
              <p:cNvSpPr txBox="1"/>
              <p:nvPr/>
            </p:nvSpPr>
            <p:spPr>
              <a:xfrm>
                <a:off x="6688684" y="3854626"/>
                <a:ext cx="5661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2800" dirty="0">
                    <a:solidFill>
                      <a:schemeClr val="accent2"/>
                    </a:solidFill>
                  </a:rPr>
                  <a:t>&gt;∆</a:t>
                </a:r>
                <a:endParaRPr lang="en-KR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38148D0-C795-A953-3AB6-A36A4D05A295}"/>
                  </a:ext>
                </a:extLst>
              </p:cNvPr>
              <p:cNvSpPr txBox="1"/>
              <p:nvPr/>
            </p:nvSpPr>
            <p:spPr>
              <a:xfrm>
                <a:off x="8922820" y="3862696"/>
                <a:ext cx="5661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2800" dirty="0">
                    <a:solidFill>
                      <a:schemeClr val="accent2"/>
                    </a:solidFill>
                  </a:rPr>
                  <a:t>&gt;∆</a:t>
                </a:r>
                <a:endParaRPr lang="en-KR" dirty="0">
                  <a:solidFill>
                    <a:schemeClr val="accent2"/>
                  </a:solidFill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27A28C2-079D-BF42-1401-411E0225F954}"/>
              </a:ext>
            </a:extLst>
          </p:cNvPr>
          <p:cNvGrpSpPr/>
          <p:nvPr/>
        </p:nvGrpSpPr>
        <p:grpSpPr>
          <a:xfrm>
            <a:off x="1981837" y="4749702"/>
            <a:ext cx="7803428" cy="758134"/>
            <a:chOff x="1981837" y="2236271"/>
            <a:chExt cx="7803428" cy="758134"/>
          </a:xfrm>
        </p:grpSpPr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6FC2E18D-7D3F-FE11-A1F6-F32A07A5F1FC}"/>
                </a:ext>
              </a:extLst>
            </p:cNvPr>
            <p:cNvSpPr/>
            <p:nvPr/>
          </p:nvSpPr>
          <p:spPr>
            <a:xfrm>
              <a:off x="2422566" y="2311693"/>
              <a:ext cx="7362699" cy="554463"/>
            </a:xfrm>
            <a:prstGeom prst="roundRect">
              <a:avLst>
                <a:gd name="adj" fmla="val 34739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00" dirty="0">
                  <a:latin typeface="Fira Sans" panose="020B0503050000020004" pitchFamily="34" charset="0"/>
                </a:rPr>
                <a:t>Hard to find time gaps in RDMA</a:t>
              </a:r>
              <a:endParaRPr lang="en-KR" sz="2600" i="1" baseline="30000" dirty="0">
                <a:latin typeface="Fira Sans" panose="020B0503050000020004" pitchFamily="34" charset="0"/>
              </a:endParaRP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5C5F8E49-70E7-4FE1-AB53-43748995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81837" y="2236271"/>
              <a:ext cx="758134" cy="758134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C6D9412-579C-8AC1-DAA6-290C1E339776}"/>
              </a:ext>
            </a:extLst>
          </p:cNvPr>
          <p:cNvGrpSpPr/>
          <p:nvPr/>
        </p:nvGrpSpPr>
        <p:grpSpPr>
          <a:xfrm>
            <a:off x="1104405" y="2189836"/>
            <a:ext cx="9883635" cy="4121656"/>
            <a:chOff x="1104404" y="2211919"/>
            <a:chExt cx="9883635" cy="4121656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D8F6443-47B6-4BA6-11C4-F9076F6255C9}"/>
                </a:ext>
              </a:extLst>
            </p:cNvPr>
            <p:cNvSpPr/>
            <p:nvPr/>
          </p:nvSpPr>
          <p:spPr>
            <a:xfrm>
              <a:off x="1104404" y="2211919"/>
              <a:ext cx="9883635" cy="412165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54746DE-484B-53EA-8653-641EDA90D175}"/>
                </a:ext>
              </a:extLst>
            </p:cNvPr>
            <p:cNvSpPr txBox="1"/>
            <p:nvPr/>
          </p:nvSpPr>
          <p:spPr>
            <a:xfrm>
              <a:off x="1561609" y="2305835"/>
              <a:ext cx="91143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24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Experiment: A bulk data transfer with 8 concurrent connections</a:t>
              </a:r>
              <a:endPara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16E0F9E-A0C8-AA2C-2BDE-9952CDD878C3}"/>
              </a:ext>
            </a:extLst>
          </p:cNvPr>
          <p:cNvGrpSpPr/>
          <p:nvPr/>
        </p:nvGrpSpPr>
        <p:grpSpPr>
          <a:xfrm>
            <a:off x="2501858" y="2687706"/>
            <a:ext cx="7213461" cy="3616197"/>
            <a:chOff x="2501144" y="2687424"/>
            <a:chExt cx="7213461" cy="3616197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53E3E1D2-476E-DE70-FE27-62B270123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01144" y="2687424"/>
              <a:ext cx="7213461" cy="3616197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17AFC1A-4BCE-50C9-AAA7-8488E5A6C1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4945" t="11533" r="52504" b="48564"/>
            <a:stretch/>
          </p:blipFill>
          <p:spPr>
            <a:xfrm>
              <a:off x="3574052" y="3096390"/>
              <a:ext cx="2341845" cy="1439109"/>
            </a:xfrm>
            <a:prstGeom prst="rect">
              <a:avLst/>
            </a:prstGeom>
          </p:spPr>
        </p:pic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2D1696F-F541-19E5-53D7-2F83581D37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8600" y="4406778"/>
              <a:ext cx="128386" cy="323674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56F0DE-7B86-9E38-CFBA-9EAA1D4504E7}"/>
                </a:ext>
              </a:extLst>
            </p:cNvPr>
            <p:cNvSpPr txBox="1"/>
            <p:nvPr/>
          </p:nvSpPr>
          <p:spPr>
            <a:xfrm>
              <a:off x="4605444" y="4698114"/>
              <a:ext cx="4120039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200" b="1" dirty="0" err="1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flowlet’s</a:t>
              </a:r>
              <a:r>
                <a:rPr lang="en-US" sz="2200" b="1" dirty="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US" sz="2200" b="1" dirty="0" err="1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timegap</a:t>
              </a:r>
              <a:r>
                <a:rPr lang="en-US" sz="2200" b="1" dirty="0">
                  <a:solidFill>
                    <a:schemeClr val="accent2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threshold (∆)</a:t>
              </a:r>
              <a:endParaRPr lang="en-KR" sz="22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107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4D8F6443-47B6-4BA6-11C4-F9076F6255C9}"/>
              </a:ext>
            </a:extLst>
          </p:cNvPr>
          <p:cNvSpPr/>
          <p:nvPr/>
        </p:nvSpPr>
        <p:spPr>
          <a:xfrm>
            <a:off x="1104405" y="2185181"/>
            <a:ext cx="9883635" cy="412165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4746DE-484B-53EA-8653-641EDA90D175}"/>
              </a:ext>
            </a:extLst>
          </p:cNvPr>
          <p:cNvSpPr txBox="1"/>
          <p:nvPr/>
        </p:nvSpPr>
        <p:spPr>
          <a:xfrm>
            <a:off x="1561610" y="2279097"/>
            <a:ext cx="9114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Experiment: A bulk data transfer with 8 concurrent connections</a:t>
            </a:r>
            <a:endParaRPr lang="en-KR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 Load Balancing Designs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10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5FA153-3372-6252-E459-A22832DB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1704707"/>
            <a:ext cx="10515600" cy="606987"/>
          </a:xfrm>
        </p:spPr>
        <p:txBody>
          <a:bodyPr>
            <a:normAutofit/>
          </a:bodyPr>
          <a:lstStyle/>
          <a:p>
            <a:r>
              <a:rPr lang="en-KR" sz="24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Per-flowlet rerouting</a:t>
            </a:r>
            <a:r>
              <a:rPr lang="en-KR" sz="2400" dirty="0">
                <a:latin typeface="Fira Sans" panose="020B0503050000020004" pitchFamily="34" charset="0"/>
                <a:ea typeface="Roboto" panose="02000000000000000000" pitchFamily="2" charset="0"/>
                <a:cs typeface="Abadi" panose="020F0502020204030204" pitchFamily="34" charset="0"/>
              </a:rPr>
              <a:t> 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avoids out-of-order arrivals </a:t>
            </a:r>
            <a:r>
              <a:rPr lang="en-KR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via</a:t>
            </a:r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KR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timegaps</a:t>
            </a:r>
            <a:endParaRPr lang="en-KR" sz="2400" i="1" baseline="30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AF90CD-4C18-F7D6-86D6-C10FDE8A8E79}"/>
              </a:ext>
            </a:extLst>
          </p:cNvPr>
          <p:cNvSpPr/>
          <p:nvPr/>
        </p:nvSpPr>
        <p:spPr>
          <a:xfrm>
            <a:off x="3463137" y="1129215"/>
            <a:ext cx="4267698" cy="461665"/>
          </a:xfrm>
          <a:prstGeom prst="rect">
            <a:avLst/>
          </a:prstGeom>
          <a:solidFill>
            <a:schemeClr val="accent2"/>
          </a:solidFill>
          <a:ln>
            <a:solidFill>
              <a:srgbClr val="FFE6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Per-flowlet </a:t>
            </a:r>
            <a:r>
              <a:rPr lang="en-KR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[e.g., Conga, Letflow, PLB]</a:t>
            </a:r>
            <a:endParaRPr lang="en-KR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A1688BF-90F6-566C-FD0E-8C3214988218}"/>
              </a:ext>
            </a:extLst>
          </p:cNvPr>
          <p:cNvSpPr txBox="1"/>
          <p:nvPr/>
        </p:nvSpPr>
        <p:spPr>
          <a:xfrm>
            <a:off x="341060" y="6406838"/>
            <a:ext cx="106469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SG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SG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Yuanwei</a:t>
            </a:r>
            <a:r>
              <a:rPr lang="en-SG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Lu, et al., Multi-Path Transport for RDMA in </a:t>
            </a:r>
            <a:r>
              <a:rPr lang="en-SG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Datacenters</a:t>
            </a:r>
            <a:r>
              <a:rPr lang="en-SG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[NSDI’18]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54022CF6-8877-91CD-EE3C-E91441D51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907" y="2680075"/>
            <a:ext cx="7194185" cy="3606533"/>
          </a:xfrm>
          <a:prstGeom prst="rect">
            <a:avLst/>
          </a:prstGeom>
        </p:spPr>
      </p:pic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0DA9B8D-C61C-5DD8-3CEA-7A74F7A55509}"/>
              </a:ext>
            </a:extLst>
          </p:cNvPr>
          <p:cNvSpPr/>
          <p:nvPr/>
        </p:nvSpPr>
        <p:spPr>
          <a:xfrm>
            <a:off x="9556051" y="2750459"/>
            <a:ext cx="2216849" cy="1691580"/>
          </a:xfrm>
          <a:prstGeom prst="roundRect">
            <a:avLst>
              <a:gd name="adj" fmla="val 17346"/>
            </a:avLst>
          </a:prstGeom>
          <a:solidFill>
            <a:srgbClr val="FF9300"/>
          </a:solidFill>
          <a:ln w="19050">
            <a:solidFill>
              <a:schemeClr val="bg1"/>
            </a:solidFill>
          </a:ln>
          <a:effectLst>
            <a:outerShdw blurRad="50800" dist="50800" dir="3090426" algn="ctr" rotWithShape="0">
              <a:srgbClr val="000000">
                <a:alpha val="2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Fira Sans" panose="020B0503050000020004" pitchFamily="34" charset="0"/>
              </a:rPr>
              <a:t>Less chances</a:t>
            </a:r>
            <a:br>
              <a:rPr lang="en-US" sz="2400" dirty="0">
                <a:solidFill>
                  <a:schemeClr val="bg1"/>
                </a:solidFill>
                <a:latin typeface="Fira Sans" panose="020B05030500000200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Fira Sans" panose="020B0503050000020004" pitchFamily="34" charset="0"/>
              </a:rPr>
              <a:t>to reroute</a:t>
            </a:r>
            <a:endParaRPr lang="en-KR" sz="2400" i="1" baseline="30000" dirty="0">
              <a:solidFill>
                <a:schemeClr val="bg1"/>
              </a:solidFill>
              <a:latin typeface="Fira Sans" panose="020B0503050000020004" pitchFamily="34" charset="0"/>
            </a:endParaRP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B335DA90-3103-5680-C3BA-C71873D0765D}"/>
              </a:ext>
            </a:extLst>
          </p:cNvPr>
          <p:cNvSpPr/>
          <p:nvPr/>
        </p:nvSpPr>
        <p:spPr>
          <a:xfrm>
            <a:off x="7596185" y="3393716"/>
            <a:ext cx="1262615" cy="637849"/>
          </a:xfrm>
          <a:prstGeom prst="rightArrow">
            <a:avLst>
              <a:gd name="adj1" fmla="val 50000"/>
              <a:gd name="adj2" fmla="val 91174"/>
            </a:avLst>
          </a:prstGeom>
          <a:solidFill>
            <a:schemeClr val="accent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3B63741-7718-FED1-8FCC-D2CB48DC3965}"/>
              </a:ext>
            </a:extLst>
          </p:cNvPr>
          <p:cNvSpPr/>
          <p:nvPr/>
        </p:nvSpPr>
        <p:spPr>
          <a:xfrm>
            <a:off x="7393033" y="4442039"/>
            <a:ext cx="2077767" cy="817009"/>
          </a:xfrm>
          <a:prstGeom prst="roundRect">
            <a:avLst>
              <a:gd name="adj" fmla="val 20204"/>
            </a:avLst>
          </a:prstGeom>
          <a:solidFill>
            <a:srgbClr val="C00000"/>
          </a:solidFill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HW-based packet pacing*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D6E7EF-98EB-1556-A722-6D6610710363}"/>
              </a:ext>
            </a:extLst>
          </p:cNvPr>
          <p:cNvSpPr/>
          <p:nvPr/>
        </p:nvSpPr>
        <p:spPr>
          <a:xfrm>
            <a:off x="5092974" y="4459662"/>
            <a:ext cx="2077767" cy="461665"/>
          </a:xfrm>
          <a:prstGeom prst="roundRect">
            <a:avLst>
              <a:gd name="adj" fmla="val 20204"/>
            </a:avLst>
          </a:prstGeom>
          <a:solidFill>
            <a:schemeClr val="tx1"/>
          </a:solidFill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Batch process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619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1" grpId="0" animBg="1"/>
      <p:bldP spid="38" grpId="0" animBg="1"/>
      <p:bldP spid="43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 Goal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11</a:t>
            </a:fld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2B51EB-809F-7479-07B4-B1EF0834F006}"/>
              </a:ext>
            </a:extLst>
          </p:cNvPr>
          <p:cNvCxnSpPr/>
          <p:nvPr/>
        </p:nvCxnSpPr>
        <p:spPr>
          <a:xfrm>
            <a:off x="1436914" y="5571170"/>
            <a:ext cx="950026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4F20E3-5447-8597-4820-21892DA8E909}"/>
              </a:ext>
            </a:extLst>
          </p:cNvPr>
          <p:cNvCxnSpPr>
            <a:cxnSpLocks/>
          </p:cNvCxnSpPr>
          <p:nvPr/>
        </p:nvCxnSpPr>
        <p:spPr>
          <a:xfrm flipV="1">
            <a:off x="1945220" y="1652313"/>
            <a:ext cx="0" cy="427442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D90B56D-5052-14F4-C268-F1B9FC2C0CA9}"/>
              </a:ext>
            </a:extLst>
          </p:cNvPr>
          <p:cNvSpPr txBox="1"/>
          <p:nvPr/>
        </p:nvSpPr>
        <p:spPr>
          <a:xfrm>
            <a:off x="4878252" y="5695910"/>
            <a:ext cx="3020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Preserving pkt order</a:t>
            </a:r>
            <a:endParaRPr lang="en-KR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A54765-3C1D-B7C4-498B-C5BFB70FB1F7}"/>
              </a:ext>
            </a:extLst>
          </p:cNvPr>
          <p:cNvSpPr txBox="1"/>
          <p:nvPr/>
        </p:nvSpPr>
        <p:spPr>
          <a:xfrm>
            <a:off x="168982" y="3324650"/>
            <a:ext cx="1685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Reroute</a:t>
            </a:r>
            <a:b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granularity</a:t>
            </a:r>
            <a:endParaRPr lang="en-KR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957BA5-AC25-2E47-CA42-605DFEC49509}"/>
              </a:ext>
            </a:extLst>
          </p:cNvPr>
          <p:cNvSpPr txBox="1"/>
          <p:nvPr/>
        </p:nvSpPr>
        <p:spPr>
          <a:xfrm>
            <a:off x="462822" y="1628949"/>
            <a:ext cx="11993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2400" b="1" i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Fine</a:t>
            </a:r>
            <a:br>
              <a:rPr lang="en-KR" sz="2400" b="1" i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KR" sz="2400" b="1" i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grained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680AEC-AF54-8EFB-CB4A-CBECE9AE569C}"/>
              </a:ext>
            </a:extLst>
          </p:cNvPr>
          <p:cNvSpPr txBox="1"/>
          <p:nvPr/>
        </p:nvSpPr>
        <p:spPr>
          <a:xfrm>
            <a:off x="8231701" y="1291738"/>
            <a:ext cx="3142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800" b="1" i="1" dirty="0">
                <a:latin typeface="Fira Sans" panose="020B0503050000020004" pitchFamily="34" charset="0"/>
              </a:rPr>
              <a:t>How to get here?</a:t>
            </a:r>
            <a:endParaRPr lang="en-KR" sz="1600" b="1" i="1" dirty="0">
              <a:solidFill>
                <a:srgbClr val="FF0000"/>
              </a:solidFill>
              <a:latin typeface="Fira Sans" panose="020B05030500000200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13D0D54-416F-1013-A876-ACD915742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89" y="1777074"/>
            <a:ext cx="1425663" cy="14256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0636F1-C393-B20F-23EB-C5116B65B284}"/>
              </a:ext>
            </a:extLst>
          </p:cNvPr>
          <p:cNvSpPr txBox="1"/>
          <p:nvPr/>
        </p:nvSpPr>
        <p:spPr>
          <a:xfrm>
            <a:off x="9011057" y="5695909"/>
            <a:ext cx="1306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b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In-order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985C7E-8A34-7C81-C3B9-516AFB531347}"/>
              </a:ext>
            </a:extLst>
          </p:cNvPr>
          <p:cNvSpPr txBox="1"/>
          <p:nvPr/>
        </p:nvSpPr>
        <p:spPr>
          <a:xfrm>
            <a:off x="1990361" y="5652195"/>
            <a:ext cx="1842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Out-of-order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BCA3CC74-2AB1-D458-C914-8765647A9AAB}"/>
              </a:ext>
            </a:extLst>
          </p:cNvPr>
          <p:cNvSpPr/>
          <p:nvPr/>
        </p:nvSpPr>
        <p:spPr>
          <a:xfrm>
            <a:off x="3129493" y="4746309"/>
            <a:ext cx="741380" cy="60240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700A39-DA43-8814-4721-BE96381C7994}"/>
              </a:ext>
            </a:extLst>
          </p:cNvPr>
          <p:cNvSpPr txBox="1"/>
          <p:nvPr/>
        </p:nvSpPr>
        <p:spPr>
          <a:xfrm>
            <a:off x="324237" y="4767788"/>
            <a:ext cx="12923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2400" i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Coarsed</a:t>
            </a:r>
            <a:br>
              <a:rPr lang="en-KR" sz="2400" i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KR" sz="2400" i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grained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930FB69D-947E-60C0-9219-3AEAF6407786}"/>
              </a:ext>
            </a:extLst>
          </p:cNvPr>
          <p:cNvSpPr/>
          <p:nvPr/>
        </p:nvSpPr>
        <p:spPr>
          <a:xfrm rot="16200000">
            <a:off x="2262326" y="4034455"/>
            <a:ext cx="652132" cy="64858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A7E13A-729E-F658-F7A8-67160AE7F9D1}"/>
              </a:ext>
            </a:extLst>
          </p:cNvPr>
          <p:cNvSpPr txBox="1"/>
          <p:nvPr/>
        </p:nvSpPr>
        <p:spPr>
          <a:xfrm>
            <a:off x="2093316" y="4765836"/>
            <a:ext cx="101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Better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E6CB5DB-2922-56FA-9E0C-8763977A0AD7}"/>
              </a:ext>
            </a:extLst>
          </p:cNvPr>
          <p:cNvSpPr/>
          <p:nvPr/>
        </p:nvSpPr>
        <p:spPr>
          <a:xfrm>
            <a:off x="1990362" y="1729276"/>
            <a:ext cx="2009860" cy="965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Per-packet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0ED0F06-7012-B321-7D56-FE6DECE9981A}"/>
              </a:ext>
            </a:extLst>
          </p:cNvPr>
          <p:cNvSpPr/>
          <p:nvPr/>
        </p:nvSpPr>
        <p:spPr>
          <a:xfrm>
            <a:off x="8610600" y="4797845"/>
            <a:ext cx="2009860" cy="7427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Per-flow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0E8F11-F508-2280-5B74-6787C4540C6F}"/>
              </a:ext>
            </a:extLst>
          </p:cNvPr>
          <p:cNvSpPr/>
          <p:nvPr/>
        </p:nvSpPr>
        <p:spPr>
          <a:xfrm>
            <a:off x="7790597" y="3284056"/>
            <a:ext cx="2639984" cy="92768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0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Per-flowlet</a:t>
            </a:r>
            <a:br>
              <a:rPr lang="en-KR" sz="20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KR" sz="20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(for TCP)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A11E6C6-9195-EB00-91E2-7DB368B0C562}"/>
              </a:ext>
            </a:extLst>
          </p:cNvPr>
          <p:cNvSpPr/>
          <p:nvPr/>
        </p:nvSpPr>
        <p:spPr>
          <a:xfrm>
            <a:off x="8526391" y="4227034"/>
            <a:ext cx="2094067" cy="7674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Per-flowlet</a:t>
            </a:r>
            <a:br>
              <a:rPr lang="en-KR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KR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(for RDMA)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400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7" grpId="0" animBg="1"/>
      <p:bldP spid="18" grpId="0" animBg="1"/>
      <p:bldP spid="21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Idea – In-network Packet Reordering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12</a:t>
            </a:fld>
            <a:endParaRPr lang="en-US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E2869C70-8709-579C-C057-600B4798CF55}"/>
              </a:ext>
            </a:extLst>
          </p:cNvPr>
          <p:cNvSpPr txBox="1">
            <a:spLocks/>
          </p:cNvSpPr>
          <p:nvPr/>
        </p:nvSpPr>
        <p:spPr>
          <a:xfrm>
            <a:off x="393908" y="1338556"/>
            <a:ext cx="11630452" cy="6120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</a:t>
            </a:r>
            <a:r>
              <a:rPr lang="en-US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Restore”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packets back in-order before reaching to end-hosts</a:t>
            </a:r>
            <a:endParaRPr lang="en-US" sz="2000" i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A72DDFE-473E-C88C-2B32-3ADFB1E6CD5B}"/>
              </a:ext>
            </a:extLst>
          </p:cNvPr>
          <p:cNvGrpSpPr/>
          <p:nvPr/>
        </p:nvGrpSpPr>
        <p:grpSpPr>
          <a:xfrm>
            <a:off x="1555804" y="2506883"/>
            <a:ext cx="9080391" cy="3224381"/>
            <a:chOff x="1555804" y="2506883"/>
            <a:chExt cx="9080391" cy="32243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47F8246-66B8-CB2F-05C6-5AA51B30C7E3}"/>
                </a:ext>
              </a:extLst>
            </p:cNvPr>
            <p:cNvSpPr/>
            <p:nvPr/>
          </p:nvSpPr>
          <p:spPr>
            <a:xfrm>
              <a:off x="1555804" y="5254883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4E3972-D732-7CBB-230D-1A1237464962}"/>
                </a:ext>
              </a:extLst>
            </p:cNvPr>
            <p:cNvSpPr/>
            <p:nvPr/>
          </p:nvSpPr>
          <p:spPr>
            <a:xfrm>
              <a:off x="1555804" y="4651387"/>
              <a:ext cx="1434873" cy="285547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2C68AE-1BE2-5433-25BB-81A62BB60E6F}"/>
                </a:ext>
              </a:extLst>
            </p:cNvPr>
            <p:cNvSpPr/>
            <p:nvPr/>
          </p:nvSpPr>
          <p:spPr>
            <a:xfrm>
              <a:off x="1934154" y="5254883"/>
              <a:ext cx="299824" cy="47491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E07D3D9-C384-A015-92BD-6C553FF0CBEB}"/>
                </a:ext>
              </a:extLst>
            </p:cNvPr>
            <p:cNvSpPr/>
            <p:nvPr/>
          </p:nvSpPr>
          <p:spPr>
            <a:xfrm>
              <a:off x="2312503" y="5254883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A75CBE-ABC3-68FC-EEA4-A2C8FA585BF9}"/>
                </a:ext>
              </a:extLst>
            </p:cNvPr>
            <p:cNvSpPr/>
            <p:nvPr/>
          </p:nvSpPr>
          <p:spPr>
            <a:xfrm>
              <a:off x="2690853" y="5256349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DD7F7E3-F8DC-D0DE-50D1-9E7C6B458AA4}"/>
                </a:ext>
              </a:extLst>
            </p:cNvPr>
            <p:cNvSpPr/>
            <p:nvPr/>
          </p:nvSpPr>
          <p:spPr>
            <a:xfrm>
              <a:off x="3825901" y="5254883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6C3EE1-EB96-9FA4-36AB-732EEED64403}"/>
                </a:ext>
              </a:extLst>
            </p:cNvPr>
            <p:cNvSpPr/>
            <p:nvPr/>
          </p:nvSpPr>
          <p:spPr>
            <a:xfrm>
              <a:off x="3825901" y="4651387"/>
              <a:ext cx="1434873" cy="285547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02F2530-F170-318D-07BC-AD56977D1C8D}"/>
                </a:ext>
              </a:extLst>
            </p:cNvPr>
            <p:cNvSpPr/>
            <p:nvPr/>
          </p:nvSpPr>
          <p:spPr>
            <a:xfrm>
              <a:off x="4204251" y="5254883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A91BFF1-F9D7-1869-0771-622FBBDA010C}"/>
                </a:ext>
              </a:extLst>
            </p:cNvPr>
            <p:cNvSpPr/>
            <p:nvPr/>
          </p:nvSpPr>
          <p:spPr>
            <a:xfrm>
              <a:off x="4582600" y="5254883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CFD764-D6BF-614B-83AD-896F03DF9222}"/>
                </a:ext>
              </a:extLst>
            </p:cNvPr>
            <p:cNvSpPr/>
            <p:nvPr/>
          </p:nvSpPr>
          <p:spPr>
            <a:xfrm>
              <a:off x="4960950" y="5256349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D926775-011D-AF2A-2560-25353D08C5A6}"/>
                </a:ext>
              </a:extLst>
            </p:cNvPr>
            <p:cNvSpPr/>
            <p:nvPr/>
          </p:nvSpPr>
          <p:spPr>
            <a:xfrm>
              <a:off x="1555804" y="3934891"/>
              <a:ext cx="1434873" cy="285547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8C22648-21A4-85B7-0886-DF0A8A1C46DE}"/>
                </a:ext>
              </a:extLst>
            </p:cNvPr>
            <p:cNvSpPr/>
            <p:nvPr/>
          </p:nvSpPr>
          <p:spPr>
            <a:xfrm>
              <a:off x="3825901" y="3934891"/>
              <a:ext cx="1434873" cy="285547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66CD975-C4D4-D045-7B31-D987FF28FA5D}"/>
                </a:ext>
              </a:extLst>
            </p:cNvPr>
            <p:cNvSpPr/>
            <p:nvPr/>
          </p:nvSpPr>
          <p:spPr>
            <a:xfrm>
              <a:off x="6931225" y="5247025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79CC7CC-B4AF-F349-F552-E3BABF136BD1}"/>
                </a:ext>
              </a:extLst>
            </p:cNvPr>
            <p:cNvSpPr/>
            <p:nvPr/>
          </p:nvSpPr>
          <p:spPr>
            <a:xfrm>
              <a:off x="6931225" y="4643530"/>
              <a:ext cx="1434873" cy="285547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9E20961-9273-F4B4-6AAB-BD96BCD9A740}"/>
                </a:ext>
              </a:extLst>
            </p:cNvPr>
            <p:cNvSpPr/>
            <p:nvPr/>
          </p:nvSpPr>
          <p:spPr>
            <a:xfrm>
              <a:off x="7309575" y="5247025"/>
              <a:ext cx="299824" cy="47491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AB8BEAD-A69E-8DBD-0C59-290E68F3AF8B}"/>
                </a:ext>
              </a:extLst>
            </p:cNvPr>
            <p:cNvSpPr/>
            <p:nvPr/>
          </p:nvSpPr>
          <p:spPr>
            <a:xfrm>
              <a:off x="7687925" y="5247025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0D65AC5-6968-042C-2954-A1C2C6048788}"/>
                </a:ext>
              </a:extLst>
            </p:cNvPr>
            <p:cNvSpPr/>
            <p:nvPr/>
          </p:nvSpPr>
          <p:spPr>
            <a:xfrm>
              <a:off x="8066273" y="5248492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7BBE6F4-34F3-8E16-C004-26212BA9EAD5}"/>
                </a:ext>
              </a:extLst>
            </p:cNvPr>
            <p:cNvSpPr/>
            <p:nvPr/>
          </p:nvSpPr>
          <p:spPr>
            <a:xfrm>
              <a:off x="9201322" y="5247025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9DEFFC8-EBFE-A719-74D9-73A08A8DBF18}"/>
                </a:ext>
              </a:extLst>
            </p:cNvPr>
            <p:cNvSpPr/>
            <p:nvPr/>
          </p:nvSpPr>
          <p:spPr>
            <a:xfrm>
              <a:off x="9201322" y="4643530"/>
              <a:ext cx="1434873" cy="285547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F3DA584-65CE-2633-0F06-16AFAD16BE9B}"/>
                </a:ext>
              </a:extLst>
            </p:cNvPr>
            <p:cNvSpPr/>
            <p:nvPr/>
          </p:nvSpPr>
          <p:spPr>
            <a:xfrm>
              <a:off x="9579672" y="5247025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D2F49D9-65A6-2198-D7E6-D2F4D51B4BDE}"/>
                </a:ext>
              </a:extLst>
            </p:cNvPr>
            <p:cNvSpPr/>
            <p:nvPr/>
          </p:nvSpPr>
          <p:spPr>
            <a:xfrm>
              <a:off x="9958022" y="5247025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8350A8C-B773-7FFE-4B9F-6F0665A53F1E}"/>
                </a:ext>
              </a:extLst>
            </p:cNvPr>
            <p:cNvSpPr/>
            <p:nvPr/>
          </p:nvSpPr>
          <p:spPr>
            <a:xfrm>
              <a:off x="10336371" y="5248492"/>
              <a:ext cx="299824" cy="474915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511BC3C-F413-841C-F38F-78F8609A2458}"/>
                </a:ext>
              </a:extLst>
            </p:cNvPr>
            <p:cNvSpPr/>
            <p:nvPr/>
          </p:nvSpPr>
          <p:spPr>
            <a:xfrm>
              <a:off x="6931225" y="3927035"/>
              <a:ext cx="1434873" cy="285547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2CF327-087C-0924-3084-08C3F717EFA6}"/>
                </a:ext>
              </a:extLst>
            </p:cNvPr>
            <p:cNvSpPr/>
            <p:nvPr/>
          </p:nvSpPr>
          <p:spPr>
            <a:xfrm>
              <a:off x="9201322" y="3927035"/>
              <a:ext cx="1434873" cy="285547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D795EFB-2337-2670-745C-09923AB713B9}"/>
                </a:ext>
              </a:extLst>
            </p:cNvPr>
            <p:cNvSpPr/>
            <p:nvPr/>
          </p:nvSpPr>
          <p:spPr>
            <a:xfrm>
              <a:off x="3825901" y="2506883"/>
              <a:ext cx="1434873" cy="512765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3295676-C2E2-53A1-61B3-1BE3D9794DFB}"/>
                </a:ext>
              </a:extLst>
            </p:cNvPr>
            <p:cNvSpPr/>
            <p:nvPr/>
          </p:nvSpPr>
          <p:spPr>
            <a:xfrm>
              <a:off x="6970488" y="2506883"/>
              <a:ext cx="1434873" cy="512765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AF2D454-FC2C-819E-6195-736F99FBEF5F}"/>
                </a:ext>
              </a:extLst>
            </p:cNvPr>
            <p:cNvCxnSpPr>
              <a:cxnSpLocks/>
              <a:stCxn id="17" idx="2"/>
              <a:endCxn id="8" idx="0"/>
            </p:cNvCxnSpPr>
            <p:nvPr/>
          </p:nvCxnSpPr>
          <p:spPr>
            <a:xfrm>
              <a:off x="2273241" y="4220439"/>
              <a:ext cx="0" cy="43094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F6E3FF5-0B1B-5B65-7602-766601D762D8}"/>
                </a:ext>
              </a:extLst>
            </p:cNvPr>
            <p:cNvCxnSpPr>
              <a:cxnSpLocks/>
              <a:stCxn id="18" idx="2"/>
              <a:endCxn id="13" idx="0"/>
            </p:cNvCxnSpPr>
            <p:nvPr/>
          </p:nvCxnSpPr>
          <p:spPr>
            <a:xfrm>
              <a:off x="4543338" y="4220439"/>
              <a:ext cx="0" cy="43094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DF8EF15-2BA3-FBB5-3AFD-71E6B22E6D50}"/>
                </a:ext>
              </a:extLst>
            </p:cNvPr>
            <p:cNvCxnSpPr>
              <a:cxnSpLocks/>
              <a:stCxn id="17" idx="2"/>
              <a:endCxn id="13" idx="0"/>
            </p:cNvCxnSpPr>
            <p:nvPr/>
          </p:nvCxnSpPr>
          <p:spPr>
            <a:xfrm>
              <a:off x="2273241" y="4220439"/>
              <a:ext cx="2270097" cy="43094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AC96318-3798-71C8-634D-E24F23747F3B}"/>
                </a:ext>
              </a:extLst>
            </p:cNvPr>
            <p:cNvCxnSpPr>
              <a:cxnSpLocks/>
              <a:stCxn id="8" idx="0"/>
              <a:endCxn id="18" idx="2"/>
            </p:cNvCxnSpPr>
            <p:nvPr/>
          </p:nvCxnSpPr>
          <p:spPr>
            <a:xfrm flipV="1">
              <a:off x="2273241" y="4220439"/>
              <a:ext cx="2270097" cy="43094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B973100-8FE4-F414-D76E-E2EC690C20EF}"/>
                </a:ext>
              </a:extLst>
            </p:cNvPr>
            <p:cNvCxnSpPr>
              <a:cxnSpLocks/>
              <a:stCxn id="20" idx="0"/>
              <a:endCxn id="30" idx="2"/>
            </p:cNvCxnSpPr>
            <p:nvPr/>
          </p:nvCxnSpPr>
          <p:spPr>
            <a:xfrm flipV="1">
              <a:off x="7648661" y="4212582"/>
              <a:ext cx="2270097" cy="43094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3C8330E-7F59-EE1E-7045-4BB006854FB3}"/>
                </a:ext>
              </a:extLst>
            </p:cNvPr>
            <p:cNvCxnSpPr>
              <a:cxnSpLocks/>
              <a:stCxn id="25" idx="0"/>
              <a:endCxn id="29" idx="2"/>
            </p:cNvCxnSpPr>
            <p:nvPr/>
          </p:nvCxnSpPr>
          <p:spPr>
            <a:xfrm flipH="1" flipV="1">
              <a:off x="7648661" y="4212582"/>
              <a:ext cx="2270097" cy="43094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D747BB8-ADB6-E11D-1637-1F5463BC30F0}"/>
                </a:ext>
              </a:extLst>
            </p:cNvPr>
            <p:cNvCxnSpPr>
              <a:cxnSpLocks/>
              <a:stCxn id="20" idx="0"/>
              <a:endCxn id="29" idx="2"/>
            </p:cNvCxnSpPr>
            <p:nvPr/>
          </p:nvCxnSpPr>
          <p:spPr>
            <a:xfrm flipV="1">
              <a:off x="7648661" y="4212582"/>
              <a:ext cx="0" cy="43094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0DF46F0-B498-A4A0-4A54-FA0D2719F371}"/>
                </a:ext>
              </a:extLst>
            </p:cNvPr>
            <p:cNvCxnSpPr>
              <a:cxnSpLocks/>
              <a:stCxn id="25" idx="0"/>
              <a:endCxn id="30" idx="2"/>
            </p:cNvCxnSpPr>
            <p:nvPr/>
          </p:nvCxnSpPr>
          <p:spPr>
            <a:xfrm flipV="1">
              <a:off x="9918758" y="4212582"/>
              <a:ext cx="0" cy="43094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D0ABCCB-1B28-B6F3-FD78-2BA1E7D9B389}"/>
                </a:ext>
              </a:extLst>
            </p:cNvPr>
            <p:cNvCxnSpPr>
              <a:cxnSpLocks/>
              <a:stCxn id="30" idx="0"/>
              <a:endCxn id="32" idx="2"/>
            </p:cNvCxnSpPr>
            <p:nvPr/>
          </p:nvCxnSpPr>
          <p:spPr>
            <a:xfrm flipH="1" flipV="1">
              <a:off x="7687925" y="3019648"/>
              <a:ext cx="2230834" cy="90738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7CB2C96-DEAA-B881-53F1-2685500B78AA}"/>
                </a:ext>
              </a:extLst>
            </p:cNvPr>
            <p:cNvCxnSpPr>
              <a:cxnSpLocks/>
              <a:stCxn id="29" idx="0"/>
              <a:endCxn id="32" idx="2"/>
            </p:cNvCxnSpPr>
            <p:nvPr/>
          </p:nvCxnSpPr>
          <p:spPr>
            <a:xfrm flipV="1">
              <a:off x="7648661" y="3019648"/>
              <a:ext cx="39262" cy="90738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669647F-91CD-8DD2-8296-2654CC6E66BC}"/>
                </a:ext>
              </a:extLst>
            </p:cNvPr>
            <p:cNvCxnSpPr>
              <a:cxnSpLocks/>
              <a:stCxn id="18" idx="0"/>
              <a:endCxn id="32" idx="2"/>
            </p:cNvCxnSpPr>
            <p:nvPr/>
          </p:nvCxnSpPr>
          <p:spPr>
            <a:xfrm flipV="1">
              <a:off x="4543338" y="3019648"/>
              <a:ext cx="3144587" cy="91524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74D7D47-38B7-68C9-CF6F-B61762B15842}"/>
                </a:ext>
              </a:extLst>
            </p:cNvPr>
            <p:cNvCxnSpPr>
              <a:cxnSpLocks/>
              <a:stCxn id="17" idx="0"/>
              <a:endCxn id="32" idx="2"/>
            </p:cNvCxnSpPr>
            <p:nvPr/>
          </p:nvCxnSpPr>
          <p:spPr>
            <a:xfrm flipV="1">
              <a:off x="2273241" y="3019648"/>
              <a:ext cx="5414684" cy="91524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7C12F23-DD19-06AA-4D64-B70BF47DED75}"/>
                </a:ext>
              </a:extLst>
            </p:cNvPr>
            <p:cNvCxnSpPr>
              <a:cxnSpLocks/>
              <a:stCxn id="17" idx="0"/>
              <a:endCxn id="31" idx="2"/>
            </p:cNvCxnSpPr>
            <p:nvPr/>
          </p:nvCxnSpPr>
          <p:spPr>
            <a:xfrm flipV="1">
              <a:off x="2273241" y="3019648"/>
              <a:ext cx="2270097" cy="91524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AE9EA61-235A-9573-EBED-930576A47176}"/>
                </a:ext>
              </a:extLst>
            </p:cNvPr>
            <p:cNvCxnSpPr>
              <a:cxnSpLocks/>
              <a:stCxn id="18" idx="0"/>
              <a:endCxn id="31" idx="2"/>
            </p:cNvCxnSpPr>
            <p:nvPr/>
          </p:nvCxnSpPr>
          <p:spPr>
            <a:xfrm flipV="1">
              <a:off x="4543338" y="3019648"/>
              <a:ext cx="0" cy="91524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F25FFC8-AB75-8F52-49B8-F70F60C427B2}"/>
                </a:ext>
              </a:extLst>
            </p:cNvPr>
            <p:cNvCxnSpPr>
              <a:cxnSpLocks/>
              <a:stCxn id="29" idx="0"/>
              <a:endCxn id="31" idx="2"/>
            </p:cNvCxnSpPr>
            <p:nvPr/>
          </p:nvCxnSpPr>
          <p:spPr>
            <a:xfrm flipH="1" flipV="1">
              <a:off x="4543338" y="3019648"/>
              <a:ext cx="3105324" cy="90738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E898538-949D-5B1B-40E7-8192EBA05DDB}"/>
                </a:ext>
              </a:extLst>
            </p:cNvPr>
            <p:cNvCxnSpPr>
              <a:cxnSpLocks/>
              <a:stCxn id="30" idx="0"/>
              <a:endCxn id="31" idx="2"/>
            </p:cNvCxnSpPr>
            <p:nvPr/>
          </p:nvCxnSpPr>
          <p:spPr>
            <a:xfrm flipH="1" flipV="1">
              <a:off x="4543338" y="3019648"/>
              <a:ext cx="5375421" cy="90738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1AEB84A-EFD5-8EC1-268A-981EAE31F5ED}"/>
                </a:ext>
              </a:extLst>
            </p:cNvPr>
            <p:cNvCxnSpPr>
              <a:cxnSpLocks/>
              <a:stCxn id="8" idx="2"/>
              <a:endCxn id="5" idx="0"/>
            </p:cNvCxnSpPr>
            <p:nvPr/>
          </p:nvCxnSpPr>
          <p:spPr>
            <a:xfrm flipH="1">
              <a:off x="1705716" y="4936934"/>
              <a:ext cx="567524" cy="3179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24FD4AA-D2E9-6972-B752-58EDF277F0C9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 flipH="1">
              <a:off x="2084066" y="4936934"/>
              <a:ext cx="189174" cy="3179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19BDC14-593F-3934-8DA4-509931AD2F9E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2273241" y="4936934"/>
              <a:ext cx="189174" cy="3179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21585F2-72C7-23C5-9A73-B0A707D3C550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>
              <a:off x="2273241" y="4936934"/>
              <a:ext cx="567524" cy="31941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A73CA5C-64AC-BA79-A47F-43F1B7A17023}"/>
                </a:ext>
              </a:extLst>
            </p:cNvPr>
            <p:cNvCxnSpPr>
              <a:cxnSpLocks/>
              <a:stCxn id="13" idx="2"/>
              <a:endCxn id="12" idx="0"/>
            </p:cNvCxnSpPr>
            <p:nvPr/>
          </p:nvCxnSpPr>
          <p:spPr>
            <a:xfrm flipH="1">
              <a:off x="3975813" y="4936934"/>
              <a:ext cx="567524" cy="3179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7ACAC3D-E797-CB54-7814-67FC7DE40EE1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 flipH="1">
              <a:off x="4354162" y="4936934"/>
              <a:ext cx="189174" cy="3179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A9D0639-658C-D0B2-E770-F6D9D6B24EDF}"/>
                </a:ext>
              </a:extLst>
            </p:cNvPr>
            <p:cNvCxnSpPr>
              <a:cxnSpLocks/>
              <a:stCxn id="13" idx="2"/>
              <a:endCxn id="15" idx="0"/>
            </p:cNvCxnSpPr>
            <p:nvPr/>
          </p:nvCxnSpPr>
          <p:spPr>
            <a:xfrm>
              <a:off x="4543338" y="4936934"/>
              <a:ext cx="189174" cy="3179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32BB7BC-ADFC-3954-9BFB-A70BF9BAA905}"/>
                </a:ext>
              </a:extLst>
            </p:cNvPr>
            <p:cNvCxnSpPr>
              <a:cxnSpLocks/>
              <a:stCxn id="13" idx="2"/>
              <a:endCxn id="16" idx="0"/>
            </p:cNvCxnSpPr>
            <p:nvPr/>
          </p:nvCxnSpPr>
          <p:spPr>
            <a:xfrm>
              <a:off x="4543338" y="4936934"/>
              <a:ext cx="567524" cy="31941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DB8FD27-DD9D-623D-491B-312287614408}"/>
                </a:ext>
              </a:extLst>
            </p:cNvPr>
            <p:cNvCxnSpPr>
              <a:cxnSpLocks/>
              <a:stCxn id="20" idx="2"/>
              <a:endCxn id="19" idx="0"/>
            </p:cNvCxnSpPr>
            <p:nvPr/>
          </p:nvCxnSpPr>
          <p:spPr>
            <a:xfrm flipH="1">
              <a:off x="7081137" y="4929076"/>
              <a:ext cx="567524" cy="3179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D785925-F95B-6A39-0A62-DA3350EC398C}"/>
                </a:ext>
              </a:extLst>
            </p:cNvPr>
            <p:cNvCxnSpPr>
              <a:cxnSpLocks/>
              <a:stCxn id="20" idx="2"/>
              <a:endCxn id="21" idx="0"/>
            </p:cNvCxnSpPr>
            <p:nvPr/>
          </p:nvCxnSpPr>
          <p:spPr>
            <a:xfrm flipH="1">
              <a:off x="7459487" y="4929076"/>
              <a:ext cx="189174" cy="3179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CA44F1B-ADD6-DED1-55D6-EA45DF7BA1D9}"/>
                </a:ext>
              </a:extLst>
            </p:cNvPr>
            <p:cNvCxnSpPr>
              <a:cxnSpLocks/>
              <a:stCxn id="20" idx="2"/>
              <a:endCxn id="22" idx="0"/>
            </p:cNvCxnSpPr>
            <p:nvPr/>
          </p:nvCxnSpPr>
          <p:spPr>
            <a:xfrm>
              <a:off x="7648661" y="4929076"/>
              <a:ext cx="189174" cy="3179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6F140A9-FF2B-EB7B-EE2B-FFECB4B794E3}"/>
                </a:ext>
              </a:extLst>
            </p:cNvPr>
            <p:cNvCxnSpPr>
              <a:cxnSpLocks/>
              <a:stCxn id="20" idx="2"/>
              <a:endCxn id="23" idx="0"/>
            </p:cNvCxnSpPr>
            <p:nvPr/>
          </p:nvCxnSpPr>
          <p:spPr>
            <a:xfrm>
              <a:off x="7648661" y="4929076"/>
              <a:ext cx="567524" cy="31941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EB45E15-7C3F-F542-FC56-FAEB2EDD9980}"/>
                </a:ext>
              </a:extLst>
            </p:cNvPr>
            <p:cNvCxnSpPr>
              <a:cxnSpLocks/>
              <a:stCxn id="25" idx="2"/>
              <a:endCxn id="24" idx="0"/>
            </p:cNvCxnSpPr>
            <p:nvPr/>
          </p:nvCxnSpPr>
          <p:spPr>
            <a:xfrm flipH="1">
              <a:off x="9351234" y="4929076"/>
              <a:ext cx="567524" cy="3179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A698D65-A087-A12A-6349-F85055F71A30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 flipH="1">
              <a:off x="9729584" y="4929076"/>
              <a:ext cx="189174" cy="3179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9581020-A60E-8C51-6E89-3E2A8D9B3904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>
              <a:off x="9918758" y="4929076"/>
              <a:ext cx="189174" cy="3179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DA4579A-7C29-3981-7426-CC41EA1A3052}"/>
                </a:ext>
              </a:extLst>
            </p:cNvPr>
            <p:cNvCxnSpPr>
              <a:cxnSpLocks/>
              <a:stCxn id="25" idx="2"/>
              <a:endCxn id="28" idx="0"/>
            </p:cNvCxnSpPr>
            <p:nvPr/>
          </p:nvCxnSpPr>
          <p:spPr>
            <a:xfrm>
              <a:off x="9918758" y="4929076"/>
              <a:ext cx="567524" cy="31941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5829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Idea – In-network Packet Reordering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13</a:t>
            </a:fld>
            <a:endParaRPr lang="en-US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E2869C70-8709-579C-C057-600B4798CF55}"/>
              </a:ext>
            </a:extLst>
          </p:cNvPr>
          <p:cNvSpPr txBox="1">
            <a:spLocks/>
          </p:cNvSpPr>
          <p:nvPr/>
        </p:nvSpPr>
        <p:spPr>
          <a:xfrm>
            <a:off x="393908" y="1338556"/>
            <a:ext cx="11630452" cy="6120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</a:t>
            </a:r>
            <a:r>
              <a:rPr lang="en-US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Restore”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packets back in-order before reaching to end-hosts</a:t>
            </a:r>
            <a:endParaRPr lang="en-US" sz="2000" i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4E3972-D732-7CBB-230D-1A1237464962}"/>
              </a:ext>
            </a:extLst>
          </p:cNvPr>
          <p:cNvSpPr/>
          <p:nvPr/>
        </p:nvSpPr>
        <p:spPr>
          <a:xfrm>
            <a:off x="1555804" y="4651387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6C3EE1-EB96-9FA4-36AB-732EEED64403}"/>
              </a:ext>
            </a:extLst>
          </p:cNvPr>
          <p:cNvSpPr/>
          <p:nvPr/>
        </p:nvSpPr>
        <p:spPr>
          <a:xfrm>
            <a:off x="3825901" y="4651387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926775-011D-AF2A-2560-25353D08C5A6}"/>
              </a:ext>
            </a:extLst>
          </p:cNvPr>
          <p:cNvSpPr/>
          <p:nvPr/>
        </p:nvSpPr>
        <p:spPr>
          <a:xfrm>
            <a:off x="1555804" y="3934891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C22648-21A4-85B7-0886-DF0A8A1C46DE}"/>
              </a:ext>
            </a:extLst>
          </p:cNvPr>
          <p:cNvSpPr/>
          <p:nvPr/>
        </p:nvSpPr>
        <p:spPr>
          <a:xfrm>
            <a:off x="3825901" y="3934891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9CC7CC-B4AF-F349-F552-E3BABF136BD1}"/>
              </a:ext>
            </a:extLst>
          </p:cNvPr>
          <p:cNvSpPr/>
          <p:nvPr/>
        </p:nvSpPr>
        <p:spPr>
          <a:xfrm>
            <a:off x="6931225" y="4643530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DEFFC8-EBFE-A719-74D9-73A08A8DBF18}"/>
              </a:ext>
            </a:extLst>
          </p:cNvPr>
          <p:cNvSpPr/>
          <p:nvPr/>
        </p:nvSpPr>
        <p:spPr>
          <a:xfrm>
            <a:off x="9201322" y="4643530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11BC3C-F413-841C-F38F-78F8609A2458}"/>
              </a:ext>
            </a:extLst>
          </p:cNvPr>
          <p:cNvSpPr/>
          <p:nvPr/>
        </p:nvSpPr>
        <p:spPr>
          <a:xfrm>
            <a:off x="6931225" y="3927035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2CF327-087C-0924-3084-08C3F717EFA6}"/>
              </a:ext>
            </a:extLst>
          </p:cNvPr>
          <p:cNvSpPr/>
          <p:nvPr/>
        </p:nvSpPr>
        <p:spPr>
          <a:xfrm>
            <a:off x="9201322" y="3927035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795EFB-2337-2670-745C-09923AB713B9}"/>
              </a:ext>
            </a:extLst>
          </p:cNvPr>
          <p:cNvSpPr/>
          <p:nvPr/>
        </p:nvSpPr>
        <p:spPr>
          <a:xfrm>
            <a:off x="3825901" y="2506883"/>
            <a:ext cx="1434873" cy="512765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295676-C2E2-53A1-61B3-1BE3D9794DFB}"/>
              </a:ext>
            </a:extLst>
          </p:cNvPr>
          <p:cNvSpPr/>
          <p:nvPr/>
        </p:nvSpPr>
        <p:spPr>
          <a:xfrm>
            <a:off x="6970488" y="2506883"/>
            <a:ext cx="1434873" cy="512765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AF2D454-FC2C-819E-6195-736F99FBEF5F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>
          <a:xfrm>
            <a:off x="2273241" y="4220439"/>
            <a:ext cx="0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F6E3FF5-0B1B-5B65-7602-766601D762D8}"/>
              </a:ext>
            </a:extLst>
          </p:cNvPr>
          <p:cNvCxnSpPr>
            <a:cxnSpLocks/>
            <a:stCxn id="18" idx="2"/>
            <a:endCxn id="13" idx="0"/>
          </p:cNvCxnSpPr>
          <p:nvPr/>
        </p:nvCxnSpPr>
        <p:spPr>
          <a:xfrm>
            <a:off x="4543338" y="4220439"/>
            <a:ext cx="0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F8EF15-2BA3-FBB5-3AFD-71E6B22E6D50}"/>
              </a:ext>
            </a:extLst>
          </p:cNvPr>
          <p:cNvCxnSpPr>
            <a:cxnSpLocks/>
            <a:stCxn id="17" idx="2"/>
            <a:endCxn id="13" idx="0"/>
          </p:cNvCxnSpPr>
          <p:nvPr/>
        </p:nvCxnSpPr>
        <p:spPr>
          <a:xfrm>
            <a:off x="2273241" y="4220439"/>
            <a:ext cx="2270097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AC96318-3798-71C8-634D-E24F23747F3B}"/>
              </a:ext>
            </a:extLst>
          </p:cNvPr>
          <p:cNvCxnSpPr>
            <a:cxnSpLocks/>
            <a:stCxn id="8" idx="0"/>
            <a:endCxn id="18" idx="2"/>
          </p:cNvCxnSpPr>
          <p:nvPr/>
        </p:nvCxnSpPr>
        <p:spPr>
          <a:xfrm flipV="1">
            <a:off x="2273241" y="4220439"/>
            <a:ext cx="2270097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B973100-8FE4-F414-D76E-E2EC690C20EF}"/>
              </a:ext>
            </a:extLst>
          </p:cNvPr>
          <p:cNvCxnSpPr>
            <a:cxnSpLocks/>
            <a:stCxn id="20" idx="0"/>
            <a:endCxn id="30" idx="2"/>
          </p:cNvCxnSpPr>
          <p:nvPr/>
        </p:nvCxnSpPr>
        <p:spPr>
          <a:xfrm flipV="1">
            <a:off x="7648661" y="4212582"/>
            <a:ext cx="2270097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3C8330E-7F59-EE1E-7045-4BB006854FB3}"/>
              </a:ext>
            </a:extLst>
          </p:cNvPr>
          <p:cNvCxnSpPr>
            <a:cxnSpLocks/>
            <a:stCxn id="25" idx="0"/>
            <a:endCxn id="29" idx="2"/>
          </p:cNvCxnSpPr>
          <p:nvPr/>
        </p:nvCxnSpPr>
        <p:spPr>
          <a:xfrm flipH="1" flipV="1">
            <a:off x="7648661" y="4212582"/>
            <a:ext cx="2270097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747BB8-ADB6-E11D-1637-1F5463BC30F0}"/>
              </a:ext>
            </a:extLst>
          </p:cNvPr>
          <p:cNvCxnSpPr>
            <a:cxnSpLocks/>
            <a:stCxn id="20" idx="0"/>
            <a:endCxn id="29" idx="2"/>
          </p:cNvCxnSpPr>
          <p:nvPr/>
        </p:nvCxnSpPr>
        <p:spPr>
          <a:xfrm flipV="1">
            <a:off x="7648661" y="4212582"/>
            <a:ext cx="0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0DF46F0-B498-A4A0-4A54-FA0D2719F371}"/>
              </a:ext>
            </a:extLst>
          </p:cNvPr>
          <p:cNvCxnSpPr>
            <a:cxnSpLocks/>
            <a:stCxn id="25" idx="0"/>
            <a:endCxn id="30" idx="2"/>
          </p:cNvCxnSpPr>
          <p:nvPr/>
        </p:nvCxnSpPr>
        <p:spPr>
          <a:xfrm flipV="1">
            <a:off x="9918758" y="4212582"/>
            <a:ext cx="0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D0ABCCB-1B28-B6F3-FD78-2BA1E7D9B389}"/>
              </a:ext>
            </a:extLst>
          </p:cNvPr>
          <p:cNvCxnSpPr>
            <a:cxnSpLocks/>
            <a:stCxn id="30" idx="0"/>
            <a:endCxn id="32" idx="2"/>
          </p:cNvCxnSpPr>
          <p:nvPr/>
        </p:nvCxnSpPr>
        <p:spPr>
          <a:xfrm flipH="1" flipV="1">
            <a:off x="7687925" y="3019648"/>
            <a:ext cx="2230834" cy="9073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7CB2C96-DEAA-B881-53F1-2685500B78AA}"/>
              </a:ext>
            </a:extLst>
          </p:cNvPr>
          <p:cNvCxnSpPr>
            <a:cxnSpLocks/>
            <a:stCxn id="29" idx="0"/>
            <a:endCxn id="32" idx="2"/>
          </p:cNvCxnSpPr>
          <p:nvPr/>
        </p:nvCxnSpPr>
        <p:spPr>
          <a:xfrm flipV="1">
            <a:off x="7648661" y="3019648"/>
            <a:ext cx="39262" cy="9073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669647F-91CD-8DD2-8296-2654CC6E66BC}"/>
              </a:ext>
            </a:extLst>
          </p:cNvPr>
          <p:cNvCxnSpPr>
            <a:cxnSpLocks/>
            <a:stCxn id="18" idx="0"/>
            <a:endCxn id="32" idx="2"/>
          </p:cNvCxnSpPr>
          <p:nvPr/>
        </p:nvCxnSpPr>
        <p:spPr>
          <a:xfrm flipV="1">
            <a:off x="4543338" y="3019648"/>
            <a:ext cx="3144587" cy="91524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4D7D47-38B7-68C9-CF6F-B61762B15842}"/>
              </a:ext>
            </a:extLst>
          </p:cNvPr>
          <p:cNvCxnSpPr>
            <a:cxnSpLocks/>
            <a:stCxn id="17" idx="0"/>
            <a:endCxn id="32" idx="2"/>
          </p:cNvCxnSpPr>
          <p:nvPr/>
        </p:nvCxnSpPr>
        <p:spPr>
          <a:xfrm flipV="1">
            <a:off x="2273241" y="3019648"/>
            <a:ext cx="5414684" cy="91524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7C12F23-DD19-06AA-4D64-B70BF47DED75}"/>
              </a:ext>
            </a:extLst>
          </p:cNvPr>
          <p:cNvCxnSpPr>
            <a:cxnSpLocks/>
            <a:stCxn id="17" idx="0"/>
            <a:endCxn id="31" idx="2"/>
          </p:cNvCxnSpPr>
          <p:nvPr/>
        </p:nvCxnSpPr>
        <p:spPr>
          <a:xfrm flipV="1">
            <a:off x="2273241" y="3019648"/>
            <a:ext cx="2270097" cy="91524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AE9EA61-235A-9573-EBED-930576A47176}"/>
              </a:ext>
            </a:extLst>
          </p:cNvPr>
          <p:cNvCxnSpPr>
            <a:cxnSpLocks/>
            <a:stCxn id="18" idx="0"/>
            <a:endCxn id="31" idx="2"/>
          </p:cNvCxnSpPr>
          <p:nvPr/>
        </p:nvCxnSpPr>
        <p:spPr>
          <a:xfrm flipV="1">
            <a:off x="4543338" y="3019648"/>
            <a:ext cx="0" cy="91524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F25FFC8-AB75-8F52-49B8-F70F60C427B2}"/>
              </a:ext>
            </a:extLst>
          </p:cNvPr>
          <p:cNvCxnSpPr>
            <a:cxnSpLocks/>
            <a:stCxn id="29" idx="0"/>
            <a:endCxn id="31" idx="2"/>
          </p:cNvCxnSpPr>
          <p:nvPr/>
        </p:nvCxnSpPr>
        <p:spPr>
          <a:xfrm flipH="1" flipV="1">
            <a:off x="4543338" y="3019648"/>
            <a:ext cx="3105324" cy="9073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E898538-949D-5B1B-40E7-8192EBA05DDB}"/>
              </a:ext>
            </a:extLst>
          </p:cNvPr>
          <p:cNvCxnSpPr>
            <a:cxnSpLocks/>
            <a:stCxn id="30" idx="0"/>
            <a:endCxn id="31" idx="2"/>
          </p:cNvCxnSpPr>
          <p:nvPr/>
        </p:nvCxnSpPr>
        <p:spPr>
          <a:xfrm flipH="1" flipV="1">
            <a:off x="4543338" y="3019648"/>
            <a:ext cx="5375421" cy="9073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1AEB84A-EFD5-8EC1-268A-981EAE31F5ED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 flipH="1">
            <a:off x="1705716" y="4936934"/>
            <a:ext cx="56752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24FD4AA-D2E9-6972-B752-58EDF277F0C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2084066" y="4936934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19BDC14-593F-3934-8DA4-509931AD2F9E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2273241" y="4936934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21585F2-72C7-23C5-9A73-B0A707D3C550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2273241" y="4936934"/>
            <a:ext cx="567524" cy="31941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A73CA5C-64AC-BA79-A47F-43F1B7A17023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 flipH="1">
            <a:off x="3975813" y="4936934"/>
            <a:ext cx="56752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7ACAC3D-E797-CB54-7814-67FC7DE40EE1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4354162" y="4936934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A9D0639-658C-D0B2-E770-F6D9D6B24EDF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4543338" y="4936934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32BB7BC-ADFC-3954-9BFB-A70BF9BAA905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4543338" y="4936934"/>
            <a:ext cx="567524" cy="31941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DB8FD27-DD9D-623D-491B-312287614408}"/>
              </a:ext>
            </a:extLst>
          </p:cNvPr>
          <p:cNvCxnSpPr>
            <a:cxnSpLocks/>
            <a:stCxn id="20" idx="2"/>
            <a:endCxn id="19" idx="0"/>
          </p:cNvCxnSpPr>
          <p:nvPr/>
        </p:nvCxnSpPr>
        <p:spPr>
          <a:xfrm flipH="1">
            <a:off x="7081137" y="4929076"/>
            <a:ext cx="56752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D785925-F95B-6A39-0A62-DA3350EC398C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flipH="1">
            <a:off x="7459487" y="4929076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CA44F1B-ADD6-DED1-55D6-EA45DF7BA1D9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>
            <a:off x="7648661" y="4929076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6F140A9-FF2B-EB7B-EE2B-FFECB4B794E3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7648661" y="4929076"/>
            <a:ext cx="567524" cy="31941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EB45E15-7C3F-F542-FC56-FAEB2EDD9980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 flipH="1">
            <a:off x="9351234" y="4929076"/>
            <a:ext cx="56752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A698D65-A087-A12A-6349-F85055F71A30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9729584" y="4929076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9581020-A60E-8C51-6E89-3E2A8D9B3904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9918758" y="4929076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DA4579A-7C29-3981-7426-CC41EA1A3052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>
            <a:off x="9918758" y="4929076"/>
            <a:ext cx="567524" cy="31941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47F8246-66B8-CB2F-05C6-5AA51B30C7E3}"/>
              </a:ext>
            </a:extLst>
          </p:cNvPr>
          <p:cNvSpPr/>
          <p:nvPr/>
        </p:nvSpPr>
        <p:spPr>
          <a:xfrm>
            <a:off x="1555804" y="5254883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2C68AE-1BE2-5433-25BB-81A62BB60E6F}"/>
              </a:ext>
            </a:extLst>
          </p:cNvPr>
          <p:cNvSpPr/>
          <p:nvPr/>
        </p:nvSpPr>
        <p:spPr>
          <a:xfrm>
            <a:off x="1934154" y="5254883"/>
            <a:ext cx="299824" cy="47491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07D3D9-C384-A015-92BD-6C553FF0CBEB}"/>
              </a:ext>
            </a:extLst>
          </p:cNvPr>
          <p:cNvSpPr/>
          <p:nvPr/>
        </p:nvSpPr>
        <p:spPr>
          <a:xfrm>
            <a:off x="2312503" y="5254883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A75CBE-ABC3-68FC-EEA4-A2C8FA585BF9}"/>
              </a:ext>
            </a:extLst>
          </p:cNvPr>
          <p:cNvSpPr/>
          <p:nvPr/>
        </p:nvSpPr>
        <p:spPr>
          <a:xfrm>
            <a:off x="2690853" y="5256349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D7F7E3-F8DC-D0DE-50D1-9E7C6B458AA4}"/>
              </a:ext>
            </a:extLst>
          </p:cNvPr>
          <p:cNvSpPr/>
          <p:nvPr/>
        </p:nvSpPr>
        <p:spPr>
          <a:xfrm>
            <a:off x="3825901" y="5254883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2F2530-F170-318D-07BC-AD56977D1C8D}"/>
              </a:ext>
            </a:extLst>
          </p:cNvPr>
          <p:cNvSpPr/>
          <p:nvPr/>
        </p:nvSpPr>
        <p:spPr>
          <a:xfrm>
            <a:off x="4204251" y="5254883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91BFF1-F9D7-1869-0771-622FBBDA010C}"/>
              </a:ext>
            </a:extLst>
          </p:cNvPr>
          <p:cNvSpPr/>
          <p:nvPr/>
        </p:nvSpPr>
        <p:spPr>
          <a:xfrm>
            <a:off x="4582600" y="5254883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CFD764-D6BF-614B-83AD-896F03DF9222}"/>
              </a:ext>
            </a:extLst>
          </p:cNvPr>
          <p:cNvSpPr/>
          <p:nvPr/>
        </p:nvSpPr>
        <p:spPr>
          <a:xfrm>
            <a:off x="4960950" y="5256349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6CD975-C4D4-D045-7B31-D987FF28FA5D}"/>
              </a:ext>
            </a:extLst>
          </p:cNvPr>
          <p:cNvSpPr/>
          <p:nvPr/>
        </p:nvSpPr>
        <p:spPr>
          <a:xfrm>
            <a:off x="6931225" y="5247025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E20961-9273-F4B4-6AAB-BD96BCD9A740}"/>
              </a:ext>
            </a:extLst>
          </p:cNvPr>
          <p:cNvSpPr/>
          <p:nvPr/>
        </p:nvSpPr>
        <p:spPr>
          <a:xfrm>
            <a:off x="7309575" y="5247025"/>
            <a:ext cx="299824" cy="47491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B8BEAD-A69E-8DBD-0C59-290E68F3AF8B}"/>
              </a:ext>
            </a:extLst>
          </p:cNvPr>
          <p:cNvSpPr/>
          <p:nvPr/>
        </p:nvSpPr>
        <p:spPr>
          <a:xfrm>
            <a:off x="7687925" y="5247025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D65AC5-6968-042C-2954-A1C2C6048788}"/>
              </a:ext>
            </a:extLst>
          </p:cNvPr>
          <p:cNvSpPr/>
          <p:nvPr/>
        </p:nvSpPr>
        <p:spPr>
          <a:xfrm>
            <a:off x="8066273" y="5248492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BBE6F4-34F3-8E16-C004-26212BA9EAD5}"/>
              </a:ext>
            </a:extLst>
          </p:cNvPr>
          <p:cNvSpPr/>
          <p:nvPr/>
        </p:nvSpPr>
        <p:spPr>
          <a:xfrm>
            <a:off x="9201322" y="5247025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3DA584-65CE-2633-0F06-16AFAD16BE9B}"/>
              </a:ext>
            </a:extLst>
          </p:cNvPr>
          <p:cNvSpPr/>
          <p:nvPr/>
        </p:nvSpPr>
        <p:spPr>
          <a:xfrm>
            <a:off x="9579672" y="5247025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2F49D9-65A6-2198-D7E6-D2F4D51B4BDE}"/>
              </a:ext>
            </a:extLst>
          </p:cNvPr>
          <p:cNvSpPr/>
          <p:nvPr/>
        </p:nvSpPr>
        <p:spPr>
          <a:xfrm>
            <a:off x="9958022" y="5247025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350A8C-B773-7FFE-4B9F-6F0665A53F1E}"/>
              </a:ext>
            </a:extLst>
          </p:cNvPr>
          <p:cNvSpPr/>
          <p:nvPr/>
        </p:nvSpPr>
        <p:spPr>
          <a:xfrm>
            <a:off x="10336371" y="5248492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2B9B64-1471-2D04-4501-D06A133404F7}"/>
              </a:ext>
            </a:extLst>
          </p:cNvPr>
          <p:cNvSpPr/>
          <p:nvPr/>
        </p:nvSpPr>
        <p:spPr>
          <a:xfrm>
            <a:off x="393908" y="2280516"/>
            <a:ext cx="11630452" cy="280753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651AC1-66AB-BD5B-7650-4AC0BABC6C01}"/>
              </a:ext>
            </a:extLst>
          </p:cNvPr>
          <p:cNvSpPr/>
          <p:nvPr/>
        </p:nvSpPr>
        <p:spPr>
          <a:xfrm>
            <a:off x="1103980" y="5021202"/>
            <a:ext cx="10037379" cy="881826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1FEA570-BC62-5A1B-85C4-69B93754F095}"/>
              </a:ext>
            </a:extLst>
          </p:cNvPr>
          <p:cNvGrpSpPr/>
          <p:nvPr/>
        </p:nvGrpSpPr>
        <p:grpSpPr>
          <a:xfrm>
            <a:off x="876343" y="2551659"/>
            <a:ext cx="10439314" cy="1707603"/>
            <a:chOff x="761684" y="1962086"/>
            <a:chExt cx="10439314" cy="170760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396BA6-6D55-9E22-2704-6B1966FD64DB}"/>
                </a:ext>
              </a:extLst>
            </p:cNvPr>
            <p:cNvGrpSpPr/>
            <p:nvPr/>
          </p:nvGrpSpPr>
          <p:grpSpPr>
            <a:xfrm>
              <a:off x="761684" y="2228780"/>
              <a:ext cx="10439314" cy="1440909"/>
              <a:chOff x="761684" y="2228780"/>
              <a:chExt cx="10439314" cy="1440909"/>
            </a:xfrm>
          </p:grpSpPr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F1E2F6AF-052F-2D8B-0BF9-2CE5E5490E1F}"/>
                  </a:ext>
                </a:extLst>
              </p:cNvPr>
              <p:cNvSpPr/>
              <p:nvPr/>
            </p:nvSpPr>
            <p:spPr>
              <a:xfrm>
                <a:off x="761684" y="2228780"/>
                <a:ext cx="10439314" cy="1440909"/>
              </a:xfrm>
              <a:prstGeom prst="roundRect">
                <a:avLst>
                  <a:gd name="adj" fmla="val 24315"/>
                </a:avLst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>
                  <a:latin typeface="Fira Sans" panose="020B0503050000020004" pitchFamily="34" charset="0"/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9405B394-49D2-D343-20F0-76398B6436DF}"/>
                  </a:ext>
                </a:extLst>
              </p:cNvPr>
              <p:cNvGrpSpPr/>
              <p:nvPr/>
            </p:nvGrpSpPr>
            <p:grpSpPr>
              <a:xfrm>
                <a:off x="1851747" y="2404997"/>
                <a:ext cx="8232761" cy="1228283"/>
                <a:chOff x="1884806" y="2664698"/>
                <a:chExt cx="8232761" cy="1228283"/>
              </a:xfrm>
            </p:grpSpPr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5DF2818E-2608-A0E5-5CF3-5E0E10F1C6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84806" y="2748851"/>
                  <a:ext cx="1053650" cy="1053650"/>
                </a:xfrm>
                <a:prstGeom prst="rect">
                  <a:avLst/>
                </a:prstGeom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AC4FAFC-937F-D82C-5833-19A2A88C8926}"/>
                    </a:ext>
                  </a:extLst>
                </p:cNvPr>
                <p:cNvSpPr txBox="1"/>
                <p:nvPr/>
              </p:nvSpPr>
              <p:spPr>
                <a:xfrm>
                  <a:off x="3130280" y="2898524"/>
                  <a:ext cx="2315057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KR" sz="240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RDMA’s </a:t>
                  </a:r>
                  <a:br>
                    <a:rPr lang="en-KR" sz="240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</a:br>
                  <a:r>
                    <a:rPr lang="en-KR" sz="240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host OS bypass</a:t>
                  </a:r>
                </a:p>
              </p:txBody>
            </p:sp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0CAC5BE-88A2-4B1A-26CF-0AE7332E70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5400000">
                  <a:off x="6014399" y="2664698"/>
                  <a:ext cx="1228283" cy="1228283"/>
                </a:xfrm>
                <a:prstGeom prst="rect">
                  <a:avLst/>
                </a:prstGeom>
              </p:spPr>
            </p:pic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586A302F-B7F8-9A2F-841E-4F09D61C2CBD}"/>
                    </a:ext>
                  </a:extLst>
                </p:cNvPr>
                <p:cNvSpPr txBox="1"/>
                <p:nvPr/>
              </p:nvSpPr>
              <p:spPr>
                <a:xfrm>
                  <a:off x="7982046" y="2892945"/>
                  <a:ext cx="2135521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KR" sz="240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Fixed-function</a:t>
                  </a:r>
                  <a:br>
                    <a:rPr lang="en-KR" sz="240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</a:br>
                  <a:r>
                    <a:rPr lang="en-KR" sz="240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RDMA HW</a:t>
                  </a: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7E895DA-54A3-46A6-4345-0EBC7E4D84E5}"/>
                    </a:ext>
                  </a:extLst>
                </p:cNvPr>
                <p:cNvSpPr txBox="1"/>
                <p:nvPr/>
              </p:nvSpPr>
              <p:spPr>
                <a:xfrm>
                  <a:off x="6381606" y="3091786"/>
                  <a:ext cx="832279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KR" b="1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RDMA</a:t>
                  </a:r>
                </a:p>
              </p:txBody>
            </p:sp>
          </p:grpSp>
        </p:grp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6F3500A1-6BA8-1731-C866-60F6A2A135B4}"/>
                </a:ext>
              </a:extLst>
            </p:cNvPr>
            <p:cNvSpPr/>
            <p:nvPr/>
          </p:nvSpPr>
          <p:spPr>
            <a:xfrm>
              <a:off x="2851011" y="1962086"/>
              <a:ext cx="6413569" cy="533390"/>
            </a:xfrm>
            <a:prstGeom prst="roundRect">
              <a:avLst>
                <a:gd name="adj" fmla="val 3994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Fira Sans" panose="020B0503050000020004" pitchFamily="34" charset="0"/>
                </a:rPr>
                <a:t>End-host is not a viable option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341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Idea – In-network Packet Reordering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E2869C70-8709-579C-C057-600B4798CF55}"/>
              </a:ext>
            </a:extLst>
          </p:cNvPr>
          <p:cNvSpPr txBox="1">
            <a:spLocks/>
          </p:cNvSpPr>
          <p:nvPr/>
        </p:nvSpPr>
        <p:spPr>
          <a:xfrm>
            <a:off x="393908" y="1338556"/>
            <a:ext cx="11630452" cy="6120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</a:t>
            </a:r>
            <a:r>
              <a:rPr lang="en-US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Restore”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packets back in-order before reaching to end-hosts</a:t>
            </a:r>
            <a:endParaRPr lang="en-US" sz="2000" i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4E3972-D732-7CBB-230D-1A1237464962}"/>
              </a:ext>
            </a:extLst>
          </p:cNvPr>
          <p:cNvSpPr/>
          <p:nvPr/>
        </p:nvSpPr>
        <p:spPr>
          <a:xfrm>
            <a:off x="1555804" y="4651387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6C3EE1-EB96-9FA4-36AB-732EEED64403}"/>
              </a:ext>
            </a:extLst>
          </p:cNvPr>
          <p:cNvSpPr/>
          <p:nvPr/>
        </p:nvSpPr>
        <p:spPr>
          <a:xfrm>
            <a:off x="3825901" y="4651387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926775-011D-AF2A-2560-25353D08C5A6}"/>
              </a:ext>
            </a:extLst>
          </p:cNvPr>
          <p:cNvSpPr/>
          <p:nvPr/>
        </p:nvSpPr>
        <p:spPr>
          <a:xfrm>
            <a:off x="1555804" y="3934891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C22648-21A4-85B7-0886-DF0A8A1C46DE}"/>
              </a:ext>
            </a:extLst>
          </p:cNvPr>
          <p:cNvSpPr/>
          <p:nvPr/>
        </p:nvSpPr>
        <p:spPr>
          <a:xfrm>
            <a:off x="3825901" y="3934891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9CC7CC-B4AF-F349-F552-E3BABF136BD1}"/>
              </a:ext>
            </a:extLst>
          </p:cNvPr>
          <p:cNvSpPr/>
          <p:nvPr/>
        </p:nvSpPr>
        <p:spPr>
          <a:xfrm>
            <a:off x="6931225" y="4643530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DEFFC8-EBFE-A719-74D9-73A08A8DBF18}"/>
              </a:ext>
            </a:extLst>
          </p:cNvPr>
          <p:cNvSpPr/>
          <p:nvPr/>
        </p:nvSpPr>
        <p:spPr>
          <a:xfrm>
            <a:off x="9201322" y="4643530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11BC3C-F413-841C-F38F-78F8609A2458}"/>
              </a:ext>
            </a:extLst>
          </p:cNvPr>
          <p:cNvSpPr/>
          <p:nvPr/>
        </p:nvSpPr>
        <p:spPr>
          <a:xfrm>
            <a:off x="6931225" y="3927035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2CF327-087C-0924-3084-08C3F717EFA6}"/>
              </a:ext>
            </a:extLst>
          </p:cNvPr>
          <p:cNvSpPr/>
          <p:nvPr/>
        </p:nvSpPr>
        <p:spPr>
          <a:xfrm>
            <a:off x="9201322" y="3927035"/>
            <a:ext cx="1434873" cy="285547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795EFB-2337-2670-745C-09923AB713B9}"/>
              </a:ext>
            </a:extLst>
          </p:cNvPr>
          <p:cNvSpPr/>
          <p:nvPr/>
        </p:nvSpPr>
        <p:spPr>
          <a:xfrm>
            <a:off x="3825901" y="2506883"/>
            <a:ext cx="1434873" cy="512765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295676-C2E2-53A1-61B3-1BE3D9794DFB}"/>
              </a:ext>
            </a:extLst>
          </p:cNvPr>
          <p:cNvSpPr/>
          <p:nvPr/>
        </p:nvSpPr>
        <p:spPr>
          <a:xfrm>
            <a:off x="6970488" y="2506883"/>
            <a:ext cx="1434873" cy="512765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AF2D454-FC2C-819E-6195-736F99FBEF5F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>
          <a:xfrm>
            <a:off x="2273241" y="4220439"/>
            <a:ext cx="0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F6E3FF5-0B1B-5B65-7602-766601D762D8}"/>
              </a:ext>
            </a:extLst>
          </p:cNvPr>
          <p:cNvCxnSpPr>
            <a:cxnSpLocks/>
            <a:stCxn id="18" idx="2"/>
            <a:endCxn id="13" idx="0"/>
          </p:cNvCxnSpPr>
          <p:nvPr/>
        </p:nvCxnSpPr>
        <p:spPr>
          <a:xfrm>
            <a:off x="4543338" y="4220439"/>
            <a:ext cx="0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F8EF15-2BA3-FBB5-3AFD-71E6B22E6D50}"/>
              </a:ext>
            </a:extLst>
          </p:cNvPr>
          <p:cNvCxnSpPr>
            <a:cxnSpLocks/>
            <a:stCxn id="17" idx="2"/>
            <a:endCxn id="13" idx="0"/>
          </p:cNvCxnSpPr>
          <p:nvPr/>
        </p:nvCxnSpPr>
        <p:spPr>
          <a:xfrm>
            <a:off x="2273241" y="4220439"/>
            <a:ext cx="2270097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AC96318-3798-71C8-634D-E24F23747F3B}"/>
              </a:ext>
            </a:extLst>
          </p:cNvPr>
          <p:cNvCxnSpPr>
            <a:cxnSpLocks/>
            <a:stCxn id="8" idx="0"/>
            <a:endCxn id="18" idx="2"/>
          </p:cNvCxnSpPr>
          <p:nvPr/>
        </p:nvCxnSpPr>
        <p:spPr>
          <a:xfrm flipV="1">
            <a:off x="2273241" y="4220439"/>
            <a:ext cx="2270097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B973100-8FE4-F414-D76E-E2EC690C20EF}"/>
              </a:ext>
            </a:extLst>
          </p:cNvPr>
          <p:cNvCxnSpPr>
            <a:cxnSpLocks/>
            <a:stCxn id="20" idx="0"/>
            <a:endCxn id="30" idx="2"/>
          </p:cNvCxnSpPr>
          <p:nvPr/>
        </p:nvCxnSpPr>
        <p:spPr>
          <a:xfrm flipV="1">
            <a:off x="7648661" y="4212582"/>
            <a:ext cx="2270097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3C8330E-7F59-EE1E-7045-4BB006854FB3}"/>
              </a:ext>
            </a:extLst>
          </p:cNvPr>
          <p:cNvCxnSpPr>
            <a:cxnSpLocks/>
            <a:stCxn id="25" idx="0"/>
            <a:endCxn id="29" idx="2"/>
          </p:cNvCxnSpPr>
          <p:nvPr/>
        </p:nvCxnSpPr>
        <p:spPr>
          <a:xfrm flipH="1" flipV="1">
            <a:off x="7648661" y="4212582"/>
            <a:ext cx="2270097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747BB8-ADB6-E11D-1637-1F5463BC30F0}"/>
              </a:ext>
            </a:extLst>
          </p:cNvPr>
          <p:cNvCxnSpPr>
            <a:cxnSpLocks/>
            <a:stCxn id="20" idx="0"/>
            <a:endCxn id="29" idx="2"/>
          </p:cNvCxnSpPr>
          <p:nvPr/>
        </p:nvCxnSpPr>
        <p:spPr>
          <a:xfrm flipV="1">
            <a:off x="7648661" y="4212582"/>
            <a:ext cx="0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0DF46F0-B498-A4A0-4A54-FA0D2719F371}"/>
              </a:ext>
            </a:extLst>
          </p:cNvPr>
          <p:cNvCxnSpPr>
            <a:cxnSpLocks/>
            <a:stCxn id="25" idx="0"/>
            <a:endCxn id="30" idx="2"/>
          </p:cNvCxnSpPr>
          <p:nvPr/>
        </p:nvCxnSpPr>
        <p:spPr>
          <a:xfrm flipV="1">
            <a:off x="9918758" y="4212582"/>
            <a:ext cx="0" cy="4309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D0ABCCB-1B28-B6F3-FD78-2BA1E7D9B389}"/>
              </a:ext>
            </a:extLst>
          </p:cNvPr>
          <p:cNvCxnSpPr>
            <a:cxnSpLocks/>
            <a:stCxn id="30" idx="0"/>
            <a:endCxn id="32" idx="2"/>
          </p:cNvCxnSpPr>
          <p:nvPr/>
        </p:nvCxnSpPr>
        <p:spPr>
          <a:xfrm flipH="1" flipV="1">
            <a:off x="7687925" y="3019648"/>
            <a:ext cx="2230834" cy="9073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7CB2C96-DEAA-B881-53F1-2685500B78AA}"/>
              </a:ext>
            </a:extLst>
          </p:cNvPr>
          <p:cNvCxnSpPr>
            <a:cxnSpLocks/>
            <a:stCxn id="29" idx="0"/>
            <a:endCxn id="32" idx="2"/>
          </p:cNvCxnSpPr>
          <p:nvPr/>
        </p:nvCxnSpPr>
        <p:spPr>
          <a:xfrm flipV="1">
            <a:off x="7648661" y="3019648"/>
            <a:ext cx="39262" cy="9073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669647F-91CD-8DD2-8296-2654CC6E66BC}"/>
              </a:ext>
            </a:extLst>
          </p:cNvPr>
          <p:cNvCxnSpPr>
            <a:cxnSpLocks/>
            <a:stCxn id="18" idx="0"/>
            <a:endCxn id="32" idx="2"/>
          </p:cNvCxnSpPr>
          <p:nvPr/>
        </p:nvCxnSpPr>
        <p:spPr>
          <a:xfrm flipV="1">
            <a:off x="4543338" y="3019648"/>
            <a:ext cx="3144587" cy="91524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4D7D47-38B7-68C9-CF6F-B61762B15842}"/>
              </a:ext>
            </a:extLst>
          </p:cNvPr>
          <p:cNvCxnSpPr>
            <a:cxnSpLocks/>
            <a:stCxn id="17" idx="0"/>
            <a:endCxn id="32" idx="2"/>
          </p:cNvCxnSpPr>
          <p:nvPr/>
        </p:nvCxnSpPr>
        <p:spPr>
          <a:xfrm flipV="1">
            <a:off x="2273241" y="3019648"/>
            <a:ext cx="5414684" cy="91524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7C12F23-DD19-06AA-4D64-B70BF47DED75}"/>
              </a:ext>
            </a:extLst>
          </p:cNvPr>
          <p:cNvCxnSpPr>
            <a:cxnSpLocks/>
            <a:stCxn id="17" idx="0"/>
            <a:endCxn id="31" idx="2"/>
          </p:cNvCxnSpPr>
          <p:nvPr/>
        </p:nvCxnSpPr>
        <p:spPr>
          <a:xfrm flipV="1">
            <a:off x="2273241" y="3019648"/>
            <a:ext cx="2270097" cy="91524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AE9EA61-235A-9573-EBED-930576A47176}"/>
              </a:ext>
            </a:extLst>
          </p:cNvPr>
          <p:cNvCxnSpPr>
            <a:cxnSpLocks/>
            <a:stCxn id="18" idx="0"/>
            <a:endCxn id="31" idx="2"/>
          </p:cNvCxnSpPr>
          <p:nvPr/>
        </p:nvCxnSpPr>
        <p:spPr>
          <a:xfrm flipV="1">
            <a:off x="4543338" y="3019648"/>
            <a:ext cx="0" cy="91524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F25FFC8-AB75-8F52-49B8-F70F60C427B2}"/>
              </a:ext>
            </a:extLst>
          </p:cNvPr>
          <p:cNvCxnSpPr>
            <a:cxnSpLocks/>
            <a:stCxn id="29" idx="0"/>
            <a:endCxn id="31" idx="2"/>
          </p:cNvCxnSpPr>
          <p:nvPr/>
        </p:nvCxnSpPr>
        <p:spPr>
          <a:xfrm flipH="1" flipV="1">
            <a:off x="4543338" y="3019648"/>
            <a:ext cx="3105324" cy="9073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E898538-949D-5B1B-40E7-8192EBA05DDB}"/>
              </a:ext>
            </a:extLst>
          </p:cNvPr>
          <p:cNvCxnSpPr>
            <a:cxnSpLocks/>
            <a:stCxn id="30" idx="0"/>
            <a:endCxn id="31" idx="2"/>
          </p:cNvCxnSpPr>
          <p:nvPr/>
        </p:nvCxnSpPr>
        <p:spPr>
          <a:xfrm flipH="1" flipV="1">
            <a:off x="4543338" y="3019648"/>
            <a:ext cx="5375421" cy="9073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1AEB84A-EFD5-8EC1-268A-981EAE31F5ED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 flipH="1">
            <a:off x="1705716" y="4936934"/>
            <a:ext cx="56752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24FD4AA-D2E9-6972-B752-58EDF277F0C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2084066" y="4936934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19BDC14-593F-3934-8DA4-509931AD2F9E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2273241" y="4936934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21585F2-72C7-23C5-9A73-B0A707D3C550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2273241" y="4936934"/>
            <a:ext cx="567524" cy="31941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A73CA5C-64AC-BA79-A47F-43F1B7A17023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 flipH="1">
            <a:off x="3975813" y="4936934"/>
            <a:ext cx="56752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7ACAC3D-E797-CB54-7814-67FC7DE40EE1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4354162" y="4936934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A9D0639-658C-D0B2-E770-F6D9D6B24EDF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4543338" y="4936934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32BB7BC-ADFC-3954-9BFB-A70BF9BAA905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4543338" y="4936934"/>
            <a:ext cx="567524" cy="31941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DB8FD27-DD9D-623D-491B-312287614408}"/>
              </a:ext>
            </a:extLst>
          </p:cNvPr>
          <p:cNvCxnSpPr>
            <a:cxnSpLocks/>
            <a:stCxn id="20" idx="2"/>
            <a:endCxn id="19" idx="0"/>
          </p:cNvCxnSpPr>
          <p:nvPr/>
        </p:nvCxnSpPr>
        <p:spPr>
          <a:xfrm flipH="1">
            <a:off x="7081137" y="4929076"/>
            <a:ext cx="56752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D785925-F95B-6A39-0A62-DA3350EC398C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flipH="1">
            <a:off x="7459487" y="4929076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CA44F1B-ADD6-DED1-55D6-EA45DF7BA1D9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>
            <a:off x="7648661" y="4929076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6F140A9-FF2B-EB7B-EE2B-FFECB4B794E3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7648661" y="4929076"/>
            <a:ext cx="567524" cy="31941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EB45E15-7C3F-F542-FC56-FAEB2EDD9980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 flipH="1">
            <a:off x="9351234" y="4929076"/>
            <a:ext cx="56752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A698D65-A087-A12A-6349-F85055F71A30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9729584" y="4929076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9581020-A60E-8C51-6E89-3E2A8D9B3904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9918758" y="4929076"/>
            <a:ext cx="189174" cy="3179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DA4579A-7C29-3981-7426-CC41EA1A3052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>
            <a:off x="9918758" y="4929076"/>
            <a:ext cx="567524" cy="31941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47F8246-66B8-CB2F-05C6-5AA51B30C7E3}"/>
              </a:ext>
            </a:extLst>
          </p:cNvPr>
          <p:cNvSpPr/>
          <p:nvPr/>
        </p:nvSpPr>
        <p:spPr>
          <a:xfrm>
            <a:off x="1555804" y="5254883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2C68AE-1BE2-5433-25BB-81A62BB60E6F}"/>
              </a:ext>
            </a:extLst>
          </p:cNvPr>
          <p:cNvSpPr/>
          <p:nvPr/>
        </p:nvSpPr>
        <p:spPr>
          <a:xfrm>
            <a:off x="1934154" y="5254883"/>
            <a:ext cx="299824" cy="47491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07D3D9-C384-A015-92BD-6C553FF0CBEB}"/>
              </a:ext>
            </a:extLst>
          </p:cNvPr>
          <p:cNvSpPr/>
          <p:nvPr/>
        </p:nvSpPr>
        <p:spPr>
          <a:xfrm>
            <a:off x="2312503" y="5254883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A75CBE-ABC3-68FC-EEA4-A2C8FA585BF9}"/>
              </a:ext>
            </a:extLst>
          </p:cNvPr>
          <p:cNvSpPr/>
          <p:nvPr/>
        </p:nvSpPr>
        <p:spPr>
          <a:xfrm>
            <a:off x="2690853" y="5256349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D7F7E3-F8DC-D0DE-50D1-9E7C6B458AA4}"/>
              </a:ext>
            </a:extLst>
          </p:cNvPr>
          <p:cNvSpPr/>
          <p:nvPr/>
        </p:nvSpPr>
        <p:spPr>
          <a:xfrm>
            <a:off x="3825901" y="5254883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2F2530-F170-318D-07BC-AD56977D1C8D}"/>
              </a:ext>
            </a:extLst>
          </p:cNvPr>
          <p:cNvSpPr/>
          <p:nvPr/>
        </p:nvSpPr>
        <p:spPr>
          <a:xfrm>
            <a:off x="4204251" y="5254883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91BFF1-F9D7-1869-0771-622FBBDA010C}"/>
              </a:ext>
            </a:extLst>
          </p:cNvPr>
          <p:cNvSpPr/>
          <p:nvPr/>
        </p:nvSpPr>
        <p:spPr>
          <a:xfrm>
            <a:off x="4582600" y="5254883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CFD764-D6BF-614B-83AD-896F03DF9222}"/>
              </a:ext>
            </a:extLst>
          </p:cNvPr>
          <p:cNvSpPr/>
          <p:nvPr/>
        </p:nvSpPr>
        <p:spPr>
          <a:xfrm>
            <a:off x="4960950" y="5256349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6CD975-C4D4-D045-7B31-D987FF28FA5D}"/>
              </a:ext>
            </a:extLst>
          </p:cNvPr>
          <p:cNvSpPr/>
          <p:nvPr/>
        </p:nvSpPr>
        <p:spPr>
          <a:xfrm>
            <a:off x="6931225" y="5247025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E20961-9273-F4B4-6AAB-BD96BCD9A740}"/>
              </a:ext>
            </a:extLst>
          </p:cNvPr>
          <p:cNvSpPr/>
          <p:nvPr/>
        </p:nvSpPr>
        <p:spPr>
          <a:xfrm>
            <a:off x="7309575" y="5247025"/>
            <a:ext cx="299824" cy="47491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B8BEAD-A69E-8DBD-0C59-290E68F3AF8B}"/>
              </a:ext>
            </a:extLst>
          </p:cNvPr>
          <p:cNvSpPr/>
          <p:nvPr/>
        </p:nvSpPr>
        <p:spPr>
          <a:xfrm>
            <a:off x="7687925" y="5247025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D65AC5-6968-042C-2954-A1C2C6048788}"/>
              </a:ext>
            </a:extLst>
          </p:cNvPr>
          <p:cNvSpPr/>
          <p:nvPr/>
        </p:nvSpPr>
        <p:spPr>
          <a:xfrm>
            <a:off x="8066273" y="5248492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BBE6F4-34F3-8E16-C004-26212BA9EAD5}"/>
              </a:ext>
            </a:extLst>
          </p:cNvPr>
          <p:cNvSpPr/>
          <p:nvPr/>
        </p:nvSpPr>
        <p:spPr>
          <a:xfrm>
            <a:off x="9201322" y="5247025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3DA584-65CE-2633-0F06-16AFAD16BE9B}"/>
              </a:ext>
            </a:extLst>
          </p:cNvPr>
          <p:cNvSpPr/>
          <p:nvPr/>
        </p:nvSpPr>
        <p:spPr>
          <a:xfrm>
            <a:off x="9579672" y="5247025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2F49D9-65A6-2198-D7E6-D2F4D51B4BDE}"/>
              </a:ext>
            </a:extLst>
          </p:cNvPr>
          <p:cNvSpPr/>
          <p:nvPr/>
        </p:nvSpPr>
        <p:spPr>
          <a:xfrm>
            <a:off x="9958022" y="5247025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350A8C-B773-7FFE-4B9F-6F0665A53F1E}"/>
              </a:ext>
            </a:extLst>
          </p:cNvPr>
          <p:cNvSpPr/>
          <p:nvPr/>
        </p:nvSpPr>
        <p:spPr>
          <a:xfrm>
            <a:off x="10336371" y="5248492"/>
            <a:ext cx="299824" cy="47491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2B9B64-1471-2D04-4501-D06A133404F7}"/>
              </a:ext>
            </a:extLst>
          </p:cNvPr>
          <p:cNvSpPr/>
          <p:nvPr/>
        </p:nvSpPr>
        <p:spPr>
          <a:xfrm>
            <a:off x="174571" y="5198078"/>
            <a:ext cx="11842857" cy="970023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651AC1-66AB-BD5B-7650-4AC0BABC6C01}"/>
              </a:ext>
            </a:extLst>
          </p:cNvPr>
          <p:cNvSpPr/>
          <p:nvPr/>
        </p:nvSpPr>
        <p:spPr>
          <a:xfrm>
            <a:off x="1103980" y="2341103"/>
            <a:ext cx="10037379" cy="2776223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14</a:t>
            </a:fld>
            <a:endParaRPr lang="en-US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FAE6F66-B9FA-745D-DF59-4DE845C838A8}"/>
              </a:ext>
            </a:extLst>
          </p:cNvPr>
          <p:cNvGrpSpPr/>
          <p:nvPr/>
        </p:nvGrpSpPr>
        <p:grpSpPr>
          <a:xfrm>
            <a:off x="1662403" y="1859785"/>
            <a:ext cx="8673968" cy="2266529"/>
            <a:chOff x="1928953" y="6018941"/>
            <a:chExt cx="8673968" cy="2266529"/>
          </a:xfrm>
        </p:grpSpPr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CD3C1EBA-E492-BF76-FFF8-90D7E0CC31B0}"/>
                </a:ext>
              </a:extLst>
            </p:cNvPr>
            <p:cNvSpPr/>
            <p:nvPr/>
          </p:nvSpPr>
          <p:spPr>
            <a:xfrm>
              <a:off x="2200702" y="6287912"/>
              <a:ext cx="8402219" cy="1997558"/>
            </a:xfrm>
            <a:prstGeom prst="roundRect">
              <a:avLst>
                <a:gd name="adj" fmla="val 24315"/>
              </a:avLst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latin typeface="Fira Sans" panose="020B0503050000020004" pitchFamily="34" charset="0"/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DCE63E0-C537-9DBD-31AF-001D2C0F6A57}"/>
                </a:ext>
              </a:extLst>
            </p:cNvPr>
            <p:cNvGrpSpPr/>
            <p:nvPr/>
          </p:nvGrpSpPr>
          <p:grpSpPr>
            <a:xfrm>
              <a:off x="1928953" y="6716088"/>
              <a:ext cx="8334094" cy="1537792"/>
              <a:chOff x="1962012" y="4970957"/>
              <a:chExt cx="8334094" cy="1537792"/>
            </a:xfrm>
          </p:grpSpPr>
          <p:pic>
            <p:nvPicPr>
              <p:cNvPr id="64" name="Picture 63" descr="Image result for wedge 100 bf">
                <a:extLst>
                  <a:ext uri="{FF2B5EF4-FFF2-40B4-BE49-F238E27FC236}">
                    <a16:creationId xmlns:a16="http://schemas.microsoft.com/office/drawing/2014/main" id="{1D63FC58-A214-4B4B-3BC6-27FBED429C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98729" y="5041229"/>
                <a:ext cx="2446608" cy="6596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6" name="Snip Single Corner of Rectangle 1274">
                <a:extLst>
                  <a:ext uri="{FF2B5EF4-FFF2-40B4-BE49-F238E27FC236}">
                    <a16:creationId xmlns:a16="http://schemas.microsoft.com/office/drawing/2014/main" id="{552C1BD7-51F9-F50F-070D-5543D883C1DD}"/>
                  </a:ext>
                </a:extLst>
              </p:cNvPr>
              <p:cNvSpPr/>
              <p:nvPr/>
            </p:nvSpPr>
            <p:spPr>
              <a:xfrm>
                <a:off x="6096000" y="5714096"/>
                <a:ext cx="4200106" cy="626043"/>
              </a:xfrm>
              <a:prstGeom prst="snip1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>
                  <a:rot lat="0" lon="0" rev="0"/>
                </a:lightRig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i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Queue </a:t>
                </a:r>
                <a:r>
                  <a:rPr lang="en-US" sz="2200" b="1" i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pause/ resume </a:t>
                </a:r>
                <a:r>
                  <a:rPr lang="en-US" sz="2200" i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capability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A5F2C1D-7449-FE90-ACB2-F865C9BEB751}"/>
                  </a:ext>
                </a:extLst>
              </p:cNvPr>
              <p:cNvSpPr txBox="1"/>
              <p:nvPr/>
            </p:nvSpPr>
            <p:spPr>
              <a:xfrm>
                <a:off x="1962012" y="5677752"/>
                <a:ext cx="427718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400" b="1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Intel Tofino2 </a:t>
                </a:r>
                <a:br>
                  <a:rPr lang="en-SG" sz="2400" b="1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</a:br>
                <a:r>
                  <a:rPr lang="en-SG" sz="2400" b="1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Programmable Switch</a:t>
                </a:r>
              </a:p>
            </p:txBody>
          </p:sp>
          <p:sp>
            <p:nvSpPr>
              <p:cNvPr id="81" name="Snip Single Corner of Rectangle 1274">
                <a:extLst>
                  <a:ext uri="{FF2B5EF4-FFF2-40B4-BE49-F238E27FC236}">
                    <a16:creationId xmlns:a16="http://schemas.microsoft.com/office/drawing/2014/main" id="{F3B69B2C-EC94-B4BF-9115-8583CC5582DC}"/>
                  </a:ext>
                </a:extLst>
              </p:cNvPr>
              <p:cNvSpPr/>
              <p:nvPr/>
            </p:nvSpPr>
            <p:spPr>
              <a:xfrm>
                <a:off x="6096000" y="4970957"/>
                <a:ext cx="4200106" cy="626043"/>
              </a:xfrm>
              <a:prstGeom prst="snip1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>
                  <a:rot lat="0" lon="0" rev="0"/>
                </a:lightRig>
              </a:scene3d>
              <a:sp3d>
                <a:bevelT prst="relaxedInset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i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~128 </a:t>
                </a:r>
                <a:r>
                  <a:rPr lang="en-US" sz="2200" b="1" i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FIFO</a:t>
                </a:r>
                <a:r>
                  <a:rPr lang="en-US" sz="2200" i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queues per </a:t>
                </a:r>
                <a:r>
                  <a:rPr lang="en-US" sz="2200" i="1" dirty="0" err="1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Eg.</a:t>
                </a:r>
                <a:r>
                  <a:rPr lang="en-US" sz="2200" i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port</a:t>
                </a:r>
              </a:p>
            </p:txBody>
          </p:sp>
        </p:grp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792064FF-9E22-337E-76A8-7FC7EE9B831A}"/>
                </a:ext>
              </a:extLst>
            </p:cNvPr>
            <p:cNvSpPr/>
            <p:nvPr/>
          </p:nvSpPr>
          <p:spPr>
            <a:xfrm>
              <a:off x="3126218" y="6018941"/>
              <a:ext cx="6359182" cy="533390"/>
            </a:xfrm>
            <a:prstGeom prst="roundRect">
              <a:avLst>
                <a:gd name="adj" fmla="val 399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Fira Sans" panose="020B0503050000020004" pitchFamily="34" charset="0"/>
                </a:rPr>
                <a:t>Opportunity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4515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Challenges in Packet Reordering on Switches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15</a:t>
            </a:fld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E83FC479-64E8-BEAB-8259-579734037597}"/>
              </a:ext>
            </a:extLst>
          </p:cNvPr>
          <p:cNvSpPr txBox="1">
            <a:spLocks/>
          </p:cNvSpPr>
          <p:nvPr/>
        </p:nvSpPr>
        <p:spPr>
          <a:xfrm>
            <a:off x="472439" y="1362869"/>
            <a:ext cx="11533513" cy="5259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Hard</a:t>
            </a: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 restore “</a:t>
            </a:r>
            <a:r>
              <a:rPr lang="en-US" sz="28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arbitrary</a:t>
            </a: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 packet orders on switche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s:</a:t>
            </a:r>
            <a:endParaRPr lang="en-US" sz="2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FF6B68B-824E-4ABD-02AA-34106995B4BE}"/>
              </a:ext>
            </a:extLst>
          </p:cNvPr>
          <p:cNvSpPr/>
          <p:nvPr/>
        </p:nvSpPr>
        <p:spPr>
          <a:xfrm>
            <a:off x="5812617" y="3867695"/>
            <a:ext cx="357447" cy="357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3D58167-A2B1-89AE-CFD6-FB74FA7254D4}"/>
              </a:ext>
            </a:extLst>
          </p:cNvPr>
          <p:cNvSpPr/>
          <p:nvPr/>
        </p:nvSpPr>
        <p:spPr>
          <a:xfrm>
            <a:off x="5341432" y="3867694"/>
            <a:ext cx="357447" cy="35744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3B5BD32-5014-3F44-37CF-013FFE12B6F7}"/>
              </a:ext>
            </a:extLst>
          </p:cNvPr>
          <p:cNvSpPr/>
          <p:nvPr/>
        </p:nvSpPr>
        <p:spPr>
          <a:xfrm>
            <a:off x="4870247" y="3867694"/>
            <a:ext cx="357447" cy="35744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7A33BAD-B7CD-114B-9161-FFB19882AB0B}"/>
              </a:ext>
            </a:extLst>
          </p:cNvPr>
          <p:cNvSpPr/>
          <p:nvPr/>
        </p:nvSpPr>
        <p:spPr>
          <a:xfrm>
            <a:off x="4425459" y="3867694"/>
            <a:ext cx="357447" cy="35744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0D36B08-F464-BB9B-4897-1BC0EFD4070D}"/>
              </a:ext>
            </a:extLst>
          </p:cNvPr>
          <p:cNvCxnSpPr/>
          <p:nvPr/>
        </p:nvCxnSpPr>
        <p:spPr>
          <a:xfrm>
            <a:off x="4259185" y="4423254"/>
            <a:ext cx="1299817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4BCF8E1-1FEB-24EB-3726-266A74C61E48}"/>
              </a:ext>
            </a:extLst>
          </p:cNvPr>
          <p:cNvGrpSpPr/>
          <p:nvPr/>
        </p:nvGrpSpPr>
        <p:grpSpPr>
          <a:xfrm>
            <a:off x="6986645" y="3969323"/>
            <a:ext cx="1374060" cy="466606"/>
            <a:chOff x="9152238" y="2843659"/>
            <a:chExt cx="986012" cy="277750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FEEA63D-E6D8-5ECC-E4C8-0740FE2BFBC9}"/>
                </a:ext>
              </a:extLst>
            </p:cNvPr>
            <p:cNvCxnSpPr/>
            <p:nvPr/>
          </p:nvCxnSpPr>
          <p:spPr>
            <a:xfrm>
              <a:off x="9152238" y="2843659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2AB9079-E949-8DD3-CC04-81961D4052DF}"/>
                </a:ext>
              </a:extLst>
            </p:cNvPr>
            <p:cNvCxnSpPr/>
            <p:nvPr/>
          </p:nvCxnSpPr>
          <p:spPr>
            <a:xfrm>
              <a:off x="9152238" y="3113864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2C42428-BC82-9B5B-C6CA-3697D9F7B117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43659"/>
              <a:ext cx="0" cy="2777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9550833F-A77A-0020-1F43-4DF7CD9F0E80}"/>
              </a:ext>
            </a:extLst>
          </p:cNvPr>
          <p:cNvSpPr txBox="1"/>
          <p:nvPr/>
        </p:nvSpPr>
        <p:spPr>
          <a:xfrm>
            <a:off x="3927577" y="4522199"/>
            <a:ext cx="18165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Next SEQ = 1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05689A8-8039-29EE-B13E-00482116774F}"/>
              </a:ext>
            </a:extLst>
          </p:cNvPr>
          <p:cNvGrpSpPr/>
          <p:nvPr/>
        </p:nvGrpSpPr>
        <p:grpSpPr>
          <a:xfrm>
            <a:off x="6986645" y="4560073"/>
            <a:ext cx="1374060" cy="466606"/>
            <a:chOff x="9152238" y="2843659"/>
            <a:chExt cx="986012" cy="277750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0C5C587-E02E-0E44-D992-77FAE348A772}"/>
                </a:ext>
              </a:extLst>
            </p:cNvPr>
            <p:cNvCxnSpPr/>
            <p:nvPr/>
          </p:nvCxnSpPr>
          <p:spPr>
            <a:xfrm>
              <a:off x="9152238" y="2843659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CE5C0C3-5FA8-2B3A-E900-A8C4176F4744}"/>
                </a:ext>
              </a:extLst>
            </p:cNvPr>
            <p:cNvCxnSpPr/>
            <p:nvPr/>
          </p:nvCxnSpPr>
          <p:spPr>
            <a:xfrm>
              <a:off x="9152238" y="3113864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69D0BC0-357D-52DB-5E49-D3203D96F885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43659"/>
              <a:ext cx="0" cy="2777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F0B8938-9EC3-23C5-5728-06DE942E3BC3}"/>
              </a:ext>
            </a:extLst>
          </p:cNvPr>
          <p:cNvGrpSpPr/>
          <p:nvPr/>
        </p:nvGrpSpPr>
        <p:grpSpPr>
          <a:xfrm>
            <a:off x="6986645" y="5150823"/>
            <a:ext cx="1374060" cy="466606"/>
            <a:chOff x="9152238" y="2843659"/>
            <a:chExt cx="986012" cy="27775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DEBEF0C-8B11-F619-4AA7-4A690352311C}"/>
                </a:ext>
              </a:extLst>
            </p:cNvPr>
            <p:cNvCxnSpPr/>
            <p:nvPr/>
          </p:nvCxnSpPr>
          <p:spPr>
            <a:xfrm>
              <a:off x="9152238" y="2843659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ACAD04C-059C-12D7-DBC9-DD1825C9F7C7}"/>
                </a:ext>
              </a:extLst>
            </p:cNvPr>
            <p:cNvCxnSpPr/>
            <p:nvPr/>
          </p:nvCxnSpPr>
          <p:spPr>
            <a:xfrm>
              <a:off x="9152238" y="3113864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F244578-2FCB-50F7-D541-3A69C0DFBFB2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43659"/>
              <a:ext cx="0" cy="2777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92443624-DF42-71C7-76ED-683527C01EC8}"/>
              </a:ext>
            </a:extLst>
          </p:cNvPr>
          <p:cNvSpPr/>
          <p:nvPr/>
        </p:nvSpPr>
        <p:spPr>
          <a:xfrm>
            <a:off x="2018805" y="3373516"/>
            <a:ext cx="8300851" cy="2747510"/>
          </a:xfrm>
          <a:prstGeom prst="roundRect">
            <a:avLst>
              <a:gd name="adj" fmla="val 1261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7B229D5C-132C-5C37-501C-682C50DAB4BB}"/>
              </a:ext>
            </a:extLst>
          </p:cNvPr>
          <p:cNvSpPr/>
          <p:nvPr/>
        </p:nvSpPr>
        <p:spPr>
          <a:xfrm>
            <a:off x="2422580" y="3057807"/>
            <a:ext cx="7540815" cy="618484"/>
          </a:xfrm>
          <a:prstGeom prst="roundRect">
            <a:avLst>
              <a:gd name="adj" fmla="val 41868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Costly to store pkts to FIFO queues and flush them</a:t>
            </a:r>
            <a:endParaRPr lang="en-KR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E38E285-9E46-A8C7-55B5-5D0C9960E78E}"/>
              </a:ext>
            </a:extLst>
          </p:cNvPr>
          <p:cNvGrpSpPr/>
          <p:nvPr/>
        </p:nvGrpSpPr>
        <p:grpSpPr>
          <a:xfrm>
            <a:off x="6170064" y="4064377"/>
            <a:ext cx="2677378" cy="1322439"/>
            <a:chOff x="3206764" y="4422187"/>
            <a:chExt cx="2677378" cy="1322439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02CA0B61-E767-34FB-53C5-0A14E7270A04}"/>
                </a:ext>
              </a:extLst>
            </p:cNvPr>
            <p:cNvCxnSpPr>
              <a:cxnSpLocks/>
            </p:cNvCxnSpPr>
            <p:nvPr/>
          </p:nvCxnSpPr>
          <p:spPr>
            <a:xfrm>
              <a:off x="3206764" y="4422187"/>
              <a:ext cx="558526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95731EC-61A3-1B3F-9163-30F6C158C7BB}"/>
                </a:ext>
              </a:extLst>
            </p:cNvPr>
            <p:cNvCxnSpPr>
              <a:cxnSpLocks/>
            </p:cNvCxnSpPr>
            <p:nvPr/>
          </p:nvCxnSpPr>
          <p:spPr>
            <a:xfrm>
              <a:off x="5325616" y="5744626"/>
              <a:ext cx="558526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CC4EAECA-7C25-9090-6119-521362332DB7}"/>
                </a:ext>
              </a:extLst>
            </p:cNvPr>
            <p:cNvCxnSpPr>
              <a:cxnSpLocks/>
            </p:cNvCxnSpPr>
            <p:nvPr/>
          </p:nvCxnSpPr>
          <p:spPr>
            <a:xfrm>
              <a:off x="5325616" y="5135598"/>
              <a:ext cx="558526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598B86A3-76C0-A44B-F85E-32C6DB8F9048}"/>
                </a:ext>
              </a:extLst>
            </p:cNvPr>
            <p:cNvCxnSpPr>
              <a:cxnSpLocks/>
            </p:cNvCxnSpPr>
            <p:nvPr/>
          </p:nvCxnSpPr>
          <p:spPr>
            <a:xfrm>
              <a:off x="5325616" y="4582951"/>
              <a:ext cx="558526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Curved Connector 107">
              <a:extLst>
                <a:ext uri="{FF2B5EF4-FFF2-40B4-BE49-F238E27FC236}">
                  <a16:creationId xmlns:a16="http://schemas.microsoft.com/office/drawing/2014/main" id="{FA1F1B94-BF1C-015D-59BE-F18FB134E3AF}"/>
                </a:ext>
              </a:extLst>
            </p:cNvPr>
            <p:cNvCxnSpPr/>
            <p:nvPr/>
          </p:nvCxnSpPr>
          <p:spPr>
            <a:xfrm>
              <a:off x="3480619" y="4582951"/>
              <a:ext cx="1317523" cy="1161675"/>
            </a:xfrm>
            <a:prstGeom prst="curvedConnector3">
              <a:avLst>
                <a:gd name="adj1" fmla="val 26119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90D851EA-C920-6B4C-1EE8-FC8B55248489}"/>
                </a:ext>
              </a:extLst>
            </p:cNvPr>
            <p:cNvSpPr/>
            <p:nvPr/>
          </p:nvSpPr>
          <p:spPr>
            <a:xfrm>
              <a:off x="4345849" y="5152103"/>
              <a:ext cx="422796" cy="491613"/>
            </a:xfrm>
            <a:custGeom>
              <a:avLst/>
              <a:gdLst>
                <a:gd name="connsiteX0" fmla="*/ 412964 w 422796"/>
                <a:gd name="connsiteY0" fmla="*/ 491613 h 491613"/>
                <a:gd name="connsiteX1" fmla="*/ 9 w 422796"/>
                <a:gd name="connsiteY1" fmla="*/ 255639 h 491613"/>
                <a:gd name="connsiteX2" fmla="*/ 422796 w 422796"/>
                <a:gd name="connsiteY2" fmla="*/ 0 h 49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796" h="491613">
                  <a:moveTo>
                    <a:pt x="412964" y="491613"/>
                  </a:moveTo>
                  <a:cubicBezTo>
                    <a:pt x="205667" y="414593"/>
                    <a:pt x="-1630" y="337574"/>
                    <a:pt x="9" y="255639"/>
                  </a:cubicBezTo>
                  <a:cubicBezTo>
                    <a:pt x="1648" y="173704"/>
                    <a:pt x="212222" y="86852"/>
                    <a:pt x="422796" y="0"/>
                  </a:cubicBez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DF9A6D79-BF0F-B081-3CAE-EF8B47B6301A}"/>
                </a:ext>
              </a:extLst>
            </p:cNvPr>
            <p:cNvSpPr/>
            <p:nvPr/>
          </p:nvSpPr>
          <p:spPr>
            <a:xfrm>
              <a:off x="4302361" y="4579363"/>
              <a:ext cx="422796" cy="491613"/>
            </a:xfrm>
            <a:custGeom>
              <a:avLst/>
              <a:gdLst>
                <a:gd name="connsiteX0" fmla="*/ 412964 w 422796"/>
                <a:gd name="connsiteY0" fmla="*/ 491613 h 491613"/>
                <a:gd name="connsiteX1" fmla="*/ 9 w 422796"/>
                <a:gd name="connsiteY1" fmla="*/ 255639 h 491613"/>
                <a:gd name="connsiteX2" fmla="*/ 422796 w 422796"/>
                <a:gd name="connsiteY2" fmla="*/ 0 h 49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796" h="491613">
                  <a:moveTo>
                    <a:pt x="412964" y="491613"/>
                  </a:moveTo>
                  <a:cubicBezTo>
                    <a:pt x="205667" y="414593"/>
                    <a:pt x="-1630" y="337574"/>
                    <a:pt x="9" y="255639"/>
                  </a:cubicBezTo>
                  <a:cubicBezTo>
                    <a:pt x="1648" y="173704"/>
                    <a:pt x="212222" y="86852"/>
                    <a:pt x="422796" y="0"/>
                  </a:cubicBez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20695B60-EF57-07BB-5B0C-083A5E4C8A69}"/>
              </a:ext>
            </a:extLst>
          </p:cNvPr>
          <p:cNvSpPr txBox="1"/>
          <p:nvPr/>
        </p:nvSpPr>
        <p:spPr>
          <a:xfrm>
            <a:off x="5161646" y="5173085"/>
            <a:ext cx="1755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flush in relays</a:t>
            </a:r>
            <a:endParaRPr lang="en-KR" sz="2000" b="1" i="1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FC975-A060-5F93-9D4F-808D7547340C}"/>
              </a:ext>
            </a:extLst>
          </p:cNvPr>
          <p:cNvSpPr txBox="1"/>
          <p:nvPr/>
        </p:nvSpPr>
        <p:spPr>
          <a:xfrm>
            <a:off x="6938968" y="5645872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FIFO queues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09E7CA-79E9-EB4A-A74E-265EE0F3B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135" y="2840840"/>
            <a:ext cx="1176320" cy="1176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9C3846-EFAF-E5CD-9B50-22AE731C1387}"/>
              </a:ext>
            </a:extLst>
          </p:cNvPr>
          <p:cNvSpPr txBox="1"/>
          <p:nvPr/>
        </p:nvSpPr>
        <p:spPr>
          <a:xfrm>
            <a:off x="710999" y="1841693"/>
            <a:ext cx="7574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Lack of sorting primitives on switching hardware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10AB3C-EBBB-29B7-FA0F-E613A7E3B852}"/>
              </a:ext>
            </a:extLst>
          </p:cNvPr>
          <p:cNvSpPr txBox="1"/>
          <p:nvPr/>
        </p:nvSpPr>
        <p:spPr>
          <a:xfrm>
            <a:off x="1174016" y="2266569"/>
            <a:ext cx="99950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Limited resource and time for storing and flushing packets at line-rate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905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3.7037E-6 L 0.17435 0.02129 " pathEditMode="relative" rAng="0" ptsTypes="AA">
                                      <p:cBhvr>
                                        <p:cTn id="50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11" y="106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6 L 0.03907 3.7037E-6 L 0.21303 0.10486 " pathEditMode="relative" rAng="0" ptsTypes="AAA">
                                      <p:cBhvr>
                                        <p:cTn id="52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51" y="523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0416 L 0.07865 0.00509 L 0.2517 0.19514 " pathEditMode="relative" rAng="0" ptsTypes="AAA">
                                      <p:cBhvr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78" y="9537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7037E-6 L 0.11511 0.00301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55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73" grpId="0"/>
      <p:bldP spid="82" grpId="0" animBg="1"/>
      <p:bldP spid="85" grpId="0" animBg="1"/>
      <p:bldP spid="111" grpId="0"/>
      <p:bldP spid="4" grpId="0"/>
      <p:bldP spid="5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Challenges in Packet Reordering on Switches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16</a:t>
            </a:fld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E83FC479-64E8-BEAB-8259-579734037597}"/>
              </a:ext>
            </a:extLst>
          </p:cNvPr>
          <p:cNvSpPr txBox="1">
            <a:spLocks/>
          </p:cNvSpPr>
          <p:nvPr/>
        </p:nvSpPr>
        <p:spPr>
          <a:xfrm>
            <a:off x="472439" y="1362869"/>
            <a:ext cx="11533513" cy="5259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Hard</a:t>
            </a: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 restore “</a:t>
            </a:r>
            <a:r>
              <a:rPr lang="en-US" sz="28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arbitrary</a:t>
            </a: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 packet orders on switche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s:</a:t>
            </a:r>
            <a:endParaRPr lang="en-US" sz="2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FF6B68B-824E-4ABD-02AA-34106995B4BE}"/>
              </a:ext>
            </a:extLst>
          </p:cNvPr>
          <p:cNvSpPr/>
          <p:nvPr/>
        </p:nvSpPr>
        <p:spPr>
          <a:xfrm>
            <a:off x="7944246" y="4018612"/>
            <a:ext cx="357447" cy="357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3D58167-A2B1-89AE-CFD6-FB74FA7254D4}"/>
              </a:ext>
            </a:extLst>
          </p:cNvPr>
          <p:cNvSpPr/>
          <p:nvPr/>
        </p:nvSpPr>
        <p:spPr>
          <a:xfrm>
            <a:off x="7951789" y="4589401"/>
            <a:ext cx="357447" cy="35744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3B5BD32-5014-3F44-37CF-013FFE12B6F7}"/>
              </a:ext>
            </a:extLst>
          </p:cNvPr>
          <p:cNvSpPr/>
          <p:nvPr/>
        </p:nvSpPr>
        <p:spPr>
          <a:xfrm>
            <a:off x="7944245" y="5188905"/>
            <a:ext cx="357447" cy="35744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7A33BAD-B7CD-114B-9161-FFB19882AB0B}"/>
              </a:ext>
            </a:extLst>
          </p:cNvPr>
          <p:cNvSpPr/>
          <p:nvPr/>
        </p:nvSpPr>
        <p:spPr>
          <a:xfrm>
            <a:off x="5847769" y="3887584"/>
            <a:ext cx="357447" cy="35744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0D36B08-F464-BB9B-4897-1BC0EFD4070D}"/>
              </a:ext>
            </a:extLst>
          </p:cNvPr>
          <p:cNvCxnSpPr/>
          <p:nvPr/>
        </p:nvCxnSpPr>
        <p:spPr>
          <a:xfrm>
            <a:off x="4259185" y="4423254"/>
            <a:ext cx="1299817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4BCF8E1-1FEB-24EB-3726-266A74C61E48}"/>
              </a:ext>
            </a:extLst>
          </p:cNvPr>
          <p:cNvGrpSpPr/>
          <p:nvPr/>
        </p:nvGrpSpPr>
        <p:grpSpPr>
          <a:xfrm>
            <a:off x="6986645" y="3969323"/>
            <a:ext cx="1374060" cy="466606"/>
            <a:chOff x="9152238" y="2843659"/>
            <a:chExt cx="986012" cy="277750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FEEA63D-E6D8-5ECC-E4C8-0740FE2BFBC9}"/>
                </a:ext>
              </a:extLst>
            </p:cNvPr>
            <p:cNvCxnSpPr/>
            <p:nvPr/>
          </p:nvCxnSpPr>
          <p:spPr>
            <a:xfrm>
              <a:off x="9152238" y="2843659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2AB9079-E949-8DD3-CC04-81961D4052DF}"/>
                </a:ext>
              </a:extLst>
            </p:cNvPr>
            <p:cNvCxnSpPr/>
            <p:nvPr/>
          </p:nvCxnSpPr>
          <p:spPr>
            <a:xfrm>
              <a:off x="9152238" y="3113864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2C42428-BC82-9B5B-C6CA-3697D9F7B117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43659"/>
              <a:ext cx="0" cy="2777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9550833F-A77A-0020-1F43-4DF7CD9F0E80}"/>
              </a:ext>
            </a:extLst>
          </p:cNvPr>
          <p:cNvSpPr txBox="1"/>
          <p:nvPr/>
        </p:nvSpPr>
        <p:spPr>
          <a:xfrm>
            <a:off x="3927577" y="4522199"/>
            <a:ext cx="18165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Next SEQ = 1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05689A8-8039-29EE-B13E-00482116774F}"/>
              </a:ext>
            </a:extLst>
          </p:cNvPr>
          <p:cNvGrpSpPr/>
          <p:nvPr/>
        </p:nvGrpSpPr>
        <p:grpSpPr>
          <a:xfrm>
            <a:off x="6986645" y="4560073"/>
            <a:ext cx="1374060" cy="466606"/>
            <a:chOff x="9152238" y="2843659"/>
            <a:chExt cx="986012" cy="277750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0C5C587-E02E-0E44-D992-77FAE348A772}"/>
                </a:ext>
              </a:extLst>
            </p:cNvPr>
            <p:cNvCxnSpPr/>
            <p:nvPr/>
          </p:nvCxnSpPr>
          <p:spPr>
            <a:xfrm>
              <a:off x="9152238" y="2843659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CE5C0C3-5FA8-2B3A-E900-A8C4176F4744}"/>
                </a:ext>
              </a:extLst>
            </p:cNvPr>
            <p:cNvCxnSpPr/>
            <p:nvPr/>
          </p:nvCxnSpPr>
          <p:spPr>
            <a:xfrm>
              <a:off x="9152238" y="3113864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69D0BC0-357D-52DB-5E49-D3203D96F885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43659"/>
              <a:ext cx="0" cy="2777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F0B8938-9EC3-23C5-5728-06DE942E3BC3}"/>
              </a:ext>
            </a:extLst>
          </p:cNvPr>
          <p:cNvGrpSpPr/>
          <p:nvPr/>
        </p:nvGrpSpPr>
        <p:grpSpPr>
          <a:xfrm>
            <a:off x="6986645" y="5150823"/>
            <a:ext cx="1374060" cy="466606"/>
            <a:chOff x="9152238" y="2843659"/>
            <a:chExt cx="986012" cy="27775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DEBEF0C-8B11-F619-4AA7-4A690352311C}"/>
                </a:ext>
              </a:extLst>
            </p:cNvPr>
            <p:cNvCxnSpPr/>
            <p:nvPr/>
          </p:nvCxnSpPr>
          <p:spPr>
            <a:xfrm>
              <a:off x="9152238" y="2843659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ACAD04C-059C-12D7-DBC9-DD1825C9F7C7}"/>
                </a:ext>
              </a:extLst>
            </p:cNvPr>
            <p:cNvCxnSpPr/>
            <p:nvPr/>
          </p:nvCxnSpPr>
          <p:spPr>
            <a:xfrm>
              <a:off x="9152238" y="3113864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F244578-2FCB-50F7-D541-3A69C0DFBFB2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43659"/>
              <a:ext cx="0" cy="2777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92443624-DF42-71C7-76ED-683527C01EC8}"/>
              </a:ext>
            </a:extLst>
          </p:cNvPr>
          <p:cNvSpPr/>
          <p:nvPr/>
        </p:nvSpPr>
        <p:spPr>
          <a:xfrm>
            <a:off x="2018805" y="3373516"/>
            <a:ext cx="8300851" cy="2747510"/>
          </a:xfrm>
          <a:prstGeom prst="roundRect">
            <a:avLst>
              <a:gd name="adj" fmla="val 1261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7B229D5C-132C-5C37-501C-682C50DAB4BB}"/>
              </a:ext>
            </a:extLst>
          </p:cNvPr>
          <p:cNvSpPr/>
          <p:nvPr/>
        </p:nvSpPr>
        <p:spPr>
          <a:xfrm>
            <a:off x="2422580" y="3057807"/>
            <a:ext cx="7540815" cy="618484"/>
          </a:xfrm>
          <a:prstGeom prst="roundRect">
            <a:avLst>
              <a:gd name="adj" fmla="val 41868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Costly to store pkts to FIFO queues and flush them</a:t>
            </a:r>
            <a:endParaRPr lang="en-KR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E38E285-9E46-A8C7-55B5-5D0C9960E78E}"/>
              </a:ext>
            </a:extLst>
          </p:cNvPr>
          <p:cNvGrpSpPr/>
          <p:nvPr/>
        </p:nvGrpSpPr>
        <p:grpSpPr>
          <a:xfrm>
            <a:off x="6170064" y="4064377"/>
            <a:ext cx="2677378" cy="1322439"/>
            <a:chOff x="3206764" y="4422187"/>
            <a:chExt cx="2677378" cy="1322439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02CA0B61-E767-34FB-53C5-0A14E7270A04}"/>
                </a:ext>
              </a:extLst>
            </p:cNvPr>
            <p:cNvCxnSpPr>
              <a:cxnSpLocks/>
            </p:cNvCxnSpPr>
            <p:nvPr/>
          </p:nvCxnSpPr>
          <p:spPr>
            <a:xfrm>
              <a:off x="3206764" y="4422187"/>
              <a:ext cx="558526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95731EC-61A3-1B3F-9163-30F6C158C7BB}"/>
                </a:ext>
              </a:extLst>
            </p:cNvPr>
            <p:cNvCxnSpPr>
              <a:cxnSpLocks/>
            </p:cNvCxnSpPr>
            <p:nvPr/>
          </p:nvCxnSpPr>
          <p:spPr>
            <a:xfrm>
              <a:off x="5325616" y="5744626"/>
              <a:ext cx="558526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CC4EAECA-7C25-9090-6119-521362332DB7}"/>
                </a:ext>
              </a:extLst>
            </p:cNvPr>
            <p:cNvCxnSpPr>
              <a:cxnSpLocks/>
            </p:cNvCxnSpPr>
            <p:nvPr/>
          </p:nvCxnSpPr>
          <p:spPr>
            <a:xfrm>
              <a:off x="5325616" y="5135598"/>
              <a:ext cx="558526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598B86A3-76C0-A44B-F85E-32C6DB8F9048}"/>
                </a:ext>
              </a:extLst>
            </p:cNvPr>
            <p:cNvCxnSpPr>
              <a:cxnSpLocks/>
            </p:cNvCxnSpPr>
            <p:nvPr/>
          </p:nvCxnSpPr>
          <p:spPr>
            <a:xfrm>
              <a:off x="5325616" y="4582951"/>
              <a:ext cx="558526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Curved Connector 107">
              <a:extLst>
                <a:ext uri="{FF2B5EF4-FFF2-40B4-BE49-F238E27FC236}">
                  <a16:creationId xmlns:a16="http://schemas.microsoft.com/office/drawing/2014/main" id="{FA1F1B94-BF1C-015D-59BE-F18FB134E3AF}"/>
                </a:ext>
              </a:extLst>
            </p:cNvPr>
            <p:cNvCxnSpPr/>
            <p:nvPr/>
          </p:nvCxnSpPr>
          <p:spPr>
            <a:xfrm>
              <a:off x="3480619" y="4582951"/>
              <a:ext cx="1317523" cy="1161675"/>
            </a:xfrm>
            <a:prstGeom prst="curvedConnector3">
              <a:avLst>
                <a:gd name="adj1" fmla="val 26119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90D851EA-C920-6B4C-1EE8-FC8B55248489}"/>
                </a:ext>
              </a:extLst>
            </p:cNvPr>
            <p:cNvSpPr/>
            <p:nvPr/>
          </p:nvSpPr>
          <p:spPr>
            <a:xfrm>
              <a:off x="4345849" y="5152103"/>
              <a:ext cx="422796" cy="491613"/>
            </a:xfrm>
            <a:custGeom>
              <a:avLst/>
              <a:gdLst>
                <a:gd name="connsiteX0" fmla="*/ 412964 w 422796"/>
                <a:gd name="connsiteY0" fmla="*/ 491613 h 491613"/>
                <a:gd name="connsiteX1" fmla="*/ 9 w 422796"/>
                <a:gd name="connsiteY1" fmla="*/ 255639 h 491613"/>
                <a:gd name="connsiteX2" fmla="*/ 422796 w 422796"/>
                <a:gd name="connsiteY2" fmla="*/ 0 h 49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796" h="491613">
                  <a:moveTo>
                    <a:pt x="412964" y="491613"/>
                  </a:moveTo>
                  <a:cubicBezTo>
                    <a:pt x="205667" y="414593"/>
                    <a:pt x="-1630" y="337574"/>
                    <a:pt x="9" y="255639"/>
                  </a:cubicBezTo>
                  <a:cubicBezTo>
                    <a:pt x="1648" y="173704"/>
                    <a:pt x="212222" y="86852"/>
                    <a:pt x="422796" y="0"/>
                  </a:cubicBez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DF9A6D79-BF0F-B081-3CAE-EF8B47B6301A}"/>
                </a:ext>
              </a:extLst>
            </p:cNvPr>
            <p:cNvSpPr/>
            <p:nvPr/>
          </p:nvSpPr>
          <p:spPr>
            <a:xfrm>
              <a:off x="4302361" y="4579363"/>
              <a:ext cx="422796" cy="491613"/>
            </a:xfrm>
            <a:custGeom>
              <a:avLst/>
              <a:gdLst>
                <a:gd name="connsiteX0" fmla="*/ 412964 w 422796"/>
                <a:gd name="connsiteY0" fmla="*/ 491613 h 491613"/>
                <a:gd name="connsiteX1" fmla="*/ 9 w 422796"/>
                <a:gd name="connsiteY1" fmla="*/ 255639 h 491613"/>
                <a:gd name="connsiteX2" fmla="*/ 422796 w 422796"/>
                <a:gd name="connsiteY2" fmla="*/ 0 h 49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796" h="491613">
                  <a:moveTo>
                    <a:pt x="412964" y="491613"/>
                  </a:moveTo>
                  <a:cubicBezTo>
                    <a:pt x="205667" y="414593"/>
                    <a:pt x="-1630" y="337574"/>
                    <a:pt x="9" y="255639"/>
                  </a:cubicBezTo>
                  <a:cubicBezTo>
                    <a:pt x="1648" y="173704"/>
                    <a:pt x="212222" y="86852"/>
                    <a:pt x="422796" y="0"/>
                  </a:cubicBez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20695B60-EF57-07BB-5B0C-083A5E4C8A69}"/>
              </a:ext>
            </a:extLst>
          </p:cNvPr>
          <p:cNvSpPr txBox="1"/>
          <p:nvPr/>
        </p:nvSpPr>
        <p:spPr>
          <a:xfrm>
            <a:off x="5161646" y="5173085"/>
            <a:ext cx="1755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flush in relays</a:t>
            </a:r>
            <a:endParaRPr lang="en-KR" sz="2000" b="1" i="1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FC975-A060-5F93-9D4F-808D7547340C}"/>
              </a:ext>
            </a:extLst>
          </p:cNvPr>
          <p:cNvSpPr txBox="1"/>
          <p:nvPr/>
        </p:nvSpPr>
        <p:spPr>
          <a:xfrm>
            <a:off x="6938968" y="5645872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FIFO queues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09E7CA-79E9-EB4A-A74E-265EE0F3B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135" y="2840840"/>
            <a:ext cx="1176320" cy="1176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9C3846-EFAF-E5CD-9B50-22AE731C1387}"/>
              </a:ext>
            </a:extLst>
          </p:cNvPr>
          <p:cNvSpPr txBox="1"/>
          <p:nvPr/>
        </p:nvSpPr>
        <p:spPr>
          <a:xfrm>
            <a:off x="710999" y="1841693"/>
            <a:ext cx="7574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Lack of sorting primitives on switching hardware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10AB3C-EBBB-29B7-FA0F-E613A7E3B852}"/>
              </a:ext>
            </a:extLst>
          </p:cNvPr>
          <p:cNvSpPr txBox="1"/>
          <p:nvPr/>
        </p:nvSpPr>
        <p:spPr>
          <a:xfrm>
            <a:off x="1174016" y="2266569"/>
            <a:ext cx="99950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Limited resource and time for storing and flushing packets at line-rate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3F3BD8A-1B14-6B36-DD33-F2F2EF4DAF37}"/>
              </a:ext>
            </a:extLst>
          </p:cNvPr>
          <p:cNvGrpSpPr/>
          <p:nvPr/>
        </p:nvGrpSpPr>
        <p:grpSpPr>
          <a:xfrm>
            <a:off x="0" y="2728234"/>
            <a:ext cx="12192000" cy="4101608"/>
            <a:chOff x="0" y="2772074"/>
            <a:chExt cx="12192000" cy="410160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6B7554-15CA-1867-D63D-236D882C5991}"/>
                </a:ext>
              </a:extLst>
            </p:cNvPr>
            <p:cNvSpPr/>
            <p:nvPr/>
          </p:nvSpPr>
          <p:spPr>
            <a:xfrm>
              <a:off x="0" y="2772074"/>
              <a:ext cx="12192000" cy="4101608"/>
            </a:xfrm>
            <a:prstGeom prst="rect">
              <a:avLst/>
            </a:prstGeom>
            <a:solidFill>
              <a:schemeClr val="bg1">
                <a:alpha val="9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10" name="Rounded Rectangular Callout 9">
              <a:extLst>
                <a:ext uri="{FF2B5EF4-FFF2-40B4-BE49-F238E27FC236}">
                  <a16:creationId xmlns:a16="http://schemas.microsoft.com/office/drawing/2014/main" id="{003D73DF-E9A5-D542-CA53-2991B418BA4F}"/>
                </a:ext>
              </a:extLst>
            </p:cNvPr>
            <p:cNvSpPr/>
            <p:nvPr/>
          </p:nvSpPr>
          <p:spPr>
            <a:xfrm>
              <a:off x="2896291" y="3335256"/>
              <a:ext cx="6685807" cy="1428895"/>
            </a:xfrm>
            <a:prstGeom prst="wedgeRoundRectCallout">
              <a:avLst>
                <a:gd name="adj1" fmla="val -41259"/>
                <a:gd name="adj2" fmla="val 33129"/>
                <a:gd name="adj3" fmla="val 16667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How to “constrain” the packet </a:t>
              </a:r>
              <a:br>
                <a:rPr lang="en-US" sz="28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</a:br>
              <a:r>
                <a:rPr lang="en-US" sz="28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reordering patterns? </a:t>
              </a:r>
              <a:endParaRPr lang="en-KR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6599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6">
            <a:extLst>
              <a:ext uri="{FF2B5EF4-FFF2-40B4-BE49-F238E27FC236}">
                <a16:creationId xmlns:a16="http://schemas.microsoft.com/office/drawing/2014/main" id="{3061D9F4-018F-B8EB-2075-AE4062D6AE11}"/>
              </a:ext>
            </a:extLst>
          </p:cNvPr>
          <p:cNvSpPr/>
          <p:nvPr/>
        </p:nvSpPr>
        <p:spPr>
          <a:xfrm>
            <a:off x="-1" y="0"/>
            <a:ext cx="12192001" cy="106333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ConWeave </a:t>
            </a:r>
            <a:r>
              <a:rPr lang="en-KR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(short for </a:t>
            </a:r>
            <a:r>
              <a:rPr lang="en-KR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</a:t>
            </a:r>
            <a:r>
              <a:rPr lang="en-KR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gestion </a:t>
            </a:r>
            <a:r>
              <a:rPr lang="en-KR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Weav</a:t>
            </a:r>
            <a:r>
              <a:rPr lang="en-KR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ing)</a:t>
            </a:r>
            <a:endParaRPr lang="en-KR" sz="3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17</a:t>
            </a:fld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E25EEB3-D25A-4E7A-75BC-EFE0366D8F5B}"/>
              </a:ext>
            </a:extLst>
          </p:cNvPr>
          <p:cNvGrpSpPr/>
          <p:nvPr/>
        </p:nvGrpSpPr>
        <p:grpSpPr>
          <a:xfrm>
            <a:off x="838200" y="1192415"/>
            <a:ext cx="10439314" cy="5042785"/>
            <a:chOff x="838200" y="1192415"/>
            <a:chExt cx="10439314" cy="5042785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5C4E049-62B0-0068-DDD7-B5912256E383}"/>
                </a:ext>
              </a:extLst>
            </p:cNvPr>
            <p:cNvSpPr/>
            <p:nvPr/>
          </p:nvSpPr>
          <p:spPr>
            <a:xfrm>
              <a:off x="838200" y="1453446"/>
              <a:ext cx="10439314" cy="4781754"/>
            </a:xfrm>
            <a:prstGeom prst="roundRect">
              <a:avLst>
                <a:gd name="adj" fmla="val 11602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Fira Sans" panose="020B0503050000020004" pitchFamily="34" charset="0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BF5267A-C1AB-D373-02EF-3551CE793F31}"/>
                </a:ext>
              </a:extLst>
            </p:cNvPr>
            <p:cNvSpPr/>
            <p:nvPr/>
          </p:nvSpPr>
          <p:spPr>
            <a:xfrm>
              <a:off x="4408862" y="1192415"/>
              <a:ext cx="3374275" cy="533390"/>
            </a:xfrm>
            <a:prstGeom prst="roundRect">
              <a:avLst>
                <a:gd name="adj" fmla="val 3994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Fira Sans" panose="020B0503050000020004" pitchFamily="34" charset="0"/>
                </a:rPr>
                <a:t>High-level Overview</a:t>
              </a:r>
            </a:p>
          </p:txBody>
        </p:sp>
        <p:sp>
          <p:nvSpPr>
            <p:cNvPr id="7" name="Cloud 6">
              <a:extLst>
                <a:ext uri="{FF2B5EF4-FFF2-40B4-BE49-F238E27FC236}">
                  <a16:creationId xmlns:a16="http://schemas.microsoft.com/office/drawing/2014/main" id="{7300579F-8471-D27A-718F-F89FEBB05488}"/>
                </a:ext>
              </a:extLst>
            </p:cNvPr>
            <p:cNvSpPr/>
            <p:nvPr/>
          </p:nvSpPr>
          <p:spPr>
            <a:xfrm>
              <a:off x="4942617" y="2128100"/>
              <a:ext cx="1999816" cy="820438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network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318511-F268-1A81-ABA6-1E8CA79AF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1388" y="2141950"/>
              <a:ext cx="780235" cy="78023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1608820-0AD4-FD96-F94D-8749EA9B9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17228" y="2138141"/>
              <a:ext cx="780235" cy="780235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E098ECB-827F-C5D3-E04F-6F1A866D720D}"/>
                </a:ext>
              </a:extLst>
            </p:cNvPr>
            <p:cNvCxnSpPr>
              <a:cxnSpLocks/>
            </p:cNvCxnSpPr>
            <p:nvPr/>
          </p:nvCxnSpPr>
          <p:spPr>
            <a:xfrm>
              <a:off x="1868889" y="2532069"/>
              <a:ext cx="904352" cy="0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D37E95B-F300-30C8-17F2-7ECD965BA344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>
              <a:off x="3842029" y="2532069"/>
              <a:ext cx="1106791" cy="6250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2546766-5FA4-F515-96D9-E43DF913D717}"/>
                </a:ext>
              </a:extLst>
            </p:cNvPr>
            <p:cNvCxnSpPr>
              <a:cxnSpLocks/>
            </p:cNvCxnSpPr>
            <p:nvPr/>
          </p:nvCxnSpPr>
          <p:spPr>
            <a:xfrm>
              <a:off x="6911484" y="2535194"/>
              <a:ext cx="1106791" cy="6250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31A1ED6-4E59-EEEB-9867-C4D9B1A66C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4126" b="31045"/>
            <a:stretch/>
          </p:blipFill>
          <p:spPr>
            <a:xfrm>
              <a:off x="2659888" y="2234512"/>
              <a:ext cx="1327506" cy="59511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49E7034-F27C-E8F2-FFAB-928447DEE3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4126" b="31045"/>
            <a:stretch/>
          </p:blipFill>
          <p:spPr>
            <a:xfrm>
              <a:off x="7897656" y="2248223"/>
              <a:ext cx="1327506" cy="595113"/>
            </a:xfrm>
            <a:prstGeom prst="rect">
              <a:avLst/>
            </a:prstGeom>
          </p:spPr>
        </p:pic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E324744-5F5E-0E95-7AFF-9A93CBDE457E}"/>
                </a:ext>
              </a:extLst>
            </p:cNvPr>
            <p:cNvCxnSpPr>
              <a:cxnSpLocks/>
            </p:cNvCxnSpPr>
            <p:nvPr/>
          </p:nvCxnSpPr>
          <p:spPr>
            <a:xfrm>
              <a:off x="9136373" y="2550573"/>
              <a:ext cx="1106791" cy="6250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B826AA4-EA33-6602-604B-4F00FC8D64F7}"/>
                </a:ext>
              </a:extLst>
            </p:cNvPr>
            <p:cNvSpPr txBox="1"/>
            <p:nvPr/>
          </p:nvSpPr>
          <p:spPr>
            <a:xfrm>
              <a:off x="2024161" y="2750257"/>
              <a:ext cx="27222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4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SrcToR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749371F-1E98-1D4D-39EC-54BD8391A04A}"/>
                </a:ext>
              </a:extLst>
            </p:cNvPr>
            <p:cNvSpPr txBox="1"/>
            <p:nvPr/>
          </p:nvSpPr>
          <p:spPr>
            <a:xfrm>
              <a:off x="7138669" y="2719827"/>
              <a:ext cx="27350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4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DstToR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61CE686-1E29-D732-5988-0B5441ED3457}"/>
              </a:ext>
            </a:extLst>
          </p:cNvPr>
          <p:cNvSpPr txBox="1"/>
          <p:nvPr/>
        </p:nvSpPr>
        <p:spPr>
          <a:xfrm>
            <a:off x="2518849" y="1899573"/>
            <a:ext cx="1609584" cy="40011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K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Rerouting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135D1A-AC54-E26B-8EA1-62514E47D8EC}"/>
              </a:ext>
            </a:extLst>
          </p:cNvPr>
          <p:cNvSpPr txBox="1"/>
          <p:nvPr/>
        </p:nvSpPr>
        <p:spPr>
          <a:xfrm>
            <a:off x="7805808" y="1902784"/>
            <a:ext cx="1609584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K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Reordering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BF5760F-11F4-7D29-0E36-3A6081677971}"/>
              </a:ext>
            </a:extLst>
          </p:cNvPr>
          <p:cNvGrpSpPr/>
          <p:nvPr/>
        </p:nvGrpSpPr>
        <p:grpSpPr>
          <a:xfrm>
            <a:off x="2773240" y="3172805"/>
            <a:ext cx="6642151" cy="1267595"/>
            <a:chOff x="2773240" y="3172805"/>
            <a:chExt cx="6642151" cy="1267595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593D5A6-9D3E-D5D7-0099-7F84396282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1484" y="3172805"/>
              <a:ext cx="467326" cy="57119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7C371F1-4E10-7261-043F-058DF1DF9D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5424" y="3203538"/>
              <a:ext cx="547193" cy="4589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Rectangle: Rounded Corners 55">
              <a:extLst>
                <a:ext uri="{FF2B5EF4-FFF2-40B4-BE49-F238E27FC236}">
                  <a16:creationId xmlns:a16="http://schemas.microsoft.com/office/drawing/2014/main" id="{E5372568-6C76-958A-78E3-7F3D3E637AC0}"/>
                </a:ext>
              </a:extLst>
            </p:cNvPr>
            <p:cNvSpPr/>
            <p:nvPr/>
          </p:nvSpPr>
          <p:spPr>
            <a:xfrm>
              <a:off x="2773240" y="3624980"/>
              <a:ext cx="6642151" cy="8154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2400" dirty="0" err="1">
                  <a:solidFill>
                    <a:schemeClr val="tx1"/>
                  </a:solidFill>
                  <a:latin typeface="Fira Sans" panose="020B0503050000020004" pitchFamily="34" charset="0"/>
                </a:rPr>
                <a:t>ToR</a:t>
              </a:r>
              <a:r>
                <a:rPr lang="en-SG" sz="2400" dirty="0">
                  <a:solidFill>
                    <a:schemeClr val="tx1"/>
                  </a:solidFill>
                  <a:latin typeface="Fira Sans" panose="020B0503050000020004" pitchFamily="34" charset="0"/>
                </a:rPr>
                <a:t>-to-</a:t>
              </a:r>
              <a:r>
                <a:rPr lang="en-SG" sz="2400" dirty="0" err="1">
                  <a:solidFill>
                    <a:schemeClr val="tx1"/>
                  </a:solidFill>
                  <a:latin typeface="Fira Sans" panose="020B0503050000020004" pitchFamily="34" charset="0"/>
                </a:rPr>
                <a:t>ToR</a:t>
              </a:r>
              <a:r>
                <a:rPr lang="en-SG" sz="2400" dirty="0">
                  <a:solidFill>
                    <a:schemeClr val="tx1"/>
                  </a:solidFill>
                  <a:latin typeface="Fira Sans" panose="020B0503050000020004" pitchFamily="34" charset="0"/>
                </a:rPr>
                <a:t> mechanism, </a:t>
              </a:r>
              <a:br>
                <a:rPr lang="en-SG" sz="2400" dirty="0">
                  <a:solidFill>
                    <a:schemeClr val="tx1"/>
                  </a:solidFill>
                  <a:latin typeface="Fira Sans" panose="020B0503050000020004" pitchFamily="34" charset="0"/>
                </a:rPr>
              </a:br>
              <a:r>
                <a:rPr lang="en-SG" sz="2400" dirty="0">
                  <a:solidFill>
                    <a:schemeClr val="tx1"/>
                  </a:solidFill>
                  <a:latin typeface="Fira Sans" panose="020B0503050000020004" pitchFamily="34" charset="0"/>
                </a:rPr>
                <a:t>i.e., </a:t>
              </a:r>
              <a:r>
                <a:rPr lang="en-SG" sz="2400" u="sng" dirty="0">
                  <a:solidFill>
                    <a:schemeClr val="tx1"/>
                  </a:solidFill>
                  <a:latin typeface="Fira Sans" panose="020B0503050000020004" pitchFamily="34" charset="0"/>
                </a:rPr>
                <a:t>end-host agnostic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1302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18</a:t>
            </a:fld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E25EEB3-D25A-4E7A-75BC-EFE0366D8F5B}"/>
              </a:ext>
            </a:extLst>
          </p:cNvPr>
          <p:cNvGrpSpPr/>
          <p:nvPr/>
        </p:nvGrpSpPr>
        <p:grpSpPr>
          <a:xfrm>
            <a:off x="838200" y="1192415"/>
            <a:ext cx="10439314" cy="5042785"/>
            <a:chOff x="838200" y="1192415"/>
            <a:chExt cx="10439314" cy="5042785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5C4E049-62B0-0068-DDD7-B5912256E383}"/>
                </a:ext>
              </a:extLst>
            </p:cNvPr>
            <p:cNvSpPr/>
            <p:nvPr/>
          </p:nvSpPr>
          <p:spPr>
            <a:xfrm>
              <a:off x="838200" y="1453446"/>
              <a:ext cx="10439314" cy="4781754"/>
            </a:xfrm>
            <a:prstGeom prst="roundRect">
              <a:avLst>
                <a:gd name="adj" fmla="val 11602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Fira Sans" panose="020B0503050000020004" pitchFamily="34" charset="0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BF5267A-C1AB-D373-02EF-3551CE793F31}"/>
                </a:ext>
              </a:extLst>
            </p:cNvPr>
            <p:cNvSpPr/>
            <p:nvPr/>
          </p:nvSpPr>
          <p:spPr>
            <a:xfrm>
              <a:off x="4408862" y="1192415"/>
              <a:ext cx="3374275" cy="533390"/>
            </a:xfrm>
            <a:prstGeom prst="roundRect">
              <a:avLst>
                <a:gd name="adj" fmla="val 3994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Fira Sans" panose="020B0503050000020004" pitchFamily="34" charset="0"/>
                </a:rPr>
                <a:t>High-level Overview</a:t>
              </a:r>
            </a:p>
          </p:txBody>
        </p:sp>
        <p:sp>
          <p:nvSpPr>
            <p:cNvPr id="7" name="Cloud 6">
              <a:extLst>
                <a:ext uri="{FF2B5EF4-FFF2-40B4-BE49-F238E27FC236}">
                  <a16:creationId xmlns:a16="http://schemas.microsoft.com/office/drawing/2014/main" id="{7300579F-8471-D27A-718F-F89FEBB05488}"/>
                </a:ext>
              </a:extLst>
            </p:cNvPr>
            <p:cNvSpPr/>
            <p:nvPr/>
          </p:nvSpPr>
          <p:spPr>
            <a:xfrm>
              <a:off x="4942617" y="2128100"/>
              <a:ext cx="1999816" cy="820438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network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318511-F268-1A81-ABA6-1E8CA79AF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1388" y="2141950"/>
              <a:ext cx="780235" cy="78023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1608820-0AD4-FD96-F94D-8749EA9B9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17228" y="2138141"/>
              <a:ext cx="780235" cy="780235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E098ECB-827F-C5D3-E04F-6F1A866D720D}"/>
                </a:ext>
              </a:extLst>
            </p:cNvPr>
            <p:cNvCxnSpPr>
              <a:cxnSpLocks/>
            </p:cNvCxnSpPr>
            <p:nvPr/>
          </p:nvCxnSpPr>
          <p:spPr>
            <a:xfrm>
              <a:off x="1868889" y="2532069"/>
              <a:ext cx="904352" cy="0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D37E95B-F300-30C8-17F2-7ECD965BA344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>
              <a:off x="3842029" y="2532069"/>
              <a:ext cx="1106791" cy="6250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2546766-5FA4-F515-96D9-E43DF913D717}"/>
                </a:ext>
              </a:extLst>
            </p:cNvPr>
            <p:cNvCxnSpPr>
              <a:cxnSpLocks/>
            </p:cNvCxnSpPr>
            <p:nvPr/>
          </p:nvCxnSpPr>
          <p:spPr>
            <a:xfrm>
              <a:off x="6911484" y="2535194"/>
              <a:ext cx="1106791" cy="6250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31A1ED6-4E59-EEEB-9867-C4D9B1A66C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4126" b="31045"/>
            <a:stretch/>
          </p:blipFill>
          <p:spPr>
            <a:xfrm>
              <a:off x="2659888" y="2234512"/>
              <a:ext cx="1327506" cy="59511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49E7034-F27C-E8F2-FFAB-928447DEE3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4126" b="31045"/>
            <a:stretch/>
          </p:blipFill>
          <p:spPr>
            <a:xfrm>
              <a:off x="7897656" y="2248223"/>
              <a:ext cx="1327506" cy="595113"/>
            </a:xfrm>
            <a:prstGeom prst="rect">
              <a:avLst/>
            </a:prstGeom>
          </p:spPr>
        </p:pic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E324744-5F5E-0E95-7AFF-9A93CBDE457E}"/>
                </a:ext>
              </a:extLst>
            </p:cNvPr>
            <p:cNvCxnSpPr>
              <a:cxnSpLocks/>
            </p:cNvCxnSpPr>
            <p:nvPr/>
          </p:nvCxnSpPr>
          <p:spPr>
            <a:xfrm>
              <a:off x="9136373" y="2550573"/>
              <a:ext cx="1106791" cy="6250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B826AA4-EA33-6602-604B-4F00FC8D64F7}"/>
                </a:ext>
              </a:extLst>
            </p:cNvPr>
            <p:cNvSpPr txBox="1"/>
            <p:nvPr/>
          </p:nvSpPr>
          <p:spPr>
            <a:xfrm>
              <a:off x="2024161" y="2750257"/>
              <a:ext cx="27222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4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SrcToR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749371F-1E98-1D4D-39EC-54BD8391A04A}"/>
                </a:ext>
              </a:extLst>
            </p:cNvPr>
            <p:cNvSpPr txBox="1"/>
            <p:nvPr/>
          </p:nvSpPr>
          <p:spPr>
            <a:xfrm>
              <a:off x="7138669" y="2719827"/>
              <a:ext cx="27350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4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DstToR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61CE686-1E29-D732-5988-0B5441ED3457}"/>
              </a:ext>
            </a:extLst>
          </p:cNvPr>
          <p:cNvSpPr txBox="1"/>
          <p:nvPr/>
        </p:nvSpPr>
        <p:spPr>
          <a:xfrm>
            <a:off x="2518849" y="1899573"/>
            <a:ext cx="1609584" cy="40011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K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Rerouting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135D1A-AC54-E26B-8EA1-62514E47D8EC}"/>
              </a:ext>
            </a:extLst>
          </p:cNvPr>
          <p:cNvSpPr txBox="1"/>
          <p:nvPr/>
        </p:nvSpPr>
        <p:spPr>
          <a:xfrm>
            <a:off x="7805808" y="1902784"/>
            <a:ext cx="1609584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K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Reordering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792BCB-7F15-4E9F-6DD1-D5CEC0F56B24}"/>
              </a:ext>
            </a:extLst>
          </p:cNvPr>
          <p:cNvGrpSpPr/>
          <p:nvPr/>
        </p:nvGrpSpPr>
        <p:grpSpPr>
          <a:xfrm>
            <a:off x="1242684" y="3664170"/>
            <a:ext cx="4161914" cy="1944826"/>
            <a:chOff x="1242684" y="3664170"/>
            <a:chExt cx="4161914" cy="194482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A6C54B3-D133-687B-B0D6-D070F55EA12A}"/>
                </a:ext>
              </a:extLst>
            </p:cNvPr>
            <p:cNvGrpSpPr/>
            <p:nvPr/>
          </p:nvGrpSpPr>
          <p:grpSpPr>
            <a:xfrm>
              <a:off x="1242684" y="3664170"/>
              <a:ext cx="4161914" cy="1944826"/>
              <a:chOff x="2692424" y="3676370"/>
              <a:chExt cx="4161914" cy="1944826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4DDE76C-12C8-C222-1C7E-5F31AB68C69E}"/>
                  </a:ext>
                </a:extLst>
              </p:cNvPr>
              <p:cNvSpPr/>
              <p:nvPr/>
            </p:nvSpPr>
            <p:spPr>
              <a:xfrm>
                <a:off x="3424361" y="3676370"/>
                <a:ext cx="3429977" cy="194482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4757BD5-35D1-C2B1-FB87-40451FDA39ED}"/>
                  </a:ext>
                </a:extLst>
              </p:cNvPr>
              <p:cNvSpPr/>
              <p:nvPr/>
            </p:nvSpPr>
            <p:spPr>
              <a:xfrm>
                <a:off x="3424361" y="5374052"/>
                <a:ext cx="3429977" cy="233651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2F74526E-D058-12C5-86FC-787333A30D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92424" y="4667079"/>
                <a:ext cx="954117" cy="954117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A528EA-D55E-8833-0159-6C205096461B}"/>
                </a:ext>
              </a:extLst>
            </p:cNvPr>
            <p:cNvSpPr txBox="1"/>
            <p:nvPr/>
          </p:nvSpPr>
          <p:spPr>
            <a:xfrm>
              <a:off x="2113281" y="3927413"/>
              <a:ext cx="32046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Courier New" panose="02070309020205020404" pitchFamily="49" charset="0"/>
                <a:buChar char="o"/>
              </a:pPr>
              <a:r>
                <a:rPr lang="en-US" sz="2000" dirty="0">
                  <a:solidFill>
                    <a:schemeClr val="bg1"/>
                  </a:solidFill>
                  <a:latin typeface="Fira Sans" panose="020B0503050000020004" pitchFamily="34" charset="0"/>
                </a:rPr>
                <a:t>Hard to find time gaps </a:t>
              </a:r>
              <a:endParaRPr lang="en-KR" sz="2000" dirty="0">
                <a:solidFill>
                  <a:schemeClr val="bg1"/>
                </a:solidFill>
                <a:latin typeface="Fira Sans" panose="020B05030500000200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93EF452-4102-8851-7967-731678CAB672}"/>
                </a:ext>
              </a:extLst>
            </p:cNvPr>
            <p:cNvSpPr txBox="1"/>
            <p:nvPr/>
          </p:nvSpPr>
          <p:spPr>
            <a:xfrm>
              <a:off x="2113281" y="4398143"/>
              <a:ext cx="320461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Courier New" panose="02070309020205020404" pitchFamily="49" charset="0"/>
                <a:buChar char="o"/>
              </a:pPr>
              <a:r>
                <a:rPr lang="en-US" sz="2000" dirty="0">
                  <a:solidFill>
                    <a:schemeClr val="bg1"/>
                  </a:solidFill>
                  <a:latin typeface="Fira Sans" panose="020B0503050000020004" pitchFamily="34" charset="0"/>
                </a:rPr>
                <a:t>Arbitrary packet order is not manageable</a:t>
              </a:r>
              <a:endParaRPr lang="en-KR" sz="2000" dirty="0">
                <a:solidFill>
                  <a:schemeClr val="bg1"/>
                </a:solidFill>
                <a:latin typeface="Fira Sans" panose="020B05030500000200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5718E2-BADA-21FE-2C30-0FF8E2C089D0}"/>
              </a:ext>
            </a:extLst>
          </p:cNvPr>
          <p:cNvGrpSpPr/>
          <p:nvPr/>
        </p:nvGrpSpPr>
        <p:grpSpPr>
          <a:xfrm>
            <a:off x="6473828" y="3909463"/>
            <a:ext cx="4423635" cy="1225768"/>
            <a:chOff x="6309588" y="3990367"/>
            <a:chExt cx="4423635" cy="122576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D0BFD0-7F5D-F4D2-4B68-9A266CC04C1A}"/>
                </a:ext>
              </a:extLst>
            </p:cNvPr>
            <p:cNvSpPr txBox="1"/>
            <p:nvPr/>
          </p:nvSpPr>
          <p:spPr>
            <a:xfrm>
              <a:off x="7429113" y="4015806"/>
              <a:ext cx="330411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sz="2400" u="sng" dirty="0">
                  <a:latin typeface="Fira Sans" panose="020B0503050000020004" pitchFamily="34" charset="0"/>
                </a:rPr>
                <a:t>Cautiously</a:t>
              </a:r>
              <a:r>
                <a:rPr lang="en-KR" sz="2400" dirty="0">
                  <a:latin typeface="Fira Sans" panose="020B0503050000020004" pitchFamily="34" charset="0"/>
                </a:rPr>
                <a:t> split and </a:t>
              </a:r>
              <a:br>
                <a:rPr lang="en-KR" sz="2400" dirty="0">
                  <a:latin typeface="Fira Sans" panose="020B0503050000020004" pitchFamily="34" charset="0"/>
                </a:rPr>
              </a:br>
              <a:r>
                <a:rPr lang="en-KR" sz="2400" dirty="0">
                  <a:latin typeface="Fira Sans" panose="020B0503050000020004" pitchFamily="34" charset="0"/>
                </a:rPr>
                <a:t>reroute flows for </a:t>
              </a:r>
              <a:br>
                <a:rPr lang="en-KR" sz="2400" dirty="0">
                  <a:latin typeface="Fira Sans" panose="020B0503050000020004" pitchFamily="34" charset="0"/>
                </a:rPr>
              </a:br>
              <a:r>
                <a:rPr lang="en-KR" sz="2400" dirty="0">
                  <a:latin typeface="Fira Sans" panose="020B0503050000020004" pitchFamily="34" charset="0"/>
                </a:rPr>
                <a:t>the ease of reordering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EBDC1DA-5D23-9F64-E150-E25F775B2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09588" y="3990367"/>
              <a:ext cx="1203003" cy="1203003"/>
            </a:xfrm>
            <a:prstGeom prst="rect">
              <a:avLst/>
            </a:prstGeom>
          </p:spPr>
        </p:pic>
      </p:grpSp>
      <p:sp>
        <p:nvSpPr>
          <p:cNvPr id="18" name="직사각형 6">
            <a:extLst>
              <a:ext uri="{FF2B5EF4-FFF2-40B4-BE49-F238E27FC236}">
                <a16:creationId xmlns:a16="http://schemas.microsoft.com/office/drawing/2014/main" id="{053752D0-D861-5823-E1AC-B8D44526A913}"/>
              </a:ext>
            </a:extLst>
          </p:cNvPr>
          <p:cNvSpPr/>
          <p:nvPr/>
        </p:nvSpPr>
        <p:spPr>
          <a:xfrm>
            <a:off x="-1" y="0"/>
            <a:ext cx="12192001" cy="106333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697C4C5-4C59-792E-4672-835266E96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ConWeave </a:t>
            </a:r>
            <a:r>
              <a:rPr lang="en-KR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(short for </a:t>
            </a:r>
            <a:r>
              <a:rPr lang="en-KR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</a:t>
            </a:r>
            <a:r>
              <a:rPr lang="en-KR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gestion </a:t>
            </a:r>
            <a:r>
              <a:rPr lang="en-KR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Weav</a:t>
            </a:r>
            <a:r>
              <a:rPr lang="en-KR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ing)</a:t>
            </a:r>
            <a:endParaRPr lang="en-KR" sz="3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06A9192E-88D0-48AD-A910-E43909914F0D}"/>
              </a:ext>
            </a:extLst>
          </p:cNvPr>
          <p:cNvSpPr/>
          <p:nvPr/>
        </p:nvSpPr>
        <p:spPr>
          <a:xfrm>
            <a:off x="5568479" y="4203506"/>
            <a:ext cx="818643" cy="820438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9801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389EF-9C3D-9A0A-4D20-F4481A1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8296B6-E374-49EE-9E27-3C8E8B8E7B7A}"/>
              </a:ext>
            </a:extLst>
          </p:cNvPr>
          <p:cNvGrpSpPr/>
          <p:nvPr/>
        </p:nvGrpSpPr>
        <p:grpSpPr>
          <a:xfrm>
            <a:off x="472440" y="1257035"/>
            <a:ext cx="11300460" cy="3736384"/>
            <a:chOff x="428983" y="2221787"/>
            <a:chExt cx="11300460" cy="3736384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5EAF567-4388-F86A-3095-E185AE987D65}"/>
                </a:ext>
              </a:extLst>
            </p:cNvPr>
            <p:cNvSpPr/>
            <p:nvPr/>
          </p:nvSpPr>
          <p:spPr>
            <a:xfrm>
              <a:off x="428983" y="2488482"/>
              <a:ext cx="11300460" cy="3469689"/>
            </a:xfrm>
            <a:prstGeom prst="roundRect">
              <a:avLst>
                <a:gd name="adj" fmla="val 11602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Fira Sans" panose="020B0503050000020004" pitchFamily="34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20CB3B6C-B710-2A13-2182-F80D23C0A63F}"/>
                </a:ext>
              </a:extLst>
            </p:cNvPr>
            <p:cNvSpPr/>
            <p:nvPr/>
          </p:nvSpPr>
          <p:spPr>
            <a:xfrm>
              <a:off x="2602523" y="2221787"/>
              <a:ext cx="7033845" cy="533390"/>
            </a:xfrm>
            <a:prstGeom prst="roundRect">
              <a:avLst>
                <a:gd name="adj" fmla="val 39948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Fira Sans" panose="020B0503050000020004" pitchFamily="34" charset="0"/>
                </a:rPr>
                <a:t>Key Components in </a:t>
              </a:r>
              <a:r>
                <a:rPr lang="en-US" sz="2400" dirty="0" err="1">
                  <a:solidFill>
                    <a:schemeClr val="bg1"/>
                  </a:solidFill>
                  <a:latin typeface="Fira Sans" panose="020B0503050000020004" pitchFamily="34" charset="0"/>
                </a:rPr>
                <a:t>ConWeave</a:t>
              </a:r>
              <a:endParaRPr lang="en-US" sz="2400" dirty="0">
                <a:solidFill>
                  <a:schemeClr val="bg1"/>
                </a:solidFill>
                <a:latin typeface="Fira Sans" panose="020B05030500000200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CB88342-E537-B852-49FE-26DB353313AB}"/>
              </a:ext>
            </a:extLst>
          </p:cNvPr>
          <p:cNvGrpSpPr/>
          <p:nvPr/>
        </p:nvGrpSpPr>
        <p:grpSpPr>
          <a:xfrm>
            <a:off x="691662" y="2386925"/>
            <a:ext cx="2590523" cy="1921176"/>
            <a:chOff x="1664690" y="2386925"/>
            <a:chExt cx="2590523" cy="1921176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2F708F4-D586-0AF9-A0B9-2D9E3042B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78912" y="2386925"/>
              <a:ext cx="751750" cy="75175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C38BF5-F8BA-17DA-EDB1-2FCE7FEE8841}"/>
                </a:ext>
              </a:extLst>
            </p:cNvPr>
            <p:cNvSpPr txBox="1"/>
            <p:nvPr/>
          </p:nvSpPr>
          <p:spPr>
            <a:xfrm>
              <a:off x="1664690" y="3306383"/>
              <a:ext cx="25905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Fira Sans" panose="020B0503050000020004" pitchFamily="34" charset="0"/>
                </a:rPr>
                <a:t>Path Monitoring</a:t>
              </a:r>
              <a:endParaRPr lang="en-KR" sz="2400" b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FC96FF1-12CC-537B-385C-44511348D33D}"/>
                </a:ext>
              </a:extLst>
            </p:cNvPr>
            <p:cNvSpPr txBox="1"/>
            <p:nvPr/>
          </p:nvSpPr>
          <p:spPr>
            <a:xfrm>
              <a:off x="1859333" y="3723326"/>
              <a:ext cx="220124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Fira Sans" panose="020B0503050000020004" pitchFamily="34" charset="0"/>
                </a:rPr>
                <a:t>Agile and lightweight</a:t>
              </a:r>
              <a:r>
                <a:rPr lang="en-KR" sz="1600" dirty="0">
                  <a:latin typeface="Fira Sans" panose="020B0503050000020004" pitchFamily="34" charset="0"/>
                </a:rPr>
                <a:t> </a:t>
              </a:r>
              <a:br>
                <a:rPr lang="en-KR" sz="1600" dirty="0">
                  <a:latin typeface="Fira Sans" panose="020B0503050000020004" pitchFamily="34" charset="0"/>
                </a:rPr>
              </a:br>
              <a:r>
                <a:rPr lang="en-KR" sz="1600" dirty="0">
                  <a:latin typeface="Fira Sans" panose="020B0503050000020004" pitchFamily="34" charset="0"/>
                </a:rPr>
                <a:t>congestion detection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B0C9A2-2994-C1E7-CFD0-55FC30CABECA}"/>
              </a:ext>
            </a:extLst>
          </p:cNvPr>
          <p:cNvGrpSpPr/>
          <p:nvPr/>
        </p:nvGrpSpPr>
        <p:grpSpPr>
          <a:xfrm>
            <a:off x="3378853" y="2344064"/>
            <a:ext cx="2392288" cy="1990468"/>
            <a:chOff x="4736437" y="2355632"/>
            <a:chExt cx="2392288" cy="199046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A98BED8-6286-6365-6929-684D5EB26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24768" y="2355632"/>
              <a:ext cx="838170" cy="86946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81B091-617B-20A8-9C64-2DBD83948906}"/>
                </a:ext>
              </a:extLst>
            </p:cNvPr>
            <p:cNvSpPr txBox="1"/>
            <p:nvPr/>
          </p:nvSpPr>
          <p:spPr>
            <a:xfrm>
              <a:off x="4736437" y="3320045"/>
              <a:ext cx="23922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Fira Sans" panose="020B0503050000020004" pitchFamily="34" charset="0"/>
                </a:rPr>
                <a:t>Path Selecting</a:t>
              </a:r>
              <a:endParaRPr lang="en-KR" sz="2400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2EEF56E-A16C-39B5-598F-B66761D07EE4}"/>
                </a:ext>
              </a:extLst>
            </p:cNvPr>
            <p:cNvSpPr txBox="1"/>
            <p:nvPr/>
          </p:nvSpPr>
          <p:spPr>
            <a:xfrm>
              <a:off x="4959452" y="3761325"/>
              <a:ext cx="19688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Fira Sans" panose="020B0503050000020004" pitchFamily="34" charset="0"/>
                </a:rPr>
                <a:t>Telemetry-driven</a:t>
              </a:r>
              <a:br>
                <a:rPr lang="en-US" sz="1600" dirty="0">
                  <a:latin typeface="Fira Sans" panose="020B0503050000020004" pitchFamily="34" charset="0"/>
                </a:rPr>
              </a:br>
              <a:r>
                <a:rPr lang="en-US" sz="1600" dirty="0">
                  <a:latin typeface="Fira Sans" panose="020B0503050000020004" pitchFamily="34" charset="0"/>
                </a:rPr>
                <a:t>congestion evasion</a:t>
              </a:r>
              <a:endParaRPr lang="en-KR" sz="1600" dirty="0">
                <a:latin typeface="Fira Sans" panose="020B0503050000020004" pitchFamily="34" charset="0"/>
              </a:endParaRPr>
            </a:p>
          </p:txBody>
        </p:sp>
      </p:grp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D4C63ACD-907C-09DA-70ED-56D7F2353198}"/>
              </a:ext>
            </a:extLst>
          </p:cNvPr>
          <p:cNvSpPr/>
          <p:nvPr/>
        </p:nvSpPr>
        <p:spPr>
          <a:xfrm>
            <a:off x="6027713" y="2090073"/>
            <a:ext cx="3092467" cy="2593928"/>
          </a:xfrm>
          <a:prstGeom prst="roundRect">
            <a:avLst/>
          </a:prstGeom>
          <a:solidFill>
            <a:srgbClr val="FDDCD9">
              <a:alpha val="57647"/>
            </a:srgb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B49CE4-54EA-2D39-C0DD-53D61A09F4F3}"/>
              </a:ext>
            </a:extLst>
          </p:cNvPr>
          <p:cNvSpPr txBox="1"/>
          <p:nvPr/>
        </p:nvSpPr>
        <p:spPr>
          <a:xfrm>
            <a:off x="6710645" y="4429870"/>
            <a:ext cx="1776448" cy="523220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  <a:effectLst>
            <a:softEdge rad="0"/>
          </a:effectLst>
        </p:spPr>
        <p:txBody>
          <a:bodyPr wrap="none" rtlCol="0">
            <a:spAutoFit/>
          </a:bodyPr>
          <a:lstStyle/>
          <a:p>
            <a:r>
              <a:rPr lang="en-KR" sz="2800" b="1" i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 Talk!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3DAA0CD-D87B-35F7-7FC5-765FBA8702B9}"/>
              </a:ext>
            </a:extLst>
          </p:cNvPr>
          <p:cNvGrpSpPr/>
          <p:nvPr/>
        </p:nvGrpSpPr>
        <p:grpSpPr>
          <a:xfrm>
            <a:off x="6027713" y="2386826"/>
            <a:ext cx="3068773" cy="1947706"/>
            <a:chOff x="7458536" y="2398394"/>
            <a:chExt cx="3068773" cy="194770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654042-4260-7B78-CFFE-009FABA749A9}"/>
                </a:ext>
              </a:extLst>
            </p:cNvPr>
            <p:cNvSpPr txBox="1"/>
            <p:nvPr/>
          </p:nvSpPr>
          <p:spPr>
            <a:xfrm>
              <a:off x="7458536" y="3300290"/>
              <a:ext cx="306877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Fira Sans" panose="020B0503050000020004" pitchFamily="34" charset="0"/>
                </a:rPr>
                <a:t>Cautious Rerouting</a:t>
              </a:r>
              <a:endParaRPr lang="en-KR" sz="24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D053041-CF72-F392-F451-70F501FB7581}"/>
                </a:ext>
              </a:extLst>
            </p:cNvPr>
            <p:cNvSpPr txBox="1"/>
            <p:nvPr/>
          </p:nvSpPr>
          <p:spPr>
            <a:xfrm>
              <a:off x="7561983" y="3761325"/>
              <a:ext cx="293541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Fira Sans" panose="020B0503050000020004" pitchFamily="34" charset="0"/>
                </a:rPr>
                <a:t>Tight incorporation with</a:t>
              </a:r>
              <a:br>
                <a:rPr lang="en-US" sz="1600" dirty="0">
                  <a:latin typeface="Fira Sans" panose="020B0503050000020004" pitchFamily="34" charset="0"/>
                </a:rPr>
              </a:br>
              <a:r>
                <a:rPr lang="en-US" sz="1600" dirty="0">
                  <a:latin typeface="Fira Sans" panose="020B0503050000020004" pitchFamily="34" charset="0"/>
                </a:rPr>
                <a:t>switch’s reordering capability</a:t>
              </a:r>
              <a:endParaRPr lang="en-KR" sz="1600" dirty="0">
                <a:latin typeface="Fira Sans" panose="020B0503050000020004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C21110C-054E-1057-3562-A7399CEEE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11651" y="2398394"/>
              <a:ext cx="838171" cy="838171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7FC6337-D062-16D0-4DEB-C078C7230D2A}"/>
              </a:ext>
            </a:extLst>
          </p:cNvPr>
          <p:cNvGrpSpPr/>
          <p:nvPr/>
        </p:nvGrpSpPr>
        <p:grpSpPr>
          <a:xfrm>
            <a:off x="9250674" y="2314628"/>
            <a:ext cx="2392288" cy="2038845"/>
            <a:chOff x="9250674" y="2314628"/>
            <a:chExt cx="2392288" cy="2038845"/>
          </a:xfrm>
        </p:grpSpPr>
        <p:pic>
          <p:nvPicPr>
            <p:cNvPr id="5" name="Picture 4" descr="Icon&#10;&#10;Description automatically generated">
              <a:extLst>
                <a:ext uri="{FF2B5EF4-FFF2-40B4-BE49-F238E27FC236}">
                  <a16:creationId xmlns:a16="http://schemas.microsoft.com/office/drawing/2014/main" id="{A6281151-76C8-AE15-6647-B67E5C90C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73630" y="2314628"/>
              <a:ext cx="829916" cy="82991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C84A6C4-F9BD-3CB5-229B-95B615222B76}"/>
                </a:ext>
              </a:extLst>
            </p:cNvPr>
            <p:cNvSpPr txBox="1"/>
            <p:nvPr/>
          </p:nvSpPr>
          <p:spPr>
            <a:xfrm>
              <a:off x="9250674" y="3297305"/>
              <a:ext cx="23922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Fira Sans" panose="020B0503050000020004" pitchFamily="34" charset="0"/>
                </a:rPr>
                <a:t>Pkt Reordering</a:t>
              </a:r>
              <a:endParaRPr lang="en-KR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399E65-CC88-51BD-B52C-91CFEF1D6063}"/>
                </a:ext>
              </a:extLst>
            </p:cNvPr>
            <p:cNvSpPr txBox="1"/>
            <p:nvPr/>
          </p:nvSpPr>
          <p:spPr>
            <a:xfrm>
              <a:off x="9391604" y="3768698"/>
              <a:ext cx="21098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Fira Sans" panose="020B0503050000020004" pitchFamily="34" charset="0"/>
                </a:rPr>
                <a:t>Efficient queue flush</a:t>
              </a:r>
              <a:br>
                <a:rPr lang="en-US" sz="1600" dirty="0">
                  <a:latin typeface="Fira Sans" panose="020B0503050000020004" pitchFamily="34" charset="0"/>
                </a:rPr>
              </a:br>
              <a:r>
                <a:rPr lang="en-US" sz="1600" dirty="0">
                  <a:latin typeface="Fira Sans" panose="020B0503050000020004" pitchFamily="34" charset="0"/>
                </a:rPr>
                <a:t>via strict priority</a:t>
              </a:r>
              <a:endParaRPr lang="en-KR" sz="1600" dirty="0">
                <a:latin typeface="Fira Sans" panose="020B0503050000020004" pitchFamily="34" charset="0"/>
              </a:endParaRPr>
            </a:p>
          </p:txBody>
        </p:sp>
      </p:grpSp>
      <p:sp>
        <p:nvSpPr>
          <p:cNvPr id="20" name="직사각형 6">
            <a:extLst>
              <a:ext uri="{FF2B5EF4-FFF2-40B4-BE49-F238E27FC236}">
                <a16:creationId xmlns:a16="http://schemas.microsoft.com/office/drawing/2014/main" id="{DDFE5E05-C4C7-7FBE-9442-8A7B28DFD270}"/>
              </a:ext>
            </a:extLst>
          </p:cNvPr>
          <p:cNvSpPr/>
          <p:nvPr/>
        </p:nvSpPr>
        <p:spPr>
          <a:xfrm>
            <a:off x="-1" y="0"/>
            <a:ext cx="12192001" cy="106333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65705D6-66D8-9CC1-B5AC-F07F0EF1C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ConWeave </a:t>
            </a:r>
            <a:r>
              <a:rPr lang="en-KR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(short for </a:t>
            </a:r>
            <a:r>
              <a:rPr lang="en-KR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</a:t>
            </a:r>
            <a:r>
              <a:rPr lang="en-KR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gestion </a:t>
            </a:r>
            <a:r>
              <a:rPr lang="en-KR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Weav</a:t>
            </a:r>
            <a:r>
              <a:rPr lang="en-KR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ing)</a:t>
            </a:r>
            <a:endParaRPr lang="en-KR" sz="3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9DC9C9-6D09-E855-DEDD-1CE6E4619FE6}"/>
              </a:ext>
            </a:extLst>
          </p:cNvPr>
          <p:cNvSpPr txBox="1"/>
          <p:nvPr/>
        </p:nvSpPr>
        <p:spPr>
          <a:xfrm>
            <a:off x="8380886" y="5048428"/>
            <a:ext cx="31854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 More details in the paper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599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0" grpId="0" animBg="1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FDA4506-6730-0E5E-EBD0-12E7B9D2ACD8}"/>
              </a:ext>
            </a:extLst>
          </p:cNvPr>
          <p:cNvSpPr/>
          <p:nvPr/>
        </p:nvSpPr>
        <p:spPr>
          <a:xfrm>
            <a:off x="1026615" y="1227523"/>
            <a:ext cx="9688788" cy="1082947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Reroute “only if” there is no inflight out-of-order packets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	 Enable switch to reorder a flow using a single reorder queue</a:t>
            </a:r>
            <a:endParaRPr lang="en-KR" sz="2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Cautious Rerouting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FAC75-A7C8-389C-EF84-300A6656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20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138A45-9963-D2E1-6901-58475BA230CB}"/>
              </a:ext>
            </a:extLst>
          </p:cNvPr>
          <p:cNvCxnSpPr>
            <a:cxnSpLocks/>
          </p:cNvCxnSpPr>
          <p:nvPr/>
        </p:nvCxnSpPr>
        <p:spPr>
          <a:xfrm>
            <a:off x="4149518" y="2614027"/>
            <a:ext cx="0" cy="397633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98E6C6-A1F4-D1A1-43CE-A229A30C8DC6}"/>
              </a:ext>
            </a:extLst>
          </p:cNvPr>
          <p:cNvCxnSpPr>
            <a:cxnSpLocks/>
          </p:cNvCxnSpPr>
          <p:nvPr/>
        </p:nvCxnSpPr>
        <p:spPr>
          <a:xfrm>
            <a:off x="7491927" y="2614026"/>
            <a:ext cx="0" cy="3887126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811C31-F295-22E2-B641-6DFB39B766F7}"/>
              </a:ext>
            </a:extLst>
          </p:cNvPr>
          <p:cNvGrpSpPr/>
          <p:nvPr/>
        </p:nvGrpSpPr>
        <p:grpSpPr>
          <a:xfrm>
            <a:off x="1262719" y="2486807"/>
            <a:ext cx="2297424" cy="934750"/>
            <a:chOff x="1262719" y="2029616"/>
            <a:chExt cx="2297424" cy="9347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7ACFD4-3D89-EE9A-F832-51C84481C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1740539" y="2029616"/>
              <a:ext cx="1327506" cy="59511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FE78C4-8F18-4D28-4BE9-9C96ACAAE7EE}"/>
                </a:ext>
              </a:extLst>
            </p:cNvPr>
            <p:cNvSpPr txBox="1"/>
            <p:nvPr/>
          </p:nvSpPr>
          <p:spPr>
            <a:xfrm>
              <a:off x="1262719" y="2564256"/>
              <a:ext cx="22974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SrcToR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422798-62A0-562E-2C43-9EE28357A2A8}"/>
              </a:ext>
            </a:extLst>
          </p:cNvPr>
          <p:cNvGrpSpPr/>
          <p:nvPr/>
        </p:nvGrpSpPr>
        <p:grpSpPr>
          <a:xfrm>
            <a:off x="8722092" y="2486807"/>
            <a:ext cx="2308645" cy="934750"/>
            <a:chOff x="8722092" y="2029616"/>
            <a:chExt cx="2308645" cy="9347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8CB4A44-7A36-0FFE-50F6-1B82F863F8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9072570" y="2029616"/>
              <a:ext cx="1327506" cy="59511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686018-4AF7-767B-C275-5A33AB560A85}"/>
                </a:ext>
              </a:extLst>
            </p:cNvPr>
            <p:cNvSpPr txBox="1"/>
            <p:nvPr/>
          </p:nvSpPr>
          <p:spPr>
            <a:xfrm>
              <a:off x="8722092" y="2564256"/>
              <a:ext cx="23086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DstToR</a:t>
              </a:r>
            </a:p>
          </p:txBody>
        </p:sp>
      </p:grpSp>
      <p:sp>
        <p:nvSpPr>
          <p:cNvPr id="13" name="Can 12">
            <a:extLst>
              <a:ext uri="{FF2B5EF4-FFF2-40B4-BE49-F238E27FC236}">
                <a16:creationId xmlns:a16="http://schemas.microsoft.com/office/drawing/2014/main" id="{16B3FACE-EC0A-DAA4-27E1-B8BFB353736E}"/>
              </a:ext>
            </a:extLst>
          </p:cNvPr>
          <p:cNvSpPr/>
          <p:nvPr/>
        </p:nvSpPr>
        <p:spPr>
          <a:xfrm rot="5400000">
            <a:off x="5389386" y="2021030"/>
            <a:ext cx="912955" cy="3837120"/>
          </a:xfrm>
          <a:prstGeom prst="can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EF75B579-7897-C35B-2541-434BCBEDC2A4}"/>
              </a:ext>
            </a:extLst>
          </p:cNvPr>
          <p:cNvSpPr/>
          <p:nvPr/>
        </p:nvSpPr>
        <p:spPr>
          <a:xfrm rot="5400000">
            <a:off x="5389386" y="3472785"/>
            <a:ext cx="912955" cy="3837120"/>
          </a:xfrm>
          <a:prstGeom prst="can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D0D0EC5-AD78-00AB-D2DE-2AEDB7679569}"/>
              </a:ext>
            </a:extLst>
          </p:cNvPr>
          <p:cNvSpPr/>
          <p:nvPr/>
        </p:nvSpPr>
        <p:spPr>
          <a:xfrm>
            <a:off x="5078061" y="984907"/>
            <a:ext cx="1585897" cy="400110"/>
          </a:xfrm>
          <a:prstGeom prst="roundRect">
            <a:avLst>
              <a:gd name="adj" fmla="val 399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Key Idea</a:t>
            </a:r>
          </a:p>
        </p:txBody>
      </p:sp>
      <p:pic>
        <p:nvPicPr>
          <p:cNvPr id="27" name="Picture 12" descr="Download Sign Warning Exclamation Mark Royalty-Free Vector Graphic - Pixabay">
            <a:extLst>
              <a:ext uri="{FF2B5EF4-FFF2-40B4-BE49-F238E27FC236}">
                <a16:creationId xmlns:a16="http://schemas.microsoft.com/office/drawing/2014/main" id="{C8DB2D17-43FF-478F-CD97-80184C5F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11" y="3268999"/>
            <a:ext cx="447447" cy="40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495A0B8-CCA7-AA45-438A-721A7E63F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199" y="4730299"/>
            <a:ext cx="409136" cy="40913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96360D2-390B-E5B0-60A2-CBC62FB1D32D}"/>
              </a:ext>
            </a:extLst>
          </p:cNvPr>
          <p:cNvSpPr/>
          <p:nvPr/>
        </p:nvSpPr>
        <p:spPr>
          <a:xfrm>
            <a:off x="4572711" y="3813039"/>
            <a:ext cx="353320" cy="328867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9A1D6D-5671-6C23-3B98-25A608E1DB40}"/>
              </a:ext>
            </a:extLst>
          </p:cNvPr>
          <p:cNvSpPr/>
          <p:nvPr/>
        </p:nvSpPr>
        <p:spPr>
          <a:xfrm>
            <a:off x="5718096" y="3813039"/>
            <a:ext cx="353320" cy="328867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C43B0965-7F0A-1D18-AFB4-DDCCB4291057}"/>
              </a:ext>
            </a:extLst>
          </p:cNvPr>
          <p:cNvSpPr/>
          <p:nvPr/>
        </p:nvSpPr>
        <p:spPr>
          <a:xfrm>
            <a:off x="3336053" y="4205226"/>
            <a:ext cx="5305529" cy="361741"/>
          </a:xfrm>
          <a:custGeom>
            <a:avLst/>
            <a:gdLst>
              <a:gd name="connsiteX0" fmla="*/ 0 w 5305529"/>
              <a:gd name="connsiteY0" fmla="*/ 361741 h 361741"/>
              <a:gd name="connsiteX1" fmla="*/ 301450 w 5305529"/>
              <a:gd name="connsiteY1" fmla="*/ 0 h 361741"/>
              <a:gd name="connsiteX2" fmla="*/ 5305529 w 5305529"/>
              <a:gd name="connsiteY2" fmla="*/ 0 h 36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29" h="361741">
                <a:moveTo>
                  <a:pt x="0" y="361741"/>
                </a:moveTo>
                <a:lnTo>
                  <a:pt x="301450" y="0"/>
                </a:lnTo>
                <a:lnTo>
                  <a:pt x="5305529" y="0"/>
                </a:lnTo>
              </a:path>
            </a:pathLst>
          </a:custGeom>
          <a:noFill/>
          <a:ln w="76200">
            <a:solidFill>
              <a:srgbClr val="FF0000">
                <a:alpha val="83000"/>
              </a:srgbClr>
            </a:solidFill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F2633E3-EC21-5E0E-0E53-87963D2E34C9}"/>
              </a:ext>
            </a:extLst>
          </p:cNvPr>
          <p:cNvGrpSpPr/>
          <p:nvPr/>
        </p:nvGrpSpPr>
        <p:grpSpPr>
          <a:xfrm>
            <a:off x="8663351" y="3957387"/>
            <a:ext cx="2170985" cy="524390"/>
            <a:chOff x="9152238" y="2883243"/>
            <a:chExt cx="986012" cy="238166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938237C-747B-9608-0F70-54501BAB78FF}"/>
                </a:ext>
              </a:extLst>
            </p:cNvPr>
            <p:cNvCxnSpPr/>
            <p:nvPr/>
          </p:nvCxnSpPr>
          <p:spPr>
            <a:xfrm>
              <a:off x="9152238" y="2883243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76E003C-69BB-E852-5E75-F3B5FD3D1E5D}"/>
                </a:ext>
              </a:extLst>
            </p:cNvPr>
            <p:cNvCxnSpPr/>
            <p:nvPr/>
          </p:nvCxnSpPr>
          <p:spPr>
            <a:xfrm>
              <a:off x="9152238" y="3103967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A9DD3D-261E-0AD7-FBF1-AC5ECFCA052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83243"/>
              <a:ext cx="0" cy="2381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D7E20362-C9BB-7F9A-E418-70714F885FE6}"/>
              </a:ext>
            </a:extLst>
          </p:cNvPr>
          <p:cNvSpPr txBox="1"/>
          <p:nvPr/>
        </p:nvSpPr>
        <p:spPr>
          <a:xfrm>
            <a:off x="9227133" y="3588055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</a:t>
            </a:r>
            <a:r>
              <a:rPr lang="en-K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ormal queue </a:t>
            </a:r>
            <a:r>
              <a:rPr lang="en-K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(for all flows)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03150E9-C510-F748-92DE-8591E07EC3E6}"/>
              </a:ext>
            </a:extLst>
          </p:cNvPr>
          <p:cNvGrpSpPr/>
          <p:nvPr/>
        </p:nvGrpSpPr>
        <p:grpSpPr>
          <a:xfrm>
            <a:off x="613764" y="3886191"/>
            <a:ext cx="2924072" cy="1112008"/>
            <a:chOff x="613764" y="3429000"/>
            <a:chExt cx="2924072" cy="1112008"/>
          </a:xfrm>
        </p:grpSpPr>
        <p:sp>
          <p:nvSpPr>
            <p:cNvPr id="43" name="Cloud Callout 47">
              <a:extLst>
                <a:ext uri="{FF2B5EF4-FFF2-40B4-BE49-F238E27FC236}">
                  <a16:creationId xmlns:a16="http://schemas.microsoft.com/office/drawing/2014/main" id="{E226DE40-5BDE-7354-50B6-E7D0AD8CA1D2}"/>
                </a:ext>
              </a:extLst>
            </p:cNvPr>
            <p:cNvSpPr/>
            <p:nvPr/>
          </p:nvSpPr>
          <p:spPr>
            <a:xfrm>
              <a:off x="652907" y="3429000"/>
              <a:ext cx="2884929" cy="1112008"/>
            </a:xfrm>
            <a:prstGeom prst="cloudCallout">
              <a:avLst>
                <a:gd name="adj1" fmla="val 4130"/>
                <a:gd name="adj2" fmla="val -8185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solidFill>
                    <a:srgbClr val="C0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Current path </a:t>
              </a:r>
              <a:r>
                <a:rPr lang="en-IN" sz="20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is congested!</a:t>
              </a:r>
              <a:endParaRPr lang="en-SG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20F36F0-702C-3610-F0D8-202BEC68E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3764" y="3743573"/>
              <a:ext cx="529535" cy="529535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48" name="Picture 47" descr="Icon&#10;&#10;Description automatically generated">
            <a:extLst>
              <a:ext uri="{FF2B5EF4-FFF2-40B4-BE49-F238E27FC236}">
                <a16:creationId xmlns:a16="http://schemas.microsoft.com/office/drawing/2014/main" id="{E6AAA751-36F5-0235-48D8-53172EE7BC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4730" y="1466849"/>
            <a:ext cx="548700" cy="5487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056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2" grpId="0" animBg="1"/>
      <p:bldP spid="33" grpId="0" animBg="1"/>
      <p:bldP spid="35" grpId="0" animBg="1"/>
      <p:bldP spid="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10CB7F7-F6A2-EB6A-40EE-3191C962C4FD}"/>
              </a:ext>
            </a:extLst>
          </p:cNvPr>
          <p:cNvCxnSpPr>
            <a:cxnSpLocks/>
          </p:cNvCxnSpPr>
          <p:nvPr/>
        </p:nvCxnSpPr>
        <p:spPr>
          <a:xfrm>
            <a:off x="4149518" y="2614027"/>
            <a:ext cx="0" cy="397633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35A9FA0-15F5-2AAC-7726-3920FD0BFE06}"/>
              </a:ext>
            </a:extLst>
          </p:cNvPr>
          <p:cNvCxnSpPr>
            <a:cxnSpLocks/>
          </p:cNvCxnSpPr>
          <p:nvPr/>
        </p:nvCxnSpPr>
        <p:spPr>
          <a:xfrm>
            <a:off x="7491927" y="2614026"/>
            <a:ext cx="0" cy="3887126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Cautious Rerouting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FAC75-A7C8-389C-EF84-300A6656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21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811C31-F295-22E2-B641-6DFB39B766F7}"/>
              </a:ext>
            </a:extLst>
          </p:cNvPr>
          <p:cNvGrpSpPr/>
          <p:nvPr/>
        </p:nvGrpSpPr>
        <p:grpSpPr>
          <a:xfrm>
            <a:off x="1262719" y="2486807"/>
            <a:ext cx="2297424" cy="934750"/>
            <a:chOff x="1262719" y="2029616"/>
            <a:chExt cx="2297424" cy="9347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7ACFD4-3D89-EE9A-F832-51C84481C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1740539" y="2029616"/>
              <a:ext cx="1327506" cy="59511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FE78C4-8F18-4D28-4BE9-9C96ACAAE7EE}"/>
                </a:ext>
              </a:extLst>
            </p:cNvPr>
            <p:cNvSpPr txBox="1"/>
            <p:nvPr/>
          </p:nvSpPr>
          <p:spPr>
            <a:xfrm>
              <a:off x="1262719" y="2564256"/>
              <a:ext cx="22974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SrcToR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422798-62A0-562E-2C43-9EE28357A2A8}"/>
              </a:ext>
            </a:extLst>
          </p:cNvPr>
          <p:cNvGrpSpPr/>
          <p:nvPr/>
        </p:nvGrpSpPr>
        <p:grpSpPr>
          <a:xfrm>
            <a:off x="8722092" y="2486807"/>
            <a:ext cx="2308645" cy="934750"/>
            <a:chOff x="8722092" y="2029616"/>
            <a:chExt cx="2308645" cy="9347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8CB4A44-7A36-0FFE-50F6-1B82F863F8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9072570" y="2029616"/>
              <a:ext cx="1327506" cy="59511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686018-4AF7-767B-C275-5A33AB560A85}"/>
                </a:ext>
              </a:extLst>
            </p:cNvPr>
            <p:cNvSpPr txBox="1"/>
            <p:nvPr/>
          </p:nvSpPr>
          <p:spPr>
            <a:xfrm>
              <a:off x="8722092" y="2564256"/>
              <a:ext cx="23086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DstToR</a:t>
              </a:r>
            </a:p>
          </p:txBody>
        </p:sp>
      </p:grpSp>
      <p:sp>
        <p:nvSpPr>
          <p:cNvPr id="13" name="Can 12">
            <a:extLst>
              <a:ext uri="{FF2B5EF4-FFF2-40B4-BE49-F238E27FC236}">
                <a16:creationId xmlns:a16="http://schemas.microsoft.com/office/drawing/2014/main" id="{16B3FACE-EC0A-DAA4-27E1-B8BFB353736E}"/>
              </a:ext>
            </a:extLst>
          </p:cNvPr>
          <p:cNvSpPr/>
          <p:nvPr/>
        </p:nvSpPr>
        <p:spPr>
          <a:xfrm rot="5400000">
            <a:off x="5389386" y="2021030"/>
            <a:ext cx="912955" cy="3837120"/>
          </a:xfrm>
          <a:prstGeom prst="can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EF75B579-7897-C35B-2541-434BCBEDC2A4}"/>
              </a:ext>
            </a:extLst>
          </p:cNvPr>
          <p:cNvSpPr/>
          <p:nvPr/>
        </p:nvSpPr>
        <p:spPr>
          <a:xfrm rot="5400000">
            <a:off x="5389386" y="3472785"/>
            <a:ext cx="912955" cy="3837120"/>
          </a:xfrm>
          <a:prstGeom prst="can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27" name="Picture 12" descr="Download Sign Warning Exclamation Mark Royalty-Free Vector Graphic - Pixabay">
            <a:extLst>
              <a:ext uri="{FF2B5EF4-FFF2-40B4-BE49-F238E27FC236}">
                <a16:creationId xmlns:a16="http://schemas.microsoft.com/office/drawing/2014/main" id="{C8DB2D17-43FF-478F-CD97-80184C5F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11" y="3268999"/>
            <a:ext cx="447447" cy="40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495A0B8-CCA7-AA45-438A-721A7E63F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199" y="4730299"/>
            <a:ext cx="409136" cy="40913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B1BE7A9-AF29-4E8F-8418-1F1DB1E25635}"/>
              </a:ext>
            </a:extLst>
          </p:cNvPr>
          <p:cNvSpPr/>
          <p:nvPr/>
        </p:nvSpPr>
        <p:spPr>
          <a:xfrm>
            <a:off x="4572711" y="3813039"/>
            <a:ext cx="353320" cy="328867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3B8C72-F351-E38A-C75C-4B6C39DA7348}"/>
              </a:ext>
            </a:extLst>
          </p:cNvPr>
          <p:cNvSpPr/>
          <p:nvPr/>
        </p:nvSpPr>
        <p:spPr>
          <a:xfrm>
            <a:off x="1092915" y="4488167"/>
            <a:ext cx="353319" cy="3288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711390-0190-EE53-DC6D-975013012817}"/>
              </a:ext>
            </a:extLst>
          </p:cNvPr>
          <p:cNvSpPr/>
          <p:nvPr/>
        </p:nvSpPr>
        <p:spPr>
          <a:xfrm>
            <a:off x="2910487" y="4495817"/>
            <a:ext cx="353319" cy="328866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B5FFF9"/>
                </a:solidFill>
                <a:latin typeface="Fira Sans" panose="020B0503050000020004" pitchFamily="34" charset="0"/>
              </a:rPr>
              <a:t>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1CBB96-3016-F95C-A326-091B00F0B210}"/>
              </a:ext>
            </a:extLst>
          </p:cNvPr>
          <p:cNvSpPr/>
          <p:nvPr/>
        </p:nvSpPr>
        <p:spPr>
          <a:xfrm>
            <a:off x="5718096" y="3813039"/>
            <a:ext cx="353320" cy="328867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D74748F-323E-9B3B-93CD-1705709ED745}"/>
              </a:ext>
            </a:extLst>
          </p:cNvPr>
          <p:cNvCxnSpPr>
            <a:cxnSpLocks/>
          </p:cNvCxnSpPr>
          <p:nvPr/>
        </p:nvCxnSpPr>
        <p:spPr>
          <a:xfrm flipV="1">
            <a:off x="2673926" y="4952455"/>
            <a:ext cx="293440" cy="57714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Freeform 39">
            <a:extLst>
              <a:ext uri="{FF2B5EF4-FFF2-40B4-BE49-F238E27FC236}">
                <a16:creationId xmlns:a16="http://schemas.microsoft.com/office/drawing/2014/main" id="{3173AACD-7403-263E-1621-C9922609A4C4}"/>
              </a:ext>
            </a:extLst>
          </p:cNvPr>
          <p:cNvSpPr/>
          <p:nvPr/>
        </p:nvSpPr>
        <p:spPr>
          <a:xfrm>
            <a:off x="3336053" y="4205226"/>
            <a:ext cx="5305529" cy="361741"/>
          </a:xfrm>
          <a:custGeom>
            <a:avLst/>
            <a:gdLst>
              <a:gd name="connsiteX0" fmla="*/ 0 w 5305529"/>
              <a:gd name="connsiteY0" fmla="*/ 361741 h 361741"/>
              <a:gd name="connsiteX1" fmla="*/ 301450 w 5305529"/>
              <a:gd name="connsiteY1" fmla="*/ 0 h 361741"/>
              <a:gd name="connsiteX2" fmla="*/ 5305529 w 5305529"/>
              <a:gd name="connsiteY2" fmla="*/ 0 h 36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29" h="361741">
                <a:moveTo>
                  <a:pt x="0" y="361741"/>
                </a:moveTo>
                <a:lnTo>
                  <a:pt x="301450" y="0"/>
                </a:lnTo>
                <a:lnTo>
                  <a:pt x="5305529" y="0"/>
                </a:lnTo>
              </a:path>
            </a:pathLst>
          </a:custGeom>
          <a:noFill/>
          <a:ln w="76200">
            <a:solidFill>
              <a:srgbClr val="FF0000">
                <a:alpha val="83000"/>
              </a:srgbClr>
            </a:solidFill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55" name="Picture 54" descr="Icon&#10;&#10;Description automatically generated">
            <a:extLst>
              <a:ext uri="{FF2B5EF4-FFF2-40B4-BE49-F238E27FC236}">
                <a16:creationId xmlns:a16="http://schemas.microsoft.com/office/drawing/2014/main" id="{787161AF-7276-9A4B-CF40-151C6FAFBC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4730" y="1466849"/>
            <a:ext cx="548700" cy="548700"/>
          </a:xfrm>
          <a:prstGeom prst="rect">
            <a:avLst/>
          </a:prstGeom>
        </p:spPr>
      </p:pic>
      <p:sp>
        <p:nvSpPr>
          <p:cNvPr id="5" name="Rectangle: Rounded Corners 18">
            <a:extLst>
              <a:ext uri="{FF2B5EF4-FFF2-40B4-BE49-F238E27FC236}">
                <a16:creationId xmlns:a16="http://schemas.microsoft.com/office/drawing/2014/main" id="{0FC243E5-27EC-FC85-B1F4-A46B3CC9C744}"/>
              </a:ext>
            </a:extLst>
          </p:cNvPr>
          <p:cNvSpPr/>
          <p:nvPr/>
        </p:nvSpPr>
        <p:spPr>
          <a:xfrm>
            <a:off x="1125332" y="5475159"/>
            <a:ext cx="5247923" cy="626333"/>
          </a:xfrm>
          <a:prstGeom prst="roundRect">
            <a:avLst>
              <a:gd name="adj" fmla="val 30223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KR" sz="2000" dirty="0">
                <a:latin typeface="Fira Sans" panose="020B0503050000020004" pitchFamily="34" charset="0"/>
              </a:rPr>
              <a:t>Tag </a:t>
            </a:r>
            <a:r>
              <a:rPr lang="en-KR" sz="2000" dirty="0">
                <a:solidFill>
                  <a:srgbClr val="C00000"/>
                </a:solidFill>
                <a:latin typeface="Fira Sans" panose="020B0503050000020004" pitchFamily="34" charset="0"/>
              </a:rPr>
              <a:t>“</a:t>
            </a:r>
            <a:r>
              <a:rPr lang="en-KR" sz="2000" b="1" dirty="0">
                <a:solidFill>
                  <a:srgbClr val="C00000"/>
                </a:solidFill>
                <a:latin typeface="Fira Sans" panose="020B0503050000020004" pitchFamily="34" charset="0"/>
              </a:rPr>
              <a:t>TAIL</a:t>
            </a:r>
            <a:r>
              <a:rPr lang="en-KR" sz="2000" dirty="0">
                <a:solidFill>
                  <a:srgbClr val="C00000"/>
                </a:solidFill>
                <a:latin typeface="Fira Sans" panose="020B0503050000020004" pitchFamily="34" charset="0"/>
              </a:rPr>
              <a:t>” </a:t>
            </a:r>
            <a:r>
              <a:rPr lang="en-KR" sz="2000" dirty="0">
                <a:latin typeface="Fira Sans" panose="020B0503050000020004" pitchFamily="34" charset="0"/>
              </a:rPr>
              <a:t>– last pkt before rerouting</a:t>
            </a:r>
            <a:endParaRPr lang="en-KR" sz="2000" b="1" dirty="0">
              <a:latin typeface="Fira Sans" panose="020B05030500000200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3891DE-0DA3-C5D5-ADF5-CC6CCE96FF8C}"/>
              </a:ext>
            </a:extLst>
          </p:cNvPr>
          <p:cNvGrpSpPr/>
          <p:nvPr/>
        </p:nvGrpSpPr>
        <p:grpSpPr>
          <a:xfrm>
            <a:off x="8663351" y="3957387"/>
            <a:ext cx="2170985" cy="524390"/>
            <a:chOff x="9152238" y="2883243"/>
            <a:chExt cx="986012" cy="23816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42AB55B-4D38-37E4-694A-E69255B95272}"/>
                </a:ext>
              </a:extLst>
            </p:cNvPr>
            <p:cNvCxnSpPr/>
            <p:nvPr/>
          </p:nvCxnSpPr>
          <p:spPr>
            <a:xfrm>
              <a:off x="9152238" y="2883243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1116913-A796-6409-6C96-E355D7634E1E}"/>
                </a:ext>
              </a:extLst>
            </p:cNvPr>
            <p:cNvCxnSpPr/>
            <p:nvPr/>
          </p:nvCxnSpPr>
          <p:spPr>
            <a:xfrm>
              <a:off x="9152238" y="3103967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B891554-3587-B553-00EB-9129B8D9EE04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83243"/>
              <a:ext cx="0" cy="2381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5AC61E6-45DB-AEC9-4B56-528F48576FC4}"/>
              </a:ext>
            </a:extLst>
          </p:cNvPr>
          <p:cNvSpPr txBox="1"/>
          <p:nvPr/>
        </p:nvSpPr>
        <p:spPr>
          <a:xfrm>
            <a:off x="9227133" y="3588055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</a:t>
            </a:r>
            <a:r>
              <a:rPr lang="en-K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ormal queue </a:t>
            </a:r>
            <a:r>
              <a:rPr lang="en-K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(for all flows)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6C36DEB-B568-0CF5-94D4-D4E3956CB615}"/>
              </a:ext>
            </a:extLst>
          </p:cNvPr>
          <p:cNvSpPr/>
          <p:nvPr/>
        </p:nvSpPr>
        <p:spPr>
          <a:xfrm>
            <a:off x="1026615" y="1227523"/>
            <a:ext cx="9688788" cy="1082947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Reroute “only if” there is no inflight out-of-order packets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	 Enable switch to reorder a flow using a single reorder queue</a:t>
            </a:r>
            <a:endParaRPr lang="en-KR" sz="2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C1F3F0F-EE6A-6053-C854-5667F9819325}"/>
              </a:ext>
            </a:extLst>
          </p:cNvPr>
          <p:cNvSpPr/>
          <p:nvPr/>
        </p:nvSpPr>
        <p:spPr>
          <a:xfrm>
            <a:off x="5078061" y="984907"/>
            <a:ext cx="1585897" cy="400110"/>
          </a:xfrm>
          <a:prstGeom prst="roundRect">
            <a:avLst>
              <a:gd name="adj" fmla="val 399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Key Idea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917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7.40741E-7 L 0.14948 0.00116 " pathEditMode="relative" rAng="0" ptsTypes="AA">
                                      <p:cBhvr>
                                        <p:cTn id="8" dur="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74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5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30" grpId="2" animBg="1"/>
      <p:bldP spid="31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1C38CB1-A979-DD97-2E43-DBF6E998A53B}"/>
              </a:ext>
            </a:extLst>
          </p:cNvPr>
          <p:cNvCxnSpPr>
            <a:cxnSpLocks/>
          </p:cNvCxnSpPr>
          <p:nvPr/>
        </p:nvCxnSpPr>
        <p:spPr>
          <a:xfrm>
            <a:off x="4149518" y="2614027"/>
            <a:ext cx="0" cy="397633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14C2A97-E414-A8E5-30A9-64BA8672D7EC}"/>
              </a:ext>
            </a:extLst>
          </p:cNvPr>
          <p:cNvCxnSpPr>
            <a:cxnSpLocks/>
          </p:cNvCxnSpPr>
          <p:nvPr/>
        </p:nvCxnSpPr>
        <p:spPr>
          <a:xfrm>
            <a:off x="7491927" y="2614026"/>
            <a:ext cx="0" cy="3887126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Cautious Rerouting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FAC75-A7C8-389C-EF84-300A6656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22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811C31-F295-22E2-B641-6DFB39B766F7}"/>
              </a:ext>
            </a:extLst>
          </p:cNvPr>
          <p:cNvGrpSpPr/>
          <p:nvPr/>
        </p:nvGrpSpPr>
        <p:grpSpPr>
          <a:xfrm>
            <a:off x="1262719" y="2486807"/>
            <a:ext cx="2297424" cy="934750"/>
            <a:chOff x="1262719" y="2029616"/>
            <a:chExt cx="2297424" cy="9347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7ACFD4-3D89-EE9A-F832-51C84481C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1740539" y="2029616"/>
              <a:ext cx="1327506" cy="59511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FE78C4-8F18-4D28-4BE9-9C96ACAAE7EE}"/>
                </a:ext>
              </a:extLst>
            </p:cNvPr>
            <p:cNvSpPr txBox="1"/>
            <p:nvPr/>
          </p:nvSpPr>
          <p:spPr>
            <a:xfrm>
              <a:off x="1262719" y="2564256"/>
              <a:ext cx="22974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SrcToR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422798-62A0-562E-2C43-9EE28357A2A8}"/>
              </a:ext>
            </a:extLst>
          </p:cNvPr>
          <p:cNvGrpSpPr/>
          <p:nvPr/>
        </p:nvGrpSpPr>
        <p:grpSpPr>
          <a:xfrm>
            <a:off x="8722092" y="2486807"/>
            <a:ext cx="2308645" cy="934750"/>
            <a:chOff x="8722092" y="2029616"/>
            <a:chExt cx="2308645" cy="9347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8CB4A44-7A36-0FFE-50F6-1B82F863F8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9072570" y="2029616"/>
              <a:ext cx="1327506" cy="59511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686018-4AF7-767B-C275-5A33AB560A85}"/>
                </a:ext>
              </a:extLst>
            </p:cNvPr>
            <p:cNvSpPr txBox="1"/>
            <p:nvPr/>
          </p:nvSpPr>
          <p:spPr>
            <a:xfrm>
              <a:off x="8722092" y="2564256"/>
              <a:ext cx="23086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DstToR</a:t>
              </a:r>
            </a:p>
          </p:txBody>
        </p:sp>
      </p:grpSp>
      <p:sp>
        <p:nvSpPr>
          <p:cNvPr id="13" name="Can 12">
            <a:extLst>
              <a:ext uri="{FF2B5EF4-FFF2-40B4-BE49-F238E27FC236}">
                <a16:creationId xmlns:a16="http://schemas.microsoft.com/office/drawing/2014/main" id="{16B3FACE-EC0A-DAA4-27E1-B8BFB353736E}"/>
              </a:ext>
            </a:extLst>
          </p:cNvPr>
          <p:cNvSpPr/>
          <p:nvPr/>
        </p:nvSpPr>
        <p:spPr>
          <a:xfrm rot="5400000">
            <a:off x="5389386" y="2021030"/>
            <a:ext cx="912955" cy="3837120"/>
          </a:xfrm>
          <a:prstGeom prst="can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EF75B579-7897-C35B-2541-434BCBEDC2A4}"/>
              </a:ext>
            </a:extLst>
          </p:cNvPr>
          <p:cNvSpPr/>
          <p:nvPr/>
        </p:nvSpPr>
        <p:spPr>
          <a:xfrm rot="5400000">
            <a:off x="5389386" y="3472785"/>
            <a:ext cx="912955" cy="3837120"/>
          </a:xfrm>
          <a:prstGeom prst="can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27" name="Picture 12" descr="Download Sign Warning Exclamation Mark Royalty-Free Vector Graphic - Pixabay">
            <a:extLst>
              <a:ext uri="{FF2B5EF4-FFF2-40B4-BE49-F238E27FC236}">
                <a16:creationId xmlns:a16="http://schemas.microsoft.com/office/drawing/2014/main" id="{C8DB2D17-43FF-478F-CD97-80184C5F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11" y="3268999"/>
            <a:ext cx="447447" cy="40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495A0B8-CCA7-AA45-438A-721A7E63F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199" y="4730299"/>
            <a:ext cx="409136" cy="40913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B1BE7A9-AF29-4E8F-8418-1F1DB1E25635}"/>
              </a:ext>
            </a:extLst>
          </p:cNvPr>
          <p:cNvSpPr/>
          <p:nvPr/>
        </p:nvSpPr>
        <p:spPr>
          <a:xfrm>
            <a:off x="4572711" y="3813039"/>
            <a:ext cx="353320" cy="328867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711390-0190-EE53-DC6D-975013012817}"/>
              </a:ext>
            </a:extLst>
          </p:cNvPr>
          <p:cNvSpPr/>
          <p:nvPr/>
        </p:nvSpPr>
        <p:spPr>
          <a:xfrm>
            <a:off x="2910487" y="4495817"/>
            <a:ext cx="353319" cy="328866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B5FFF9"/>
                </a:solidFill>
                <a:latin typeface="Fira Sans" panose="020B0503050000020004" pitchFamily="34" charset="0"/>
              </a:rPr>
              <a:t>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1CBB96-3016-F95C-A326-091B00F0B210}"/>
              </a:ext>
            </a:extLst>
          </p:cNvPr>
          <p:cNvSpPr/>
          <p:nvPr/>
        </p:nvSpPr>
        <p:spPr>
          <a:xfrm>
            <a:off x="5718096" y="3813039"/>
            <a:ext cx="353320" cy="328867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E618FE2C-40FF-9E4A-853D-4F810B389923}"/>
              </a:ext>
            </a:extLst>
          </p:cNvPr>
          <p:cNvSpPr/>
          <p:nvPr/>
        </p:nvSpPr>
        <p:spPr>
          <a:xfrm>
            <a:off x="3338097" y="4203270"/>
            <a:ext cx="5305529" cy="361741"/>
          </a:xfrm>
          <a:custGeom>
            <a:avLst/>
            <a:gdLst>
              <a:gd name="connsiteX0" fmla="*/ 0 w 5305529"/>
              <a:gd name="connsiteY0" fmla="*/ 361741 h 361741"/>
              <a:gd name="connsiteX1" fmla="*/ 301450 w 5305529"/>
              <a:gd name="connsiteY1" fmla="*/ 0 h 361741"/>
              <a:gd name="connsiteX2" fmla="*/ 5305529 w 5305529"/>
              <a:gd name="connsiteY2" fmla="*/ 0 h 36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29" h="361741">
                <a:moveTo>
                  <a:pt x="0" y="361741"/>
                </a:moveTo>
                <a:lnTo>
                  <a:pt x="301450" y="0"/>
                </a:lnTo>
                <a:lnTo>
                  <a:pt x="5305529" y="0"/>
                </a:lnTo>
              </a:path>
            </a:pathLst>
          </a:custGeom>
          <a:noFill/>
          <a:ln w="76200">
            <a:solidFill>
              <a:srgbClr val="FF0000">
                <a:alpha val="83000"/>
              </a:srgbClr>
            </a:solidFill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AA683A96-D4BC-897F-68B9-BFD7AD85D890}"/>
              </a:ext>
            </a:extLst>
          </p:cNvPr>
          <p:cNvSpPr/>
          <p:nvPr/>
        </p:nvSpPr>
        <p:spPr>
          <a:xfrm flipV="1">
            <a:off x="3336052" y="4800695"/>
            <a:ext cx="5305529" cy="358836"/>
          </a:xfrm>
          <a:custGeom>
            <a:avLst/>
            <a:gdLst>
              <a:gd name="connsiteX0" fmla="*/ 0 w 5305529"/>
              <a:gd name="connsiteY0" fmla="*/ 361741 h 361741"/>
              <a:gd name="connsiteX1" fmla="*/ 301450 w 5305529"/>
              <a:gd name="connsiteY1" fmla="*/ 0 h 361741"/>
              <a:gd name="connsiteX2" fmla="*/ 5305529 w 5305529"/>
              <a:gd name="connsiteY2" fmla="*/ 0 h 36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29" h="361741">
                <a:moveTo>
                  <a:pt x="0" y="361741"/>
                </a:moveTo>
                <a:lnTo>
                  <a:pt x="301450" y="0"/>
                </a:lnTo>
                <a:lnTo>
                  <a:pt x="5305529" y="0"/>
                </a:lnTo>
              </a:path>
            </a:pathLst>
          </a:custGeom>
          <a:noFill/>
          <a:ln w="76200">
            <a:solidFill>
              <a:schemeClr val="accent6">
                <a:alpha val="83000"/>
              </a:schemeClr>
            </a:solidFill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2FFC05-E509-6BEC-0901-2539C6B38D86}"/>
              </a:ext>
            </a:extLst>
          </p:cNvPr>
          <p:cNvSpPr txBox="1"/>
          <p:nvPr/>
        </p:nvSpPr>
        <p:spPr>
          <a:xfrm>
            <a:off x="3450120" y="4459388"/>
            <a:ext cx="1304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b="1" i="1" dirty="0">
                <a:solidFill>
                  <a:schemeClr val="accent6"/>
                </a:solidFill>
              </a:rPr>
              <a:t>Reroute!</a:t>
            </a:r>
          </a:p>
        </p:txBody>
      </p:sp>
      <p:pic>
        <p:nvPicPr>
          <p:cNvPr id="46" name="Picture 45" descr="Icon&#10;&#10;Description automatically generated">
            <a:extLst>
              <a:ext uri="{FF2B5EF4-FFF2-40B4-BE49-F238E27FC236}">
                <a16:creationId xmlns:a16="http://schemas.microsoft.com/office/drawing/2014/main" id="{1559B4B9-EB8F-1E21-D79E-7B4EDA7506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4730" y="1466849"/>
            <a:ext cx="548700" cy="5487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BC53CD6-6E0E-73AA-511E-2C51E6BDFE9E}"/>
              </a:ext>
            </a:extLst>
          </p:cNvPr>
          <p:cNvSpPr/>
          <p:nvPr/>
        </p:nvSpPr>
        <p:spPr>
          <a:xfrm>
            <a:off x="1092915" y="4488167"/>
            <a:ext cx="353319" cy="3288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A90DAC-AE4B-37C0-6C33-A977CA67DFDD}"/>
              </a:ext>
            </a:extLst>
          </p:cNvPr>
          <p:cNvSpPr/>
          <p:nvPr/>
        </p:nvSpPr>
        <p:spPr>
          <a:xfrm>
            <a:off x="2909284" y="4495817"/>
            <a:ext cx="353319" cy="328866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A851B7-4B41-0F9F-0E26-AA948A4A4EA3}"/>
              </a:ext>
            </a:extLst>
          </p:cNvPr>
          <p:cNvGrpSpPr/>
          <p:nvPr/>
        </p:nvGrpSpPr>
        <p:grpSpPr>
          <a:xfrm>
            <a:off x="8663351" y="3957387"/>
            <a:ext cx="2170985" cy="524390"/>
            <a:chOff x="9152238" y="2883243"/>
            <a:chExt cx="986012" cy="23816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D0CF55D-CEEB-3B89-01FA-558A35D23E0D}"/>
                </a:ext>
              </a:extLst>
            </p:cNvPr>
            <p:cNvCxnSpPr/>
            <p:nvPr/>
          </p:nvCxnSpPr>
          <p:spPr>
            <a:xfrm>
              <a:off x="9152238" y="2883243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C36D78C-04D1-21FD-3DC9-049360E9F1FB}"/>
                </a:ext>
              </a:extLst>
            </p:cNvPr>
            <p:cNvCxnSpPr/>
            <p:nvPr/>
          </p:nvCxnSpPr>
          <p:spPr>
            <a:xfrm>
              <a:off x="9152238" y="3103967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A72ABC4-EF17-0059-9C96-3BA39568D3A7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83243"/>
              <a:ext cx="0" cy="2381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DE20B73-63B0-03FC-0A16-F7B5CC3F6C3F}"/>
              </a:ext>
            </a:extLst>
          </p:cNvPr>
          <p:cNvSpPr txBox="1"/>
          <p:nvPr/>
        </p:nvSpPr>
        <p:spPr>
          <a:xfrm>
            <a:off x="9227133" y="3588055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</a:t>
            </a:r>
            <a:r>
              <a:rPr lang="en-K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ormal queue </a:t>
            </a:r>
            <a:r>
              <a:rPr lang="en-K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(for all flows)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E297997-D5AE-AFD7-479B-AF48B12AFF94}"/>
              </a:ext>
            </a:extLst>
          </p:cNvPr>
          <p:cNvSpPr/>
          <p:nvPr/>
        </p:nvSpPr>
        <p:spPr>
          <a:xfrm>
            <a:off x="3336051" y="4203270"/>
            <a:ext cx="5305529" cy="361741"/>
          </a:xfrm>
          <a:custGeom>
            <a:avLst/>
            <a:gdLst>
              <a:gd name="connsiteX0" fmla="*/ 0 w 5305529"/>
              <a:gd name="connsiteY0" fmla="*/ 361741 h 361741"/>
              <a:gd name="connsiteX1" fmla="*/ 301450 w 5305529"/>
              <a:gd name="connsiteY1" fmla="*/ 0 h 361741"/>
              <a:gd name="connsiteX2" fmla="*/ 5305529 w 5305529"/>
              <a:gd name="connsiteY2" fmla="*/ 0 h 36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29" h="361741">
                <a:moveTo>
                  <a:pt x="0" y="361741"/>
                </a:moveTo>
                <a:lnTo>
                  <a:pt x="301450" y="0"/>
                </a:lnTo>
                <a:lnTo>
                  <a:pt x="5305529" y="0"/>
                </a:lnTo>
              </a:path>
            </a:pathLst>
          </a:custGeom>
          <a:noFill/>
          <a:ln w="38100">
            <a:solidFill>
              <a:srgbClr val="FF0000">
                <a:alpha val="83000"/>
              </a:srgbClr>
            </a:solidFill>
            <a:prstDash val="sysDot"/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ED9D438-7064-EDE8-3EA7-FD2D9C12126C}"/>
              </a:ext>
            </a:extLst>
          </p:cNvPr>
          <p:cNvSpPr/>
          <p:nvPr/>
        </p:nvSpPr>
        <p:spPr>
          <a:xfrm>
            <a:off x="1026615" y="1227523"/>
            <a:ext cx="9688788" cy="1082947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Reroute “only if” there is no inflight out-of-order packets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	 Enable switch to reorder a flow using a single reorder queue</a:t>
            </a:r>
            <a:endParaRPr lang="en-KR" sz="2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B386E86-3F33-F38D-3D4A-542EB5D278BF}"/>
              </a:ext>
            </a:extLst>
          </p:cNvPr>
          <p:cNvSpPr/>
          <p:nvPr/>
        </p:nvSpPr>
        <p:spPr>
          <a:xfrm>
            <a:off x="5078061" y="984907"/>
            <a:ext cx="1585897" cy="400110"/>
          </a:xfrm>
          <a:prstGeom prst="roundRect">
            <a:avLst>
              <a:gd name="adj" fmla="val 399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Key Idea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426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11111E-6 L 0.10651 -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26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1.11111E-6 L 0.09519 -1.11111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53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85185E-6 L 0.01459 1.85185E-6 L 0.05808 -0.09954 L 0.13764 -0.09954 " pathEditMode="relative" rAng="0" ptsTypes="AAAA">
                                      <p:cBhvr>
                                        <p:cTn id="1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75" y="-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7.40741E-7 L 0.14882 -7.40741E-7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3" grpId="0" animBg="1"/>
      <p:bldP spid="21" grpId="0" animBg="1"/>
      <p:bldP spid="32" grpId="0" animBg="1"/>
      <p:bldP spid="34" grpId="0"/>
      <p:bldP spid="12" grpId="0" animBg="1"/>
      <p:bldP spid="12" grpId="1" animBg="1"/>
      <p:bldP spid="15" grpId="0" animBg="1"/>
      <p:bldP spid="1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8078E01-1DAE-3ECF-3E49-C1ACDD45D5C3}"/>
              </a:ext>
            </a:extLst>
          </p:cNvPr>
          <p:cNvCxnSpPr>
            <a:cxnSpLocks/>
          </p:cNvCxnSpPr>
          <p:nvPr/>
        </p:nvCxnSpPr>
        <p:spPr>
          <a:xfrm>
            <a:off x="4149518" y="2614027"/>
            <a:ext cx="0" cy="397633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6843F10-500D-77DE-E70D-27448AC6708D}"/>
              </a:ext>
            </a:extLst>
          </p:cNvPr>
          <p:cNvCxnSpPr>
            <a:cxnSpLocks/>
          </p:cNvCxnSpPr>
          <p:nvPr/>
        </p:nvCxnSpPr>
        <p:spPr>
          <a:xfrm>
            <a:off x="7491927" y="2614026"/>
            <a:ext cx="0" cy="3887126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Cautious Rerouting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FAC75-A7C8-389C-EF84-300A6656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23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811C31-F295-22E2-B641-6DFB39B766F7}"/>
              </a:ext>
            </a:extLst>
          </p:cNvPr>
          <p:cNvGrpSpPr/>
          <p:nvPr/>
        </p:nvGrpSpPr>
        <p:grpSpPr>
          <a:xfrm>
            <a:off x="1262719" y="2486807"/>
            <a:ext cx="2297424" cy="934750"/>
            <a:chOff x="1262719" y="2029616"/>
            <a:chExt cx="2297424" cy="9347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7ACFD4-3D89-EE9A-F832-51C84481C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1740539" y="2029616"/>
              <a:ext cx="1327506" cy="59511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FE78C4-8F18-4D28-4BE9-9C96ACAAE7EE}"/>
                </a:ext>
              </a:extLst>
            </p:cNvPr>
            <p:cNvSpPr txBox="1"/>
            <p:nvPr/>
          </p:nvSpPr>
          <p:spPr>
            <a:xfrm>
              <a:off x="1262719" y="2564256"/>
              <a:ext cx="22974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SrcToR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422798-62A0-562E-2C43-9EE28357A2A8}"/>
              </a:ext>
            </a:extLst>
          </p:cNvPr>
          <p:cNvGrpSpPr/>
          <p:nvPr/>
        </p:nvGrpSpPr>
        <p:grpSpPr>
          <a:xfrm>
            <a:off x="8722092" y="2486807"/>
            <a:ext cx="2308645" cy="934750"/>
            <a:chOff x="8722092" y="2029616"/>
            <a:chExt cx="2308645" cy="9347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8CB4A44-7A36-0FFE-50F6-1B82F863F8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9072570" y="2029616"/>
              <a:ext cx="1327506" cy="59511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686018-4AF7-767B-C275-5A33AB560A85}"/>
                </a:ext>
              </a:extLst>
            </p:cNvPr>
            <p:cNvSpPr txBox="1"/>
            <p:nvPr/>
          </p:nvSpPr>
          <p:spPr>
            <a:xfrm>
              <a:off x="8722092" y="2564256"/>
              <a:ext cx="23086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DstToR</a:t>
              </a:r>
            </a:p>
          </p:txBody>
        </p:sp>
      </p:grpSp>
      <p:sp>
        <p:nvSpPr>
          <p:cNvPr id="13" name="Can 12">
            <a:extLst>
              <a:ext uri="{FF2B5EF4-FFF2-40B4-BE49-F238E27FC236}">
                <a16:creationId xmlns:a16="http://schemas.microsoft.com/office/drawing/2014/main" id="{16B3FACE-EC0A-DAA4-27E1-B8BFB353736E}"/>
              </a:ext>
            </a:extLst>
          </p:cNvPr>
          <p:cNvSpPr/>
          <p:nvPr/>
        </p:nvSpPr>
        <p:spPr>
          <a:xfrm rot="5400000">
            <a:off x="5389386" y="2021030"/>
            <a:ext cx="912955" cy="3837120"/>
          </a:xfrm>
          <a:prstGeom prst="can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EF75B579-7897-C35B-2541-434BCBEDC2A4}"/>
              </a:ext>
            </a:extLst>
          </p:cNvPr>
          <p:cNvSpPr/>
          <p:nvPr/>
        </p:nvSpPr>
        <p:spPr>
          <a:xfrm rot="5400000">
            <a:off x="5389386" y="3472785"/>
            <a:ext cx="912955" cy="3837120"/>
          </a:xfrm>
          <a:prstGeom prst="can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27" name="Picture 12" descr="Download Sign Warning Exclamation Mark Royalty-Free Vector Graphic - Pixabay">
            <a:extLst>
              <a:ext uri="{FF2B5EF4-FFF2-40B4-BE49-F238E27FC236}">
                <a16:creationId xmlns:a16="http://schemas.microsoft.com/office/drawing/2014/main" id="{C8DB2D17-43FF-478F-CD97-80184C5F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11" y="3268999"/>
            <a:ext cx="447447" cy="40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495A0B8-CCA7-AA45-438A-721A7E63F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199" y="4730299"/>
            <a:ext cx="409136" cy="40913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B1BE7A9-AF29-4E8F-8418-1F1DB1E25635}"/>
              </a:ext>
            </a:extLst>
          </p:cNvPr>
          <p:cNvSpPr/>
          <p:nvPr/>
        </p:nvSpPr>
        <p:spPr>
          <a:xfrm>
            <a:off x="5738488" y="3814472"/>
            <a:ext cx="353320" cy="328867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711390-0190-EE53-DC6D-975013012817}"/>
              </a:ext>
            </a:extLst>
          </p:cNvPr>
          <p:cNvSpPr/>
          <p:nvPr/>
        </p:nvSpPr>
        <p:spPr>
          <a:xfrm>
            <a:off x="4588835" y="3814473"/>
            <a:ext cx="353319" cy="328866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B5FFF9"/>
                </a:solidFill>
                <a:latin typeface="Fira Sans" panose="020B0503050000020004" pitchFamily="34" charset="0"/>
              </a:rPr>
              <a:t>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1CBB96-3016-F95C-A326-091B00F0B210}"/>
              </a:ext>
            </a:extLst>
          </p:cNvPr>
          <p:cNvSpPr/>
          <p:nvPr/>
        </p:nvSpPr>
        <p:spPr>
          <a:xfrm>
            <a:off x="7016228" y="3814472"/>
            <a:ext cx="353320" cy="328867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AA683A96-D4BC-897F-68B9-BFD7AD85D890}"/>
              </a:ext>
            </a:extLst>
          </p:cNvPr>
          <p:cNvSpPr/>
          <p:nvPr/>
        </p:nvSpPr>
        <p:spPr>
          <a:xfrm flipV="1">
            <a:off x="3336052" y="4800695"/>
            <a:ext cx="5305529" cy="358836"/>
          </a:xfrm>
          <a:custGeom>
            <a:avLst/>
            <a:gdLst>
              <a:gd name="connsiteX0" fmla="*/ 0 w 5305529"/>
              <a:gd name="connsiteY0" fmla="*/ 361741 h 361741"/>
              <a:gd name="connsiteX1" fmla="*/ 301450 w 5305529"/>
              <a:gd name="connsiteY1" fmla="*/ 0 h 361741"/>
              <a:gd name="connsiteX2" fmla="*/ 5305529 w 5305529"/>
              <a:gd name="connsiteY2" fmla="*/ 0 h 36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29" h="361741">
                <a:moveTo>
                  <a:pt x="0" y="361741"/>
                </a:moveTo>
                <a:lnTo>
                  <a:pt x="301450" y="0"/>
                </a:lnTo>
                <a:lnTo>
                  <a:pt x="5305529" y="0"/>
                </a:lnTo>
              </a:path>
            </a:pathLst>
          </a:custGeom>
          <a:noFill/>
          <a:ln w="76200">
            <a:solidFill>
              <a:schemeClr val="accent6">
                <a:alpha val="83000"/>
              </a:schemeClr>
            </a:solidFill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2FFC05-E509-6BEC-0901-2539C6B38D86}"/>
              </a:ext>
            </a:extLst>
          </p:cNvPr>
          <p:cNvSpPr txBox="1"/>
          <p:nvPr/>
        </p:nvSpPr>
        <p:spPr>
          <a:xfrm>
            <a:off x="3450120" y="4459388"/>
            <a:ext cx="1304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b="1" i="1" dirty="0">
                <a:solidFill>
                  <a:schemeClr val="accent6"/>
                </a:solidFill>
              </a:rPr>
              <a:t>Reroute!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474EF1-A3DC-DDEC-C32C-7726629E844D}"/>
              </a:ext>
            </a:extLst>
          </p:cNvPr>
          <p:cNvSpPr/>
          <p:nvPr/>
        </p:nvSpPr>
        <p:spPr>
          <a:xfrm>
            <a:off x="2907887" y="4495817"/>
            <a:ext cx="353319" cy="328866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EDCA9C-AD0B-588C-E0BA-41B2F4B62F4E}"/>
              </a:ext>
            </a:extLst>
          </p:cNvPr>
          <p:cNvCxnSpPr>
            <a:cxnSpLocks/>
          </p:cNvCxnSpPr>
          <p:nvPr/>
        </p:nvCxnSpPr>
        <p:spPr>
          <a:xfrm flipH="1" flipV="1">
            <a:off x="8631727" y="5312917"/>
            <a:ext cx="506387" cy="27125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7847968-6FC0-27A6-A67F-1BF2D6A36E86}"/>
              </a:ext>
            </a:extLst>
          </p:cNvPr>
          <p:cNvSpPr txBox="1"/>
          <p:nvPr/>
        </p:nvSpPr>
        <p:spPr>
          <a:xfrm>
            <a:off x="9227133" y="5322559"/>
            <a:ext cx="24048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800" b="1" dirty="0">
                <a:latin typeface="Fira Sans" panose="020B0503050000020004" pitchFamily="34" charset="0"/>
              </a:rPr>
              <a:t>Out-of-order!</a:t>
            </a:r>
          </a:p>
        </p:txBody>
      </p:sp>
      <p:pic>
        <p:nvPicPr>
          <p:cNvPr id="51" name="Picture 50" descr="Icon&#10;&#10;Description automatically generated">
            <a:extLst>
              <a:ext uri="{FF2B5EF4-FFF2-40B4-BE49-F238E27FC236}">
                <a16:creationId xmlns:a16="http://schemas.microsoft.com/office/drawing/2014/main" id="{382F3325-1AE8-56FD-F549-A73962AAA6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4730" y="1466849"/>
            <a:ext cx="548700" cy="5487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1C0561B-03DA-AB5B-41AC-5FED9950F1ED}"/>
              </a:ext>
            </a:extLst>
          </p:cNvPr>
          <p:cNvGrpSpPr/>
          <p:nvPr/>
        </p:nvGrpSpPr>
        <p:grpSpPr>
          <a:xfrm>
            <a:off x="8663351" y="3957387"/>
            <a:ext cx="2170985" cy="524390"/>
            <a:chOff x="9152238" y="2883243"/>
            <a:chExt cx="986012" cy="238166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A6E3F7B-EBAA-F505-0339-847346735125}"/>
                </a:ext>
              </a:extLst>
            </p:cNvPr>
            <p:cNvCxnSpPr/>
            <p:nvPr/>
          </p:nvCxnSpPr>
          <p:spPr>
            <a:xfrm>
              <a:off x="9152238" y="2883243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AFEBF26-3C5A-9BE5-024E-B8B06DE7E43C}"/>
                </a:ext>
              </a:extLst>
            </p:cNvPr>
            <p:cNvCxnSpPr/>
            <p:nvPr/>
          </p:nvCxnSpPr>
          <p:spPr>
            <a:xfrm>
              <a:off x="9152238" y="3103967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412063-AB7A-0670-6097-3FBAB6665BCF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83243"/>
              <a:ext cx="0" cy="2381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31F88AD-15C4-4BD1-EBB3-35902CE49008}"/>
              </a:ext>
            </a:extLst>
          </p:cNvPr>
          <p:cNvSpPr txBox="1"/>
          <p:nvPr/>
        </p:nvSpPr>
        <p:spPr>
          <a:xfrm>
            <a:off x="9227133" y="3588055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</a:t>
            </a:r>
            <a:r>
              <a:rPr lang="en-K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ormal queue </a:t>
            </a:r>
            <a:r>
              <a:rPr lang="en-K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(for all flows)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2DA5E350-0754-9FB8-77E5-BB16E4F076A5}"/>
              </a:ext>
            </a:extLst>
          </p:cNvPr>
          <p:cNvSpPr/>
          <p:nvPr/>
        </p:nvSpPr>
        <p:spPr>
          <a:xfrm>
            <a:off x="3336051" y="4203270"/>
            <a:ext cx="5305529" cy="361741"/>
          </a:xfrm>
          <a:custGeom>
            <a:avLst/>
            <a:gdLst>
              <a:gd name="connsiteX0" fmla="*/ 0 w 5305529"/>
              <a:gd name="connsiteY0" fmla="*/ 361741 h 361741"/>
              <a:gd name="connsiteX1" fmla="*/ 301450 w 5305529"/>
              <a:gd name="connsiteY1" fmla="*/ 0 h 361741"/>
              <a:gd name="connsiteX2" fmla="*/ 5305529 w 5305529"/>
              <a:gd name="connsiteY2" fmla="*/ 0 h 36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29" h="361741">
                <a:moveTo>
                  <a:pt x="0" y="361741"/>
                </a:moveTo>
                <a:lnTo>
                  <a:pt x="301450" y="0"/>
                </a:lnTo>
                <a:lnTo>
                  <a:pt x="5305529" y="0"/>
                </a:lnTo>
              </a:path>
            </a:pathLst>
          </a:custGeom>
          <a:noFill/>
          <a:ln w="38100">
            <a:solidFill>
              <a:srgbClr val="FF0000">
                <a:alpha val="83000"/>
              </a:srgbClr>
            </a:solidFill>
            <a:prstDash val="sysDot"/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931318-4D13-CD1D-F4F3-905814D39D46}"/>
              </a:ext>
            </a:extLst>
          </p:cNvPr>
          <p:cNvSpPr/>
          <p:nvPr/>
        </p:nvSpPr>
        <p:spPr>
          <a:xfrm>
            <a:off x="1026615" y="1227523"/>
            <a:ext cx="9688788" cy="1082947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Reroute “only if” there is no inflight out-of-order packets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	 Enable switch to reorder a flow using a single reorder queue</a:t>
            </a:r>
            <a:endParaRPr lang="en-KR" sz="2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5A1A99-DF84-29D8-1DBD-077870C140C9}"/>
              </a:ext>
            </a:extLst>
          </p:cNvPr>
          <p:cNvSpPr/>
          <p:nvPr/>
        </p:nvSpPr>
        <p:spPr>
          <a:xfrm>
            <a:off x="5078061" y="984907"/>
            <a:ext cx="1585897" cy="400110"/>
          </a:xfrm>
          <a:prstGeom prst="roundRect">
            <a:avLst>
              <a:gd name="adj" fmla="val 399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Key Idea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946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1.85185E-6 L 0.01576 1.85185E-6 L 0.0625 0.06829 L 0.44154 0.06829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070" y="3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  <p:bldP spid="4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20DF03-2C27-95BD-B24D-2CF36C241463}"/>
              </a:ext>
            </a:extLst>
          </p:cNvPr>
          <p:cNvCxnSpPr>
            <a:cxnSpLocks/>
          </p:cNvCxnSpPr>
          <p:nvPr/>
        </p:nvCxnSpPr>
        <p:spPr>
          <a:xfrm>
            <a:off x="4149518" y="2614027"/>
            <a:ext cx="0" cy="397633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CBD870-8B2D-CB14-A36D-586EB062135F}"/>
              </a:ext>
            </a:extLst>
          </p:cNvPr>
          <p:cNvCxnSpPr>
            <a:cxnSpLocks/>
          </p:cNvCxnSpPr>
          <p:nvPr/>
        </p:nvCxnSpPr>
        <p:spPr>
          <a:xfrm>
            <a:off x="7491927" y="2614026"/>
            <a:ext cx="0" cy="3887126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Cautious Rerouting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FAC75-A7C8-389C-EF84-300A6656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24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811C31-F295-22E2-B641-6DFB39B766F7}"/>
              </a:ext>
            </a:extLst>
          </p:cNvPr>
          <p:cNvGrpSpPr/>
          <p:nvPr/>
        </p:nvGrpSpPr>
        <p:grpSpPr>
          <a:xfrm>
            <a:off x="1262719" y="2486807"/>
            <a:ext cx="2297424" cy="934750"/>
            <a:chOff x="1262719" y="2029616"/>
            <a:chExt cx="2297424" cy="9347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7ACFD4-3D89-EE9A-F832-51C84481C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1740539" y="2029616"/>
              <a:ext cx="1327506" cy="59511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FE78C4-8F18-4D28-4BE9-9C96ACAAE7EE}"/>
                </a:ext>
              </a:extLst>
            </p:cNvPr>
            <p:cNvSpPr txBox="1"/>
            <p:nvPr/>
          </p:nvSpPr>
          <p:spPr>
            <a:xfrm>
              <a:off x="1262719" y="2564256"/>
              <a:ext cx="22974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SrcToR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422798-62A0-562E-2C43-9EE28357A2A8}"/>
              </a:ext>
            </a:extLst>
          </p:cNvPr>
          <p:cNvGrpSpPr/>
          <p:nvPr/>
        </p:nvGrpSpPr>
        <p:grpSpPr>
          <a:xfrm>
            <a:off x="8722092" y="2486807"/>
            <a:ext cx="2308645" cy="934750"/>
            <a:chOff x="8722092" y="2029616"/>
            <a:chExt cx="2308645" cy="9347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8CB4A44-7A36-0FFE-50F6-1B82F863F8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9072570" y="2029616"/>
              <a:ext cx="1327506" cy="59511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686018-4AF7-767B-C275-5A33AB560A85}"/>
                </a:ext>
              </a:extLst>
            </p:cNvPr>
            <p:cNvSpPr txBox="1"/>
            <p:nvPr/>
          </p:nvSpPr>
          <p:spPr>
            <a:xfrm>
              <a:off x="8722092" y="2564256"/>
              <a:ext cx="23086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DstToR</a:t>
              </a:r>
            </a:p>
          </p:txBody>
        </p:sp>
      </p:grpSp>
      <p:sp>
        <p:nvSpPr>
          <p:cNvPr id="13" name="Can 12">
            <a:extLst>
              <a:ext uri="{FF2B5EF4-FFF2-40B4-BE49-F238E27FC236}">
                <a16:creationId xmlns:a16="http://schemas.microsoft.com/office/drawing/2014/main" id="{16B3FACE-EC0A-DAA4-27E1-B8BFB353736E}"/>
              </a:ext>
            </a:extLst>
          </p:cNvPr>
          <p:cNvSpPr/>
          <p:nvPr/>
        </p:nvSpPr>
        <p:spPr>
          <a:xfrm rot="5400000">
            <a:off x="5389386" y="2021030"/>
            <a:ext cx="912955" cy="3837120"/>
          </a:xfrm>
          <a:prstGeom prst="can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EF75B579-7897-C35B-2541-434BCBEDC2A4}"/>
              </a:ext>
            </a:extLst>
          </p:cNvPr>
          <p:cNvSpPr/>
          <p:nvPr/>
        </p:nvSpPr>
        <p:spPr>
          <a:xfrm rot="5400000">
            <a:off x="5389386" y="3472785"/>
            <a:ext cx="912955" cy="3837120"/>
          </a:xfrm>
          <a:prstGeom prst="can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27" name="Picture 12" descr="Download Sign Warning Exclamation Mark Royalty-Free Vector Graphic - Pixabay">
            <a:extLst>
              <a:ext uri="{FF2B5EF4-FFF2-40B4-BE49-F238E27FC236}">
                <a16:creationId xmlns:a16="http://schemas.microsoft.com/office/drawing/2014/main" id="{C8DB2D17-43FF-478F-CD97-80184C5F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11" y="3268999"/>
            <a:ext cx="447447" cy="40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495A0B8-CCA7-AA45-438A-721A7E63F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199" y="4730299"/>
            <a:ext cx="409136" cy="40913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B1BE7A9-AF29-4E8F-8418-1F1DB1E25635}"/>
              </a:ext>
            </a:extLst>
          </p:cNvPr>
          <p:cNvSpPr/>
          <p:nvPr/>
        </p:nvSpPr>
        <p:spPr>
          <a:xfrm>
            <a:off x="5738488" y="3814472"/>
            <a:ext cx="353320" cy="328867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711390-0190-EE53-DC6D-975013012817}"/>
              </a:ext>
            </a:extLst>
          </p:cNvPr>
          <p:cNvSpPr/>
          <p:nvPr/>
        </p:nvSpPr>
        <p:spPr>
          <a:xfrm>
            <a:off x="4588835" y="3814473"/>
            <a:ext cx="353319" cy="328866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B5FFF9"/>
                </a:solidFill>
                <a:latin typeface="Fira Sans" panose="020B0503050000020004" pitchFamily="34" charset="0"/>
              </a:rPr>
              <a:t>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1CBB96-3016-F95C-A326-091B00F0B210}"/>
              </a:ext>
            </a:extLst>
          </p:cNvPr>
          <p:cNvSpPr/>
          <p:nvPr/>
        </p:nvSpPr>
        <p:spPr>
          <a:xfrm>
            <a:off x="7016228" y="3814472"/>
            <a:ext cx="353320" cy="328867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AA683A96-D4BC-897F-68B9-BFD7AD85D890}"/>
              </a:ext>
            </a:extLst>
          </p:cNvPr>
          <p:cNvSpPr/>
          <p:nvPr/>
        </p:nvSpPr>
        <p:spPr>
          <a:xfrm flipV="1">
            <a:off x="3336052" y="4800695"/>
            <a:ext cx="5305529" cy="358836"/>
          </a:xfrm>
          <a:custGeom>
            <a:avLst/>
            <a:gdLst>
              <a:gd name="connsiteX0" fmla="*/ 0 w 5305529"/>
              <a:gd name="connsiteY0" fmla="*/ 361741 h 361741"/>
              <a:gd name="connsiteX1" fmla="*/ 301450 w 5305529"/>
              <a:gd name="connsiteY1" fmla="*/ 0 h 361741"/>
              <a:gd name="connsiteX2" fmla="*/ 5305529 w 5305529"/>
              <a:gd name="connsiteY2" fmla="*/ 0 h 36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29" h="361741">
                <a:moveTo>
                  <a:pt x="0" y="361741"/>
                </a:moveTo>
                <a:lnTo>
                  <a:pt x="301450" y="0"/>
                </a:lnTo>
                <a:lnTo>
                  <a:pt x="5305529" y="0"/>
                </a:lnTo>
              </a:path>
            </a:pathLst>
          </a:custGeom>
          <a:noFill/>
          <a:ln w="76200">
            <a:solidFill>
              <a:schemeClr val="accent6">
                <a:alpha val="83000"/>
              </a:schemeClr>
            </a:solidFill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2FFC05-E509-6BEC-0901-2539C6B38D86}"/>
              </a:ext>
            </a:extLst>
          </p:cNvPr>
          <p:cNvSpPr txBox="1"/>
          <p:nvPr/>
        </p:nvSpPr>
        <p:spPr>
          <a:xfrm>
            <a:off x="3450120" y="4459388"/>
            <a:ext cx="1304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b="1" i="1" dirty="0">
                <a:solidFill>
                  <a:schemeClr val="accent6"/>
                </a:solidFill>
              </a:rPr>
              <a:t>Reroute!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AFE8ABF-D985-D4AF-45E2-2C1CDDD208C6}"/>
              </a:ext>
            </a:extLst>
          </p:cNvPr>
          <p:cNvGrpSpPr/>
          <p:nvPr/>
        </p:nvGrpSpPr>
        <p:grpSpPr>
          <a:xfrm>
            <a:off x="8687311" y="4929359"/>
            <a:ext cx="2170985" cy="524390"/>
            <a:chOff x="9152238" y="2883243"/>
            <a:chExt cx="986012" cy="238166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C8B414F-793A-9639-A577-AE6F06C36B2F}"/>
                </a:ext>
              </a:extLst>
            </p:cNvPr>
            <p:cNvCxnSpPr/>
            <p:nvPr/>
          </p:nvCxnSpPr>
          <p:spPr>
            <a:xfrm>
              <a:off x="9152238" y="2883243"/>
              <a:ext cx="986012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B22FA3D-9D9D-0565-262F-9A3742FE4E50}"/>
                </a:ext>
              </a:extLst>
            </p:cNvPr>
            <p:cNvCxnSpPr/>
            <p:nvPr/>
          </p:nvCxnSpPr>
          <p:spPr>
            <a:xfrm>
              <a:off x="9152238" y="3103967"/>
              <a:ext cx="986012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1D85819-A89C-03D9-D305-13C3A7DF941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83243"/>
              <a:ext cx="0" cy="23816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8D75D3E-CDC2-72E4-F02E-D7D9103BFC8C}"/>
              </a:ext>
            </a:extLst>
          </p:cNvPr>
          <p:cNvSpPr/>
          <p:nvPr/>
        </p:nvSpPr>
        <p:spPr>
          <a:xfrm>
            <a:off x="8287162" y="4964963"/>
            <a:ext cx="353319" cy="328866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12" name="Rectangle: Rounded Corners 18">
            <a:extLst>
              <a:ext uri="{FF2B5EF4-FFF2-40B4-BE49-F238E27FC236}">
                <a16:creationId xmlns:a16="http://schemas.microsoft.com/office/drawing/2014/main" id="{E7506438-4B43-864F-440B-4B4B23842733}"/>
              </a:ext>
            </a:extLst>
          </p:cNvPr>
          <p:cNvSpPr/>
          <p:nvPr/>
        </p:nvSpPr>
        <p:spPr>
          <a:xfrm>
            <a:off x="2994055" y="5672417"/>
            <a:ext cx="5088791" cy="546675"/>
          </a:xfrm>
          <a:prstGeom prst="roundRect">
            <a:avLst>
              <a:gd name="adj" fmla="val 39104"/>
            </a:avLst>
          </a:prstGeom>
          <a:solidFill>
            <a:srgbClr val="7030A0"/>
          </a:solidFill>
          <a:ln>
            <a:solidFill>
              <a:srgbClr val="FFFF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Dynamically assign reorder queue!</a:t>
            </a:r>
            <a:endParaRPr lang="en-SG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20147AF-5FFB-46C9-54A4-6EAB702BC093}"/>
              </a:ext>
            </a:extLst>
          </p:cNvPr>
          <p:cNvCxnSpPr>
            <a:cxnSpLocks/>
          </p:cNvCxnSpPr>
          <p:nvPr/>
        </p:nvCxnSpPr>
        <p:spPr>
          <a:xfrm flipV="1">
            <a:off x="8012106" y="5749731"/>
            <a:ext cx="577193" cy="22604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B8A0636-A76C-09E7-ADEC-0760B7AC1B50}"/>
              </a:ext>
            </a:extLst>
          </p:cNvPr>
          <p:cNvSpPr txBox="1"/>
          <p:nvPr/>
        </p:nvSpPr>
        <p:spPr>
          <a:xfrm>
            <a:off x="9229324" y="5440659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Reorder</a:t>
            </a:r>
            <a:r>
              <a:rPr lang="en-KR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queue</a:t>
            </a:r>
          </a:p>
        </p:txBody>
      </p:sp>
      <p:pic>
        <p:nvPicPr>
          <p:cNvPr id="46" name="Picture 45" descr="Icon&#10;&#10;Description automatically generated">
            <a:extLst>
              <a:ext uri="{FF2B5EF4-FFF2-40B4-BE49-F238E27FC236}">
                <a16:creationId xmlns:a16="http://schemas.microsoft.com/office/drawing/2014/main" id="{54EC4377-899C-8DD8-3074-157ED2D2B9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4730" y="1466849"/>
            <a:ext cx="548700" cy="5487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94F806E-D4E7-AC21-31CC-37DD2B33CF4F}"/>
              </a:ext>
            </a:extLst>
          </p:cNvPr>
          <p:cNvGrpSpPr/>
          <p:nvPr/>
        </p:nvGrpSpPr>
        <p:grpSpPr>
          <a:xfrm>
            <a:off x="8663351" y="3957387"/>
            <a:ext cx="2170985" cy="524390"/>
            <a:chOff x="9152238" y="2883243"/>
            <a:chExt cx="986012" cy="23816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C858491-8A3C-242F-8681-9D3EBBDB4B34}"/>
                </a:ext>
              </a:extLst>
            </p:cNvPr>
            <p:cNvCxnSpPr/>
            <p:nvPr/>
          </p:nvCxnSpPr>
          <p:spPr>
            <a:xfrm>
              <a:off x="9152238" y="2883243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4B58ADF-442C-999F-CCA1-49379079040D}"/>
                </a:ext>
              </a:extLst>
            </p:cNvPr>
            <p:cNvCxnSpPr/>
            <p:nvPr/>
          </p:nvCxnSpPr>
          <p:spPr>
            <a:xfrm>
              <a:off x="9152238" y="3103967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68DDC9E-3225-C00E-823E-229FFD55F7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83243"/>
              <a:ext cx="0" cy="2381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D4AB61C-E78D-7B71-E734-7C7AEF88A6D7}"/>
              </a:ext>
            </a:extLst>
          </p:cNvPr>
          <p:cNvSpPr txBox="1"/>
          <p:nvPr/>
        </p:nvSpPr>
        <p:spPr>
          <a:xfrm>
            <a:off x="9227133" y="3588055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</a:t>
            </a:r>
            <a:r>
              <a:rPr lang="en-K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ormal queue </a:t>
            </a:r>
            <a:r>
              <a:rPr lang="en-K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(for all flows)</a:t>
            </a: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7469EEDA-D485-9760-DE2C-E0B5FF2CF434}"/>
              </a:ext>
            </a:extLst>
          </p:cNvPr>
          <p:cNvSpPr/>
          <p:nvPr/>
        </p:nvSpPr>
        <p:spPr>
          <a:xfrm>
            <a:off x="3336051" y="4203270"/>
            <a:ext cx="5305529" cy="361741"/>
          </a:xfrm>
          <a:custGeom>
            <a:avLst/>
            <a:gdLst>
              <a:gd name="connsiteX0" fmla="*/ 0 w 5305529"/>
              <a:gd name="connsiteY0" fmla="*/ 361741 h 361741"/>
              <a:gd name="connsiteX1" fmla="*/ 301450 w 5305529"/>
              <a:gd name="connsiteY1" fmla="*/ 0 h 361741"/>
              <a:gd name="connsiteX2" fmla="*/ 5305529 w 5305529"/>
              <a:gd name="connsiteY2" fmla="*/ 0 h 36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29" h="361741">
                <a:moveTo>
                  <a:pt x="0" y="361741"/>
                </a:moveTo>
                <a:lnTo>
                  <a:pt x="301450" y="0"/>
                </a:lnTo>
                <a:lnTo>
                  <a:pt x="5305529" y="0"/>
                </a:lnTo>
              </a:path>
            </a:pathLst>
          </a:custGeom>
          <a:noFill/>
          <a:ln w="38100">
            <a:solidFill>
              <a:srgbClr val="FF0000">
                <a:alpha val="83000"/>
              </a:srgbClr>
            </a:solidFill>
            <a:prstDash val="sysDot"/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F968D67-47FE-BD4B-D933-C8EE9E886B21}"/>
              </a:ext>
            </a:extLst>
          </p:cNvPr>
          <p:cNvSpPr/>
          <p:nvPr/>
        </p:nvSpPr>
        <p:spPr>
          <a:xfrm>
            <a:off x="1026615" y="1227523"/>
            <a:ext cx="9688788" cy="1082947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Reroute “only if” there is no inflight out-of-order packets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	 Enable switch to reorder a flow using a single reorder queue</a:t>
            </a:r>
            <a:endParaRPr lang="en-KR" sz="2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56F1C59-B677-06BD-E5FE-40A829E01E63}"/>
              </a:ext>
            </a:extLst>
          </p:cNvPr>
          <p:cNvSpPr/>
          <p:nvPr/>
        </p:nvSpPr>
        <p:spPr>
          <a:xfrm>
            <a:off x="5078061" y="984907"/>
            <a:ext cx="1585897" cy="400110"/>
          </a:xfrm>
          <a:prstGeom prst="roundRect">
            <a:avLst>
              <a:gd name="adj" fmla="val 399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Key Idea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431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0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33333E-6 L 0.17201 0.0081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4" y="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AB80DCF-B439-2C99-D0A3-A4A685E447F9}"/>
              </a:ext>
            </a:extLst>
          </p:cNvPr>
          <p:cNvCxnSpPr>
            <a:cxnSpLocks/>
          </p:cNvCxnSpPr>
          <p:nvPr/>
        </p:nvCxnSpPr>
        <p:spPr>
          <a:xfrm>
            <a:off x="4149518" y="2614027"/>
            <a:ext cx="0" cy="397633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172AA54-7318-CB32-1F40-FCDA620A679D}"/>
              </a:ext>
            </a:extLst>
          </p:cNvPr>
          <p:cNvCxnSpPr>
            <a:cxnSpLocks/>
          </p:cNvCxnSpPr>
          <p:nvPr/>
        </p:nvCxnSpPr>
        <p:spPr>
          <a:xfrm>
            <a:off x="7491927" y="2614026"/>
            <a:ext cx="0" cy="3887126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Cautious Rerouting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FAC75-A7C8-389C-EF84-300A6656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25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811C31-F295-22E2-B641-6DFB39B766F7}"/>
              </a:ext>
            </a:extLst>
          </p:cNvPr>
          <p:cNvGrpSpPr/>
          <p:nvPr/>
        </p:nvGrpSpPr>
        <p:grpSpPr>
          <a:xfrm>
            <a:off x="1262719" y="2486807"/>
            <a:ext cx="2297424" cy="934750"/>
            <a:chOff x="1262719" y="2029616"/>
            <a:chExt cx="2297424" cy="9347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7ACFD4-3D89-EE9A-F832-51C84481C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1740539" y="2029616"/>
              <a:ext cx="1327506" cy="59511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FE78C4-8F18-4D28-4BE9-9C96ACAAE7EE}"/>
                </a:ext>
              </a:extLst>
            </p:cNvPr>
            <p:cNvSpPr txBox="1"/>
            <p:nvPr/>
          </p:nvSpPr>
          <p:spPr>
            <a:xfrm>
              <a:off x="1262719" y="2564256"/>
              <a:ext cx="22974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SrcToR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422798-62A0-562E-2C43-9EE28357A2A8}"/>
              </a:ext>
            </a:extLst>
          </p:cNvPr>
          <p:cNvGrpSpPr/>
          <p:nvPr/>
        </p:nvGrpSpPr>
        <p:grpSpPr>
          <a:xfrm>
            <a:off x="8722092" y="2486807"/>
            <a:ext cx="2308645" cy="934750"/>
            <a:chOff x="8722092" y="2029616"/>
            <a:chExt cx="2308645" cy="9347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8CB4A44-7A36-0FFE-50F6-1B82F863F8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9072570" y="2029616"/>
              <a:ext cx="1327506" cy="59511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686018-4AF7-767B-C275-5A33AB560A85}"/>
                </a:ext>
              </a:extLst>
            </p:cNvPr>
            <p:cNvSpPr txBox="1"/>
            <p:nvPr/>
          </p:nvSpPr>
          <p:spPr>
            <a:xfrm>
              <a:off x="8722092" y="2564256"/>
              <a:ext cx="23086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DstToR</a:t>
              </a:r>
            </a:p>
          </p:txBody>
        </p:sp>
      </p:grpSp>
      <p:sp>
        <p:nvSpPr>
          <p:cNvPr id="13" name="Can 12">
            <a:extLst>
              <a:ext uri="{FF2B5EF4-FFF2-40B4-BE49-F238E27FC236}">
                <a16:creationId xmlns:a16="http://schemas.microsoft.com/office/drawing/2014/main" id="{16B3FACE-EC0A-DAA4-27E1-B8BFB353736E}"/>
              </a:ext>
            </a:extLst>
          </p:cNvPr>
          <p:cNvSpPr/>
          <p:nvPr/>
        </p:nvSpPr>
        <p:spPr>
          <a:xfrm rot="5400000">
            <a:off x="5389386" y="2021030"/>
            <a:ext cx="912955" cy="3837120"/>
          </a:xfrm>
          <a:prstGeom prst="can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EF75B579-7897-C35B-2541-434BCBEDC2A4}"/>
              </a:ext>
            </a:extLst>
          </p:cNvPr>
          <p:cNvSpPr/>
          <p:nvPr/>
        </p:nvSpPr>
        <p:spPr>
          <a:xfrm rot="5400000">
            <a:off x="5389386" y="3472785"/>
            <a:ext cx="912955" cy="3837120"/>
          </a:xfrm>
          <a:prstGeom prst="can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27" name="Picture 12" descr="Download Sign Warning Exclamation Mark Royalty-Free Vector Graphic - Pixabay">
            <a:extLst>
              <a:ext uri="{FF2B5EF4-FFF2-40B4-BE49-F238E27FC236}">
                <a16:creationId xmlns:a16="http://schemas.microsoft.com/office/drawing/2014/main" id="{C8DB2D17-43FF-478F-CD97-80184C5F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11" y="3268999"/>
            <a:ext cx="447447" cy="40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495A0B8-CCA7-AA45-438A-721A7E63F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199" y="4730299"/>
            <a:ext cx="409136" cy="40913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B1BE7A9-AF29-4E8F-8418-1F1DB1E25635}"/>
              </a:ext>
            </a:extLst>
          </p:cNvPr>
          <p:cNvSpPr/>
          <p:nvPr/>
        </p:nvSpPr>
        <p:spPr>
          <a:xfrm>
            <a:off x="5738488" y="3814472"/>
            <a:ext cx="353320" cy="328867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711390-0190-EE53-DC6D-975013012817}"/>
              </a:ext>
            </a:extLst>
          </p:cNvPr>
          <p:cNvSpPr/>
          <p:nvPr/>
        </p:nvSpPr>
        <p:spPr>
          <a:xfrm>
            <a:off x="4588835" y="3814473"/>
            <a:ext cx="353319" cy="328866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B5FFF9"/>
                </a:solidFill>
                <a:latin typeface="Fira Sans" panose="020B0503050000020004" pitchFamily="34" charset="0"/>
              </a:rPr>
              <a:t>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1CBB96-3016-F95C-A326-091B00F0B210}"/>
              </a:ext>
            </a:extLst>
          </p:cNvPr>
          <p:cNvSpPr/>
          <p:nvPr/>
        </p:nvSpPr>
        <p:spPr>
          <a:xfrm>
            <a:off x="7016228" y="3814472"/>
            <a:ext cx="353320" cy="328867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AA683A96-D4BC-897F-68B9-BFD7AD85D890}"/>
              </a:ext>
            </a:extLst>
          </p:cNvPr>
          <p:cNvSpPr/>
          <p:nvPr/>
        </p:nvSpPr>
        <p:spPr>
          <a:xfrm flipV="1">
            <a:off x="3336052" y="4800695"/>
            <a:ext cx="5305529" cy="358836"/>
          </a:xfrm>
          <a:custGeom>
            <a:avLst/>
            <a:gdLst>
              <a:gd name="connsiteX0" fmla="*/ 0 w 5305529"/>
              <a:gd name="connsiteY0" fmla="*/ 361741 h 361741"/>
              <a:gd name="connsiteX1" fmla="*/ 301450 w 5305529"/>
              <a:gd name="connsiteY1" fmla="*/ 0 h 361741"/>
              <a:gd name="connsiteX2" fmla="*/ 5305529 w 5305529"/>
              <a:gd name="connsiteY2" fmla="*/ 0 h 36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29" h="361741">
                <a:moveTo>
                  <a:pt x="0" y="361741"/>
                </a:moveTo>
                <a:lnTo>
                  <a:pt x="301450" y="0"/>
                </a:lnTo>
                <a:lnTo>
                  <a:pt x="5305529" y="0"/>
                </a:lnTo>
              </a:path>
            </a:pathLst>
          </a:custGeom>
          <a:noFill/>
          <a:ln w="76200">
            <a:solidFill>
              <a:schemeClr val="accent6">
                <a:alpha val="83000"/>
              </a:schemeClr>
            </a:solidFill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2FFC05-E509-6BEC-0901-2539C6B38D86}"/>
              </a:ext>
            </a:extLst>
          </p:cNvPr>
          <p:cNvSpPr txBox="1"/>
          <p:nvPr/>
        </p:nvSpPr>
        <p:spPr>
          <a:xfrm>
            <a:off x="3450120" y="4459388"/>
            <a:ext cx="1304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b="1" i="1" dirty="0">
                <a:solidFill>
                  <a:schemeClr val="accent6"/>
                </a:solidFill>
              </a:rPr>
              <a:t>Reroute!</a:t>
            </a:r>
          </a:p>
        </p:txBody>
      </p:sp>
      <p:pic>
        <p:nvPicPr>
          <p:cNvPr id="46" name="Picture 45" descr="Icon&#10;&#10;Description automatically generated">
            <a:extLst>
              <a:ext uri="{FF2B5EF4-FFF2-40B4-BE49-F238E27FC236}">
                <a16:creationId xmlns:a16="http://schemas.microsoft.com/office/drawing/2014/main" id="{4A307E39-4114-6CBC-C45A-1ABC1ECBDC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4730" y="1466849"/>
            <a:ext cx="548700" cy="548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A0D854-AD65-CFE8-B81D-62B333DBAF98}"/>
              </a:ext>
            </a:extLst>
          </p:cNvPr>
          <p:cNvSpPr/>
          <p:nvPr/>
        </p:nvSpPr>
        <p:spPr>
          <a:xfrm>
            <a:off x="2907887" y="4495817"/>
            <a:ext cx="353319" cy="328866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016F33-056C-9879-E3CA-71832EFF46EB}"/>
              </a:ext>
            </a:extLst>
          </p:cNvPr>
          <p:cNvSpPr/>
          <p:nvPr/>
        </p:nvSpPr>
        <p:spPr>
          <a:xfrm>
            <a:off x="2430553" y="4492593"/>
            <a:ext cx="353319" cy="328866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60C9173-4BB7-BBC9-0513-E37F86CC2D5D}"/>
              </a:ext>
            </a:extLst>
          </p:cNvPr>
          <p:cNvGrpSpPr/>
          <p:nvPr/>
        </p:nvGrpSpPr>
        <p:grpSpPr>
          <a:xfrm>
            <a:off x="8663351" y="3957387"/>
            <a:ext cx="2170985" cy="524390"/>
            <a:chOff x="9152238" y="2883243"/>
            <a:chExt cx="986012" cy="23816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82D0C2-534F-D125-19E5-D3B8AF223198}"/>
                </a:ext>
              </a:extLst>
            </p:cNvPr>
            <p:cNvCxnSpPr/>
            <p:nvPr/>
          </p:nvCxnSpPr>
          <p:spPr>
            <a:xfrm>
              <a:off x="9152238" y="2883243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0930372-1A71-8CB2-D8D6-CCDFDFD41612}"/>
                </a:ext>
              </a:extLst>
            </p:cNvPr>
            <p:cNvCxnSpPr/>
            <p:nvPr/>
          </p:nvCxnSpPr>
          <p:spPr>
            <a:xfrm>
              <a:off x="9152238" y="3103967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4C0E985-8AF2-5A9A-8CAA-8012F0DD9EBA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83243"/>
              <a:ext cx="0" cy="2381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E7E5462-8159-5E11-3221-EC61DAEC8516}"/>
              </a:ext>
            </a:extLst>
          </p:cNvPr>
          <p:cNvSpPr txBox="1"/>
          <p:nvPr/>
        </p:nvSpPr>
        <p:spPr>
          <a:xfrm>
            <a:off x="9227133" y="3588055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</a:t>
            </a:r>
            <a:r>
              <a:rPr lang="en-K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ormal queue </a:t>
            </a:r>
            <a:r>
              <a:rPr lang="en-K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(for all flows)</a:t>
            </a:r>
          </a:p>
        </p:txBody>
      </p:sp>
      <p:sp>
        <p:nvSpPr>
          <p:cNvPr id="16" name="Rectangle: Rounded Corners 18">
            <a:extLst>
              <a:ext uri="{FF2B5EF4-FFF2-40B4-BE49-F238E27FC236}">
                <a16:creationId xmlns:a16="http://schemas.microsoft.com/office/drawing/2014/main" id="{2629D335-6057-515B-E44E-F266CAA11410}"/>
              </a:ext>
            </a:extLst>
          </p:cNvPr>
          <p:cNvSpPr/>
          <p:nvPr/>
        </p:nvSpPr>
        <p:spPr>
          <a:xfrm>
            <a:off x="7504291" y="2377924"/>
            <a:ext cx="4489104" cy="1189115"/>
          </a:xfrm>
          <a:prstGeom prst="roundRect">
            <a:avLst>
              <a:gd name="adj" fmla="val 30223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KR" sz="2000" dirty="0">
                <a:solidFill>
                  <a:srgbClr val="C00000"/>
                </a:solidFill>
                <a:latin typeface="Fira Sans" panose="020B0503050000020004" pitchFamily="34" charset="0"/>
              </a:rPr>
              <a:t>“</a:t>
            </a:r>
            <a:r>
              <a:rPr lang="en-KR" sz="2000" b="1" dirty="0">
                <a:solidFill>
                  <a:srgbClr val="C00000"/>
                </a:solidFill>
                <a:latin typeface="Fira Sans" panose="020B0503050000020004" pitchFamily="34" charset="0"/>
              </a:rPr>
              <a:t>TAIL</a:t>
            </a:r>
            <a:r>
              <a:rPr lang="en-KR" sz="2000" dirty="0">
                <a:solidFill>
                  <a:srgbClr val="C00000"/>
                </a:solidFill>
                <a:latin typeface="Fira Sans" panose="020B0503050000020004" pitchFamily="34" charset="0"/>
              </a:rPr>
              <a:t>” </a:t>
            </a:r>
            <a:r>
              <a:rPr lang="en-KR" sz="2000" dirty="0">
                <a:solidFill>
                  <a:schemeClr val="tx1"/>
                </a:solidFill>
                <a:latin typeface="Fira Sans" panose="020B0503050000020004" pitchFamily="34" charset="0"/>
              </a:rPr>
              <a:t>says that all packets from </a:t>
            </a:r>
            <a:br>
              <a:rPr lang="en-KR" sz="2000" dirty="0">
                <a:solidFill>
                  <a:schemeClr val="tx1"/>
                </a:solidFill>
                <a:latin typeface="Fira Sans" panose="020B0503050000020004" pitchFamily="34" charset="0"/>
              </a:rPr>
            </a:br>
            <a:r>
              <a:rPr lang="en-KR" sz="2000" dirty="0">
                <a:solidFill>
                  <a:srgbClr val="C00000"/>
                </a:solidFill>
                <a:latin typeface="Fira Sans" panose="020B0503050000020004" pitchFamily="34" charset="0"/>
              </a:rPr>
              <a:t>OLD path</a:t>
            </a:r>
            <a:r>
              <a:rPr lang="en-KR" sz="2000" dirty="0">
                <a:solidFill>
                  <a:schemeClr val="tx1"/>
                </a:solidFill>
                <a:latin typeface="Fira Sans" panose="020B0503050000020004" pitchFamily="34" charset="0"/>
              </a:rPr>
              <a:t> have arrived</a:t>
            </a:r>
          </a:p>
          <a:p>
            <a:pPr algn="ctr"/>
            <a:r>
              <a:rPr lang="en-KR" sz="2000" b="1" dirty="0">
                <a:solidFill>
                  <a:schemeClr val="tx1"/>
                </a:solidFill>
                <a:latin typeface="Fira Sans" panose="020B0503050000020004" pitchFamily="34" charset="0"/>
                <a:sym typeface="Wingdings" pitchFamily="2" charset="2"/>
              </a:rPr>
              <a:t> Flush </a:t>
            </a:r>
            <a:r>
              <a:rPr lang="en-KR" sz="2000" b="1" dirty="0">
                <a:solidFill>
                  <a:srgbClr val="7030A0"/>
                </a:solidFill>
                <a:latin typeface="Fira Sans" panose="020B0503050000020004" pitchFamily="34" charset="0"/>
                <a:sym typeface="Wingdings" pitchFamily="2" charset="2"/>
              </a:rPr>
              <a:t>reorder queue</a:t>
            </a:r>
            <a:endParaRPr lang="en-KR" sz="2000" b="1" dirty="0">
              <a:solidFill>
                <a:srgbClr val="7030A0"/>
              </a:solidFill>
              <a:latin typeface="Fira Sans" panose="020B05030500000200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764580-4CAC-A7AC-9293-4990F739AF24}"/>
              </a:ext>
            </a:extLst>
          </p:cNvPr>
          <p:cNvCxnSpPr>
            <a:cxnSpLocks/>
          </p:cNvCxnSpPr>
          <p:nvPr/>
        </p:nvCxnSpPr>
        <p:spPr>
          <a:xfrm flipH="1">
            <a:off x="10605698" y="3441844"/>
            <a:ext cx="412488" cy="59631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5FB76A9-2D3B-5FBE-3FEF-4F33698C164F}"/>
              </a:ext>
            </a:extLst>
          </p:cNvPr>
          <p:cNvGrpSpPr/>
          <p:nvPr/>
        </p:nvGrpSpPr>
        <p:grpSpPr>
          <a:xfrm>
            <a:off x="8687311" y="4929359"/>
            <a:ext cx="2170985" cy="524390"/>
            <a:chOff x="9152238" y="2883243"/>
            <a:chExt cx="986012" cy="238166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76F840D-0694-A0F6-6D28-39AE28C045D4}"/>
                </a:ext>
              </a:extLst>
            </p:cNvPr>
            <p:cNvCxnSpPr/>
            <p:nvPr/>
          </p:nvCxnSpPr>
          <p:spPr>
            <a:xfrm>
              <a:off x="9152238" y="2883243"/>
              <a:ext cx="986012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29D4752-136D-718D-6F35-16C7F9A91B9B}"/>
                </a:ext>
              </a:extLst>
            </p:cNvPr>
            <p:cNvCxnSpPr/>
            <p:nvPr/>
          </p:nvCxnSpPr>
          <p:spPr>
            <a:xfrm>
              <a:off x="9152238" y="3103967"/>
              <a:ext cx="986012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17D937F-22A6-29FC-967F-48103C3CA84A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83243"/>
              <a:ext cx="0" cy="23816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D26D725-6AA4-1282-D8D2-B2537E2EF8C5}"/>
              </a:ext>
            </a:extLst>
          </p:cNvPr>
          <p:cNvSpPr txBox="1"/>
          <p:nvPr/>
        </p:nvSpPr>
        <p:spPr>
          <a:xfrm>
            <a:off x="9229324" y="5440659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Reorder</a:t>
            </a:r>
            <a:r>
              <a:rPr lang="en-KR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D75D3E-CDC2-72E4-F02E-D7D9103BFC8C}"/>
              </a:ext>
            </a:extLst>
          </p:cNvPr>
          <p:cNvSpPr/>
          <p:nvPr/>
        </p:nvSpPr>
        <p:spPr>
          <a:xfrm>
            <a:off x="10384692" y="5022143"/>
            <a:ext cx="353319" cy="328866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F15755F6-BB4C-B595-B621-CB4C543D5DBA}"/>
              </a:ext>
            </a:extLst>
          </p:cNvPr>
          <p:cNvSpPr/>
          <p:nvPr/>
        </p:nvSpPr>
        <p:spPr>
          <a:xfrm>
            <a:off x="3336051" y="4203270"/>
            <a:ext cx="5305529" cy="361741"/>
          </a:xfrm>
          <a:custGeom>
            <a:avLst/>
            <a:gdLst>
              <a:gd name="connsiteX0" fmla="*/ 0 w 5305529"/>
              <a:gd name="connsiteY0" fmla="*/ 361741 h 361741"/>
              <a:gd name="connsiteX1" fmla="*/ 301450 w 5305529"/>
              <a:gd name="connsiteY1" fmla="*/ 0 h 361741"/>
              <a:gd name="connsiteX2" fmla="*/ 5305529 w 5305529"/>
              <a:gd name="connsiteY2" fmla="*/ 0 h 36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29" h="361741">
                <a:moveTo>
                  <a:pt x="0" y="361741"/>
                </a:moveTo>
                <a:lnTo>
                  <a:pt x="301450" y="0"/>
                </a:lnTo>
                <a:lnTo>
                  <a:pt x="5305529" y="0"/>
                </a:lnTo>
              </a:path>
            </a:pathLst>
          </a:custGeom>
          <a:noFill/>
          <a:ln w="38100">
            <a:solidFill>
              <a:srgbClr val="FF0000">
                <a:alpha val="83000"/>
              </a:srgbClr>
            </a:solidFill>
            <a:prstDash val="sysDot"/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CB49307-8CFD-74D5-A0A5-C9DD772DE11D}"/>
              </a:ext>
            </a:extLst>
          </p:cNvPr>
          <p:cNvSpPr/>
          <p:nvPr/>
        </p:nvSpPr>
        <p:spPr>
          <a:xfrm>
            <a:off x="1026615" y="1227523"/>
            <a:ext cx="9688788" cy="1082947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Reroute “only if” there is no inflight out-of-order packets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	 Enable switch to reorder a flow using a single reorder queue</a:t>
            </a:r>
            <a:endParaRPr lang="en-KR" sz="2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9D99C5E-AD5A-F32E-D0F0-55396E77573E}"/>
              </a:ext>
            </a:extLst>
          </p:cNvPr>
          <p:cNvSpPr/>
          <p:nvPr/>
        </p:nvSpPr>
        <p:spPr>
          <a:xfrm>
            <a:off x="5078061" y="984907"/>
            <a:ext cx="1585897" cy="400110"/>
          </a:xfrm>
          <a:prstGeom prst="roundRect">
            <a:avLst>
              <a:gd name="adj" fmla="val 399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Key Idea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934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2.59259E-6 L 0.07292 -2.59259E-6 L 0.13034 0.03218 L 0.34128 0.03218 L 0.34128 0.03334 " pathEditMode="relative" rAng="0" ptsTypes="AAAAA">
                                      <p:cBhvr>
                                        <p:cTn id="6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57" y="1667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59259E-6 L 0.17734 -2.59259E-6 L 0.23541 0.03334 L 0.44609 0.03334 " pathEditMode="relative" rAng="0" ptsTypes="AAAA">
                                      <p:cBhvr>
                                        <p:cTn id="8" dur="9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05" y="1667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"/>
                                            </p:cond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0.27864 -2.59259E-6 L 0.3371 0.03218 L 0.47539 0.03218 " pathEditMode="relative" rAng="0" ptsTypes="AAAA">
                                      <p:cBhvr>
                                        <p:cTn id="1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63" y="159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1.85185E-6 L 0.01537 1.85185E-6 L 0.06003 0.06551 L 0.43724 0.06551 L 0.57474 0.07616 " pathEditMode="relative" rAng="0" ptsTypes="AAAAA">
                                      <p:cBhvr>
                                        <p:cTn id="14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737" y="379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98 0.00115 L 0.05482 0.00115 L 0.10117 0.06643 L 0.47943 0.0655 L 0.57331 0.07662 " pathEditMode="relative" rAng="0" ptsTypes="AAAAA">
                                      <p:cBhvr>
                                        <p:cTn id="18" dur="1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67" y="377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3" grpId="0" animBg="1"/>
      <p:bldP spid="5" grpId="0" animBg="1"/>
      <p:bldP spid="5" grpId="1" animBg="1"/>
      <p:bldP spid="12" grpId="0" animBg="1"/>
      <p:bldP spid="12" grpId="1" animBg="1"/>
      <p:bldP spid="16" grpId="0" animBg="1"/>
      <p:bldP spid="5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5378E0-ECD0-4DB3-79FD-FA905C5087D4}"/>
              </a:ext>
            </a:extLst>
          </p:cNvPr>
          <p:cNvCxnSpPr>
            <a:cxnSpLocks/>
          </p:cNvCxnSpPr>
          <p:nvPr/>
        </p:nvCxnSpPr>
        <p:spPr>
          <a:xfrm>
            <a:off x="4149518" y="2614027"/>
            <a:ext cx="0" cy="397633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ECAEC4-FA15-22B0-CC38-58E047401534}"/>
              </a:ext>
            </a:extLst>
          </p:cNvPr>
          <p:cNvCxnSpPr>
            <a:cxnSpLocks/>
          </p:cNvCxnSpPr>
          <p:nvPr/>
        </p:nvCxnSpPr>
        <p:spPr>
          <a:xfrm>
            <a:off x="7491927" y="2614026"/>
            <a:ext cx="0" cy="3887126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Cautious Rerouting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FAC75-A7C8-389C-EF84-300A6656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26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811C31-F295-22E2-B641-6DFB39B766F7}"/>
              </a:ext>
            </a:extLst>
          </p:cNvPr>
          <p:cNvGrpSpPr/>
          <p:nvPr/>
        </p:nvGrpSpPr>
        <p:grpSpPr>
          <a:xfrm>
            <a:off x="1262719" y="2486807"/>
            <a:ext cx="2297424" cy="934750"/>
            <a:chOff x="1262719" y="2029616"/>
            <a:chExt cx="2297424" cy="9347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7ACFD4-3D89-EE9A-F832-51C84481C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1740539" y="2029616"/>
              <a:ext cx="1327506" cy="59511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FE78C4-8F18-4D28-4BE9-9C96ACAAE7EE}"/>
                </a:ext>
              </a:extLst>
            </p:cNvPr>
            <p:cNvSpPr txBox="1"/>
            <p:nvPr/>
          </p:nvSpPr>
          <p:spPr>
            <a:xfrm>
              <a:off x="1262719" y="2564256"/>
              <a:ext cx="22974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SrcToR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422798-62A0-562E-2C43-9EE28357A2A8}"/>
              </a:ext>
            </a:extLst>
          </p:cNvPr>
          <p:cNvGrpSpPr/>
          <p:nvPr/>
        </p:nvGrpSpPr>
        <p:grpSpPr>
          <a:xfrm>
            <a:off x="8722092" y="2486807"/>
            <a:ext cx="2308645" cy="934750"/>
            <a:chOff x="8722092" y="2029616"/>
            <a:chExt cx="2308645" cy="9347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8CB4A44-7A36-0FFE-50F6-1B82F863F8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9072570" y="2029616"/>
              <a:ext cx="1327506" cy="59511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686018-4AF7-767B-C275-5A33AB560A85}"/>
                </a:ext>
              </a:extLst>
            </p:cNvPr>
            <p:cNvSpPr txBox="1"/>
            <p:nvPr/>
          </p:nvSpPr>
          <p:spPr>
            <a:xfrm>
              <a:off x="8722092" y="2564256"/>
              <a:ext cx="23086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DstToR</a:t>
              </a:r>
            </a:p>
          </p:txBody>
        </p:sp>
      </p:grpSp>
      <p:sp>
        <p:nvSpPr>
          <p:cNvPr id="14" name="Can 13">
            <a:extLst>
              <a:ext uri="{FF2B5EF4-FFF2-40B4-BE49-F238E27FC236}">
                <a16:creationId xmlns:a16="http://schemas.microsoft.com/office/drawing/2014/main" id="{EF75B579-7897-C35B-2541-434BCBEDC2A4}"/>
              </a:ext>
            </a:extLst>
          </p:cNvPr>
          <p:cNvSpPr/>
          <p:nvPr/>
        </p:nvSpPr>
        <p:spPr>
          <a:xfrm rot="5400000">
            <a:off x="5389386" y="3472785"/>
            <a:ext cx="912955" cy="3837120"/>
          </a:xfrm>
          <a:prstGeom prst="can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495A0B8-CCA7-AA45-438A-721A7E63F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7199" y="4730299"/>
            <a:ext cx="409136" cy="40913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65711390-0190-EE53-DC6D-975013012817}"/>
              </a:ext>
            </a:extLst>
          </p:cNvPr>
          <p:cNvSpPr/>
          <p:nvPr/>
        </p:nvSpPr>
        <p:spPr>
          <a:xfrm>
            <a:off x="10400076" y="4024753"/>
            <a:ext cx="353319" cy="328866"/>
          </a:xfrm>
          <a:prstGeom prst="rect">
            <a:avLst/>
          </a:prstGeom>
          <a:solidFill>
            <a:srgbClr val="FF000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B5FFF9"/>
                </a:solidFill>
                <a:latin typeface="Fira Sans" panose="020B0503050000020004" pitchFamily="34" charset="0"/>
              </a:rPr>
              <a:t>T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AA683A96-D4BC-897F-68B9-BFD7AD85D890}"/>
              </a:ext>
            </a:extLst>
          </p:cNvPr>
          <p:cNvSpPr/>
          <p:nvPr/>
        </p:nvSpPr>
        <p:spPr>
          <a:xfrm flipV="1">
            <a:off x="3336052" y="4800695"/>
            <a:ext cx="5305529" cy="358836"/>
          </a:xfrm>
          <a:custGeom>
            <a:avLst/>
            <a:gdLst>
              <a:gd name="connsiteX0" fmla="*/ 0 w 5305529"/>
              <a:gd name="connsiteY0" fmla="*/ 361741 h 361741"/>
              <a:gd name="connsiteX1" fmla="*/ 301450 w 5305529"/>
              <a:gd name="connsiteY1" fmla="*/ 0 h 361741"/>
              <a:gd name="connsiteX2" fmla="*/ 5305529 w 5305529"/>
              <a:gd name="connsiteY2" fmla="*/ 0 h 36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29" h="361741">
                <a:moveTo>
                  <a:pt x="0" y="361741"/>
                </a:moveTo>
                <a:lnTo>
                  <a:pt x="301450" y="0"/>
                </a:lnTo>
                <a:lnTo>
                  <a:pt x="5305529" y="0"/>
                </a:lnTo>
              </a:path>
            </a:pathLst>
          </a:custGeom>
          <a:noFill/>
          <a:ln w="76200">
            <a:solidFill>
              <a:schemeClr val="accent6">
                <a:alpha val="83000"/>
              </a:schemeClr>
            </a:solidFill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2FFC05-E509-6BEC-0901-2539C6B38D86}"/>
              </a:ext>
            </a:extLst>
          </p:cNvPr>
          <p:cNvSpPr txBox="1"/>
          <p:nvPr/>
        </p:nvSpPr>
        <p:spPr>
          <a:xfrm>
            <a:off x="3450120" y="4459388"/>
            <a:ext cx="1304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b="1" i="1" dirty="0">
                <a:solidFill>
                  <a:schemeClr val="accent6"/>
                </a:solidFill>
              </a:rPr>
              <a:t>Reroute!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D75D3E-CDC2-72E4-F02E-D7D9103BFC8C}"/>
              </a:ext>
            </a:extLst>
          </p:cNvPr>
          <p:cNvSpPr/>
          <p:nvPr/>
        </p:nvSpPr>
        <p:spPr>
          <a:xfrm>
            <a:off x="10383600" y="5024196"/>
            <a:ext cx="353319" cy="328866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pic>
        <p:nvPicPr>
          <p:cNvPr id="42" name="Picture 41" descr="Icon&#10;&#10;Description automatically generated">
            <a:extLst>
              <a:ext uri="{FF2B5EF4-FFF2-40B4-BE49-F238E27FC236}">
                <a16:creationId xmlns:a16="http://schemas.microsoft.com/office/drawing/2014/main" id="{F4DD8794-D600-27A6-D22A-EB26CA1528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4730" y="1466849"/>
            <a:ext cx="548700" cy="548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C2D01D-6CC6-A3BD-BA8D-CDDC342265AC}"/>
              </a:ext>
            </a:extLst>
          </p:cNvPr>
          <p:cNvSpPr/>
          <p:nvPr/>
        </p:nvSpPr>
        <p:spPr>
          <a:xfrm>
            <a:off x="9915197" y="5015958"/>
            <a:ext cx="353319" cy="328866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F1438-F38B-6085-7298-D27B2C5361D6}"/>
              </a:ext>
            </a:extLst>
          </p:cNvPr>
          <p:cNvSpPr/>
          <p:nvPr/>
        </p:nvSpPr>
        <p:spPr>
          <a:xfrm>
            <a:off x="9422083" y="5018974"/>
            <a:ext cx="353319" cy="328866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ra Sans" panose="020B05030500000200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CCE0140-80D5-22CC-1E79-45193D369CA4}"/>
              </a:ext>
            </a:extLst>
          </p:cNvPr>
          <p:cNvGrpSpPr/>
          <p:nvPr/>
        </p:nvGrpSpPr>
        <p:grpSpPr>
          <a:xfrm>
            <a:off x="8687311" y="4929359"/>
            <a:ext cx="2217472" cy="880632"/>
            <a:chOff x="8687311" y="4929359"/>
            <a:chExt cx="2217472" cy="8806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E90D804-BF5A-DCBF-1BCE-551ADC1AE349}"/>
                </a:ext>
              </a:extLst>
            </p:cNvPr>
            <p:cNvGrpSpPr/>
            <p:nvPr/>
          </p:nvGrpSpPr>
          <p:grpSpPr>
            <a:xfrm>
              <a:off x="8687311" y="4929359"/>
              <a:ext cx="2170985" cy="524390"/>
              <a:chOff x="9152238" y="2883243"/>
              <a:chExt cx="986012" cy="23816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AD54E8D-A3CB-27E7-72AF-4AD4A6934AAB}"/>
                  </a:ext>
                </a:extLst>
              </p:cNvPr>
              <p:cNvCxnSpPr/>
              <p:nvPr/>
            </p:nvCxnSpPr>
            <p:spPr>
              <a:xfrm>
                <a:off x="9152238" y="2883243"/>
                <a:ext cx="986012" cy="0"/>
              </a:xfrm>
              <a:prstGeom prst="line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A07C1ED-5768-9C23-2BA9-210653CCDC48}"/>
                  </a:ext>
                </a:extLst>
              </p:cNvPr>
              <p:cNvCxnSpPr/>
              <p:nvPr/>
            </p:nvCxnSpPr>
            <p:spPr>
              <a:xfrm>
                <a:off x="9152238" y="3103967"/>
                <a:ext cx="986012" cy="0"/>
              </a:xfrm>
              <a:prstGeom prst="line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2DE8724-AFFB-FC56-9750-49314CEEE0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38250" y="2883243"/>
                <a:ext cx="0" cy="238166"/>
              </a:xfrm>
              <a:prstGeom prst="line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2D19C19-054E-D9D6-8C49-03DC5CFFE029}"/>
                </a:ext>
              </a:extLst>
            </p:cNvPr>
            <p:cNvSpPr txBox="1"/>
            <p:nvPr/>
          </p:nvSpPr>
          <p:spPr>
            <a:xfrm>
              <a:off x="9229324" y="5440659"/>
              <a:ext cx="1675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Reorder</a:t>
              </a:r>
              <a:r>
                <a:rPr lang="en-KR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queue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091EF1-A6DE-BB23-0FE9-47B7E54DAF86}"/>
              </a:ext>
            </a:extLst>
          </p:cNvPr>
          <p:cNvGrpSpPr/>
          <p:nvPr/>
        </p:nvGrpSpPr>
        <p:grpSpPr>
          <a:xfrm>
            <a:off x="8663351" y="3957387"/>
            <a:ext cx="2170985" cy="524390"/>
            <a:chOff x="9152238" y="2883243"/>
            <a:chExt cx="986012" cy="238166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C6BFBED-C29A-3DD1-A9D7-B485064F9627}"/>
                </a:ext>
              </a:extLst>
            </p:cNvPr>
            <p:cNvCxnSpPr/>
            <p:nvPr/>
          </p:nvCxnSpPr>
          <p:spPr>
            <a:xfrm>
              <a:off x="9152238" y="2883243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1AAC9EC-91AA-170A-5A6E-0C44B128286C}"/>
                </a:ext>
              </a:extLst>
            </p:cNvPr>
            <p:cNvCxnSpPr/>
            <p:nvPr/>
          </p:nvCxnSpPr>
          <p:spPr>
            <a:xfrm>
              <a:off x="9152238" y="3103967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81D25AF-8DE7-4C89-BD3E-BA55FA11EB79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83243"/>
              <a:ext cx="0" cy="2381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82A0A078-79DB-A0D8-212E-A37604F8DCB6}"/>
              </a:ext>
            </a:extLst>
          </p:cNvPr>
          <p:cNvSpPr txBox="1"/>
          <p:nvPr/>
        </p:nvSpPr>
        <p:spPr>
          <a:xfrm>
            <a:off x="9227133" y="3588055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</a:t>
            </a:r>
            <a:r>
              <a:rPr lang="en-K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ormal queue </a:t>
            </a:r>
            <a:r>
              <a:rPr lang="en-K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(for all flows)</a:t>
            </a:r>
          </a:p>
        </p:txBody>
      </p:sp>
      <p:sp>
        <p:nvSpPr>
          <p:cNvPr id="18" name="Rectangle: Rounded Corners 18">
            <a:extLst>
              <a:ext uri="{FF2B5EF4-FFF2-40B4-BE49-F238E27FC236}">
                <a16:creationId xmlns:a16="http://schemas.microsoft.com/office/drawing/2014/main" id="{AC4A7193-99B1-592C-3568-76D7415AD926}"/>
              </a:ext>
            </a:extLst>
          </p:cNvPr>
          <p:cNvSpPr/>
          <p:nvPr/>
        </p:nvSpPr>
        <p:spPr>
          <a:xfrm>
            <a:off x="3880819" y="5262360"/>
            <a:ext cx="4038688" cy="847976"/>
          </a:xfrm>
          <a:prstGeom prst="roundRect">
            <a:avLst>
              <a:gd name="adj" fmla="val 3022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KR" sz="2000" u="sng" dirty="0">
                <a:solidFill>
                  <a:srgbClr val="7030A0"/>
                </a:solidFill>
                <a:latin typeface="Fira Sans" panose="020B0503050000020004" pitchFamily="34" charset="0"/>
              </a:rPr>
              <a:t>Release</a:t>
            </a:r>
            <a:r>
              <a:rPr lang="en-KR" sz="2000" dirty="0">
                <a:latin typeface="Fira Sans" panose="020B0503050000020004" pitchFamily="34" charset="0"/>
              </a:rPr>
              <a:t> the reorder queue, and </a:t>
            </a:r>
            <a:br>
              <a:rPr lang="en-KR" sz="2000" dirty="0">
                <a:latin typeface="Fira Sans" panose="020B0503050000020004" pitchFamily="34" charset="0"/>
              </a:rPr>
            </a:br>
            <a:r>
              <a:rPr lang="en-KR" sz="2000" dirty="0">
                <a:latin typeface="Fira Sans" panose="020B0503050000020004" pitchFamily="34" charset="0"/>
              </a:rPr>
              <a:t>redirect a flow to </a:t>
            </a:r>
            <a:r>
              <a:rPr lang="en-KR" sz="2000" i="1" dirty="0">
                <a:latin typeface="Fira Sans" panose="020B0503050000020004" pitchFamily="34" charset="0"/>
              </a:rPr>
              <a:t>normal queue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D1EC96D2-8A08-7AC5-B47D-A06ED2501D9E}"/>
              </a:ext>
            </a:extLst>
          </p:cNvPr>
          <p:cNvSpPr/>
          <p:nvPr/>
        </p:nvSpPr>
        <p:spPr>
          <a:xfrm>
            <a:off x="8022967" y="5226072"/>
            <a:ext cx="1850572" cy="847976"/>
          </a:xfrm>
          <a:custGeom>
            <a:avLst/>
            <a:gdLst>
              <a:gd name="connsiteX0" fmla="*/ 1850572 w 1850572"/>
              <a:gd name="connsiteY0" fmla="*/ 838200 h 1175657"/>
              <a:gd name="connsiteX1" fmla="*/ 1850572 w 1850572"/>
              <a:gd name="connsiteY1" fmla="*/ 1175657 h 1175657"/>
              <a:gd name="connsiteX2" fmla="*/ 0 w 1850572"/>
              <a:gd name="connsiteY2" fmla="*/ 1175657 h 1175657"/>
              <a:gd name="connsiteX3" fmla="*/ 0 w 1850572"/>
              <a:gd name="connsiteY3" fmla="*/ 0 h 117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572" h="1175657">
                <a:moveTo>
                  <a:pt x="1850572" y="838200"/>
                </a:moveTo>
                <a:lnTo>
                  <a:pt x="1850572" y="1175657"/>
                </a:lnTo>
                <a:lnTo>
                  <a:pt x="0" y="1175657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5" name="Can 34">
            <a:extLst>
              <a:ext uri="{FF2B5EF4-FFF2-40B4-BE49-F238E27FC236}">
                <a16:creationId xmlns:a16="http://schemas.microsoft.com/office/drawing/2014/main" id="{A96718DB-1863-3BAF-AFC0-95C48F749BBE}"/>
              </a:ext>
            </a:extLst>
          </p:cNvPr>
          <p:cNvSpPr/>
          <p:nvPr/>
        </p:nvSpPr>
        <p:spPr>
          <a:xfrm rot="5400000">
            <a:off x="5389386" y="2021030"/>
            <a:ext cx="912955" cy="3837120"/>
          </a:xfrm>
          <a:prstGeom prst="can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27" name="Picture 12" descr="Download Sign Warning Exclamation Mark Royalty-Free Vector Graphic - Pixabay">
            <a:extLst>
              <a:ext uri="{FF2B5EF4-FFF2-40B4-BE49-F238E27FC236}">
                <a16:creationId xmlns:a16="http://schemas.microsoft.com/office/drawing/2014/main" id="{C8DB2D17-43FF-478F-CD97-80184C5F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11" y="3268999"/>
            <a:ext cx="447447" cy="40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2E21D51-9A61-208D-8C4C-7F7CE6F9AB30}"/>
              </a:ext>
            </a:extLst>
          </p:cNvPr>
          <p:cNvSpPr/>
          <p:nvPr/>
        </p:nvSpPr>
        <p:spPr>
          <a:xfrm>
            <a:off x="1026615" y="1227523"/>
            <a:ext cx="9688788" cy="1082947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Reroute “only if” there is no inflight out-of-order packets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	 Enable switch to reorder a flow using a single reorder queue</a:t>
            </a:r>
            <a:endParaRPr lang="en-KR" sz="2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F3A48F8-A348-8D99-FC1D-42D29FE1B52E}"/>
              </a:ext>
            </a:extLst>
          </p:cNvPr>
          <p:cNvSpPr/>
          <p:nvPr/>
        </p:nvSpPr>
        <p:spPr>
          <a:xfrm>
            <a:off x="5078061" y="984907"/>
            <a:ext cx="1585897" cy="400110"/>
          </a:xfrm>
          <a:prstGeom prst="roundRect">
            <a:avLst>
              <a:gd name="adj" fmla="val 399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Key Idea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590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85185E-6 L 0.1026 1.85185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30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0" presetClass="path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48148E-6 L 0.05664 -1.48148E-6 L 0.05664 -0.15162 L 0.09817 -0.15162 " pathEditMode="relative" rAng="0" ptsTypes="AAAA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09" y="-759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" presetID="0" presetClass="path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375E-6 -4.07407E-6 L 0.09441 -4.07407E-6 L 0.09441 -0.15162 L 0.13594 -0.15162 " pathEditMode="relative" rAng="0" ptsTypes="AAAA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97" y="-759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" presetID="0" presetClass="path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4.16667E-7 2.96296E-6 L 0.13581 2.96296E-6 L 0.13581 -0.14676 L 0.17812 -0.14676 " pathEditMode="relative" rAng="0" ptsTypes="AAAA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06" y="-7338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"/>
                                            </p:cond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8" grpId="0" animBg="1"/>
      <p:bldP spid="5" grpId="0" animBg="1"/>
      <p:bldP spid="7" grpId="0" animBg="1"/>
      <p:bldP spid="18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5378E0-ECD0-4DB3-79FD-FA905C5087D4}"/>
              </a:ext>
            </a:extLst>
          </p:cNvPr>
          <p:cNvCxnSpPr>
            <a:cxnSpLocks/>
          </p:cNvCxnSpPr>
          <p:nvPr/>
        </p:nvCxnSpPr>
        <p:spPr>
          <a:xfrm>
            <a:off x="4149518" y="2614027"/>
            <a:ext cx="0" cy="397633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ECAEC4-FA15-22B0-CC38-58E047401534}"/>
              </a:ext>
            </a:extLst>
          </p:cNvPr>
          <p:cNvCxnSpPr>
            <a:cxnSpLocks/>
          </p:cNvCxnSpPr>
          <p:nvPr/>
        </p:nvCxnSpPr>
        <p:spPr>
          <a:xfrm>
            <a:off x="7491927" y="2614026"/>
            <a:ext cx="0" cy="3887126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Cautious Rerouting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FAC75-A7C8-389C-EF84-300A6656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27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811C31-F295-22E2-B641-6DFB39B766F7}"/>
              </a:ext>
            </a:extLst>
          </p:cNvPr>
          <p:cNvGrpSpPr/>
          <p:nvPr/>
        </p:nvGrpSpPr>
        <p:grpSpPr>
          <a:xfrm>
            <a:off x="1262719" y="2486807"/>
            <a:ext cx="2297424" cy="934750"/>
            <a:chOff x="1262719" y="2029616"/>
            <a:chExt cx="2297424" cy="9347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7ACFD4-3D89-EE9A-F832-51C84481C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1740539" y="2029616"/>
              <a:ext cx="1327506" cy="59511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FE78C4-8F18-4D28-4BE9-9C96ACAAE7EE}"/>
                </a:ext>
              </a:extLst>
            </p:cNvPr>
            <p:cNvSpPr txBox="1"/>
            <p:nvPr/>
          </p:nvSpPr>
          <p:spPr>
            <a:xfrm>
              <a:off x="1262719" y="2564256"/>
              <a:ext cx="22974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SrcToR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422798-62A0-562E-2C43-9EE28357A2A8}"/>
              </a:ext>
            </a:extLst>
          </p:cNvPr>
          <p:cNvGrpSpPr/>
          <p:nvPr/>
        </p:nvGrpSpPr>
        <p:grpSpPr>
          <a:xfrm>
            <a:off x="8722092" y="2486807"/>
            <a:ext cx="2308645" cy="934750"/>
            <a:chOff x="8722092" y="2029616"/>
            <a:chExt cx="2308645" cy="9347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8CB4A44-7A36-0FFE-50F6-1B82F863F8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26" b="31045"/>
            <a:stretch/>
          </p:blipFill>
          <p:spPr>
            <a:xfrm>
              <a:off x="9072570" y="2029616"/>
              <a:ext cx="1327506" cy="59511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686018-4AF7-767B-C275-5A33AB560A85}"/>
                </a:ext>
              </a:extLst>
            </p:cNvPr>
            <p:cNvSpPr txBox="1"/>
            <p:nvPr/>
          </p:nvSpPr>
          <p:spPr>
            <a:xfrm>
              <a:off x="8722092" y="2564256"/>
              <a:ext cx="23086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000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 </a:t>
              </a:r>
              <a:r>
                <a:rPr lang="en-KR" sz="2000" u="sng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DstToR</a:t>
              </a:r>
            </a:p>
          </p:txBody>
        </p:sp>
      </p:grpSp>
      <p:sp>
        <p:nvSpPr>
          <p:cNvPr id="13" name="Can 12">
            <a:extLst>
              <a:ext uri="{FF2B5EF4-FFF2-40B4-BE49-F238E27FC236}">
                <a16:creationId xmlns:a16="http://schemas.microsoft.com/office/drawing/2014/main" id="{16B3FACE-EC0A-DAA4-27E1-B8BFB353736E}"/>
              </a:ext>
            </a:extLst>
          </p:cNvPr>
          <p:cNvSpPr/>
          <p:nvPr/>
        </p:nvSpPr>
        <p:spPr>
          <a:xfrm rot="5400000">
            <a:off x="5389386" y="2021030"/>
            <a:ext cx="912955" cy="3837120"/>
          </a:xfrm>
          <a:prstGeom prst="can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EF75B579-7897-C35B-2541-434BCBEDC2A4}"/>
              </a:ext>
            </a:extLst>
          </p:cNvPr>
          <p:cNvSpPr/>
          <p:nvPr/>
        </p:nvSpPr>
        <p:spPr>
          <a:xfrm rot="5400000">
            <a:off x="5389386" y="3472785"/>
            <a:ext cx="912955" cy="3837120"/>
          </a:xfrm>
          <a:prstGeom prst="can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27" name="Picture 12" descr="Download Sign Warning Exclamation Mark Royalty-Free Vector Graphic - Pixabay">
            <a:extLst>
              <a:ext uri="{FF2B5EF4-FFF2-40B4-BE49-F238E27FC236}">
                <a16:creationId xmlns:a16="http://schemas.microsoft.com/office/drawing/2014/main" id="{C8DB2D17-43FF-478F-CD97-80184C5F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11" y="3268999"/>
            <a:ext cx="447447" cy="40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495A0B8-CCA7-AA45-438A-721A7E63F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199" y="4730299"/>
            <a:ext cx="409136" cy="409136"/>
          </a:xfrm>
          <a:prstGeom prst="rect">
            <a:avLst/>
          </a:prstGeom>
        </p:spPr>
      </p:pic>
      <p:sp>
        <p:nvSpPr>
          <p:cNvPr id="32" name="Freeform 31">
            <a:extLst>
              <a:ext uri="{FF2B5EF4-FFF2-40B4-BE49-F238E27FC236}">
                <a16:creationId xmlns:a16="http://schemas.microsoft.com/office/drawing/2014/main" id="{AA683A96-D4BC-897F-68B9-BFD7AD85D890}"/>
              </a:ext>
            </a:extLst>
          </p:cNvPr>
          <p:cNvSpPr/>
          <p:nvPr/>
        </p:nvSpPr>
        <p:spPr>
          <a:xfrm flipV="1">
            <a:off x="3336052" y="4800695"/>
            <a:ext cx="5305529" cy="358836"/>
          </a:xfrm>
          <a:custGeom>
            <a:avLst/>
            <a:gdLst>
              <a:gd name="connsiteX0" fmla="*/ 0 w 5305529"/>
              <a:gd name="connsiteY0" fmla="*/ 361741 h 361741"/>
              <a:gd name="connsiteX1" fmla="*/ 301450 w 5305529"/>
              <a:gd name="connsiteY1" fmla="*/ 0 h 361741"/>
              <a:gd name="connsiteX2" fmla="*/ 5305529 w 5305529"/>
              <a:gd name="connsiteY2" fmla="*/ 0 h 36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29" h="361741">
                <a:moveTo>
                  <a:pt x="0" y="361741"/>
                </a:moveTo>
                <a:lnTo>
                  <a:pt x="301450" y="0"/>
                </a:lnTo>
                <a:lnTo>
                  <a:pt x="5305529" y="0"/>
                </a:lnTo>
              </a:path>
            </a:pathLst>
          </a:custGeom>
          <a:noFill/>
          <a:ln w="76200">
            <a:solidFill>
              <a:schemeClr val="accent6">
                <a:alpha val="83000"/>
              </a:schemeClr>
            </a:solidFill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2FFC05-E509-6BEC-0901-2539C6B38D86}"/>
              </a:ext>
            </a:extLst>
          </p:cNvPr>
          <p:cNvSpPr txBox="1"/>
          <p:nvPr/>
        </p:nvSpPr>
        <p:spPr>
          <a:xfrm>
            <a:off x="3450120" y="4459388"/>
            <a:ext cx="1304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b="1" i="1" dirty="0">
                <a:solidFill>
                  <a:schemeClr val="accent6"/>
                </a:solidFill>
              </a:rPr>
              <a:t>Reroute!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5D21895-FFEE-0627-1BAC-06535F009E6E}"/>
              </a:ext>
            </a:extLst>
          </p:cNvPr>
          <p:cNvSpPr/>
          <p:nvPr/>
        </p:nvSpPr>
        <p:spPr>
          <a:xfrm>
            <a:off x="3116086" y="3471385"/>
            <a:ext cx="5509845" cy="931503"/>
          </a:xfrm>
          <a:custGeom>
            <a:avLst/>
            <a:gdLst>
              <a:gd name="connsiteX0" fmla="*/ 3728720 w 3728720"/>
              <a:gd name="connsiteY0" fmla="*/ 0 h 1026267"/>
              <a:gd name="connsiteX1" fmla="*/ 1920240 w 3728720"/>
              <a:gd name="connsiteY1" fmla="*/ 1026160 h 1026267"/>
              <a:gd name="connsiteX2" fmla="*/ 0 w 3728720"/>
              <a:gd name="connsiteY2" fmla="*/ 50800 h 102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28720" h="1026267">
                <a:moveTo>
                  <a:pt x="3728720" y="0"/>
                </a:moveTo>
                <a:cubicBezTo>
                  <a:pt x="3135206" y="508846"/>
                  <a:pt x="2541693" y="1017693"/>
                  <a:pt x="1920240" y="1026160"/>
                </a:cubicBezTo>
                <a:cubicBezTo>
                  <a:pt x="1298787" y="1034627"/>
                  <a:pt x="649393" y="542713"/>
                  <a:pt x="0" y="50800"/>
                </a:cubicBezTo>
              </a:path>
            </a:pathLst>
          </a:custGeom>
          <a:noFill/>
          <a:ln w="5715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arrow" w="med" len="med"/>
          </a:ln>
          <a:effectLst>
            <a:glow rad="381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latin typeface="Fira Sans" panose="020B0503050000020004" pitchFamily="34" charset="0"/>
            </a:endParaRPr>
          </a:p>
        </p:txBody>
      </p:sp>
      <p:sp>
        <p:nvSpPr>
          <p:cNvPr id="12" name="Rectangle: Rounded Corners 18">
            <a:extLst>
              <a:ext uri="{FF2B5EF4-FFF2-40B4-BE49-F238E27FC236}">
                <a16:creationId xmlns:a16="http://schemas.microsoft.com/office/drawing/2014/main" id="{4BBEC749-B10F-6B18-8B74-20D6061D42F8}"/>
              </a:ext>
            </a:extLst>
          </p:cNvPr>
          <p:cNvSpPr/>
          <p:nvPr/>
        </p:nvSpPr>
        <p:spPr>
          <a:xfrm>
            <a:off x="3626456" y="2629264"/>
            <a:ext cx="4489104" cy="1189115"/>
          </a:xfrm>
          <a:prstGeom prst="roundRect">
            <a:avLst>
              <a:gd name="adj" fmla="val 30223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KR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”CLEAR” – no more </a:t>
            </a:r>
            <a:r>
              <a:rPr lang="en-KR" sz="2000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inflight</a:t>
            </a:r>
            <a:r>
              <a:rPr lang="en-KR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br>
              <a:rPr lang="en-KR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KR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out-of-order packets</a:t>
            </a:r>
            <a:endParaRPr lang="en-KR" sz="2000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2" name="Picture 41" descr="Icon&#10;&#10;Description automatically generated">
            <a:extLst>
              <a:ext uri="{FF2B5EF4-FFF2-40B4-BE49-F238E27FC236}">
                <a16:creationId xmlns:a16="http://schemas.microsoft.com/office/drawing/2014/main" id="{F4DD8794-D600-27A6-D22A-EB26CA1528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4730" y="1466849"/>
            <a:ext cx="548700" cy="548700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1CCE0140-80D5-22CC-1E79-45193D369CA4}"/>
              </a:ext>
            </a:extLst>
          </p:cNvPr>
          <p:cNvGrpSpPr/>
          <p:nvPr/>
        </p:nvGrpSpPr>
        <p:grpSpPr>
          <a:xfrm>
            <a:off x="8687311" y="4929359"/>
            <a:ext cx="2217472" cy="880632"/>
            <a:chOff x="8687311" y="4929359"/>
            <a:chExt cx="2217472" cy="8806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E90D804-BF5A-DCBF-1BCE-551ADC1AE349}"/>
                </a:ext>
              </a:extLst>
            </p:cNvPr>
            <p:cNvGrpSpPr/>
            <p:nvPr/>
          </p:nvGrpSpPr>
          <p:grpSpPr>
            <a:xfrm>
              <a:off x="8687311" y="4929359"/>
              <a:ext cx="2170985" cy="524390"/>
              <a:chOff x="9152238" y="2883243"/>
              <a:chExt cx="986012" cy="23816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AD54E8D-A3CB-27E7-72AF-4AD4A6934AAB}"/>
                  </a:ext>
                </a:extLst>
              </p:cNvPr>
              <p:cNvCxnSpPr/>
              <p:nvPr/>
            </p:nvCxnSpPr>
            <p:spPr>
              <a:xfrm>
                <a:off x="9152238" y="2883243"/>
                <a:ext cx="986012" cy="0"/>
              </a:xfrm>
              <a:prstGeom prst="line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A07C1ED-5768-9C23-2BA9-210653CCDC48}"/>
                  </a:ext>
                </a:extLst>
              </p:cNvPr>
              <p:cNvCxnSpPr/>
              <p:nvPr/>
            </p:nvCxnSpPr>
            <p:spPr>
              <a:xfrm>
                <a:off x="9152238" y="3103967"/>
                <a:ext cx="986012" cy="0"/>
              </a:xfrm>
              <a:prstGeom prst="line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2DE8724-AFFB-FC56-9750-49314CEEE0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38250" y="2883243"/>
                <a:ext cx="0" cy="238166"/>
              </a:xfrm>
              <a:prstGeom prst="line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2D19C19-054E-D9D6-8C49-03DC5CFFE029}"/>
                </a:ext>
              </a:extLst>
            </p:cNvPr>
            <p:cNvSpPr txBox="1"/>
            <p:nvPr/>
          </p:nvSpPr>
          <p:spPr>
            <a:xfrm>
              <a:off x="9229324" y="5440659"/>
              <a:ext cx="1675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Reorder</a:t>
              </a:r>
              <a:r>
                <a:rPr lang="en-KR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queue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091EF1-A6DE-BB23-0FE9-47B7E54DAF86}"/>
              </a:ext>
            </a:extLst>
          </p:cNvPr>
          <p:cNvGrpSpPr/>
          <p:nvPr/>
        </p:nvGrpSpPr>
        <p:grpSpPr>
          <a:xfrm>
            <a:off x="8663351" y="3957387"/>
            <a:ext cx="2170985" cy="524390"/>
            <a:chOff x="9152238" y="2883243"/>
            <a:chExt cx="986012" cy="238166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C6BFBED-C29A-3DD1-A9D7-B485064F9627}"/>
                </a:ext>
              </a:extLst>
            </p:cNvPr>
            <p:cNvCxnSpPr/>
            <p:nvPr/>
          </p:nvCxnSpPr>
          <p:spPr>
            <a:xfrm>
              <a:off x="9152238" y="2883243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1AAC9EC-91AA-170A-5A6E-0C44B128286C}"/>
                </a:ext>
              </a:extLst>
            </p:cNvPr>
            <p:cNvCxnSpPr/>
            <p:nvPr/>
          </p:nvCxnSpPr>
          <p:spPr>
            <a:xfrm>
              <a:off x="9152238" y="3103967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81D25AF-8DE7-4C89-BD3E-BA55FA11EB79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83243"/>
              <a:ext cx="0" cy="2381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82A0A078-79DB-A0D8-212E-A37604F8DCB6}"/>
              </a:ext>
            </a:extLst>
          </p:cNvPr>
          <p:cNvSpPr txBox="1"/>
          <p:nvPr/>
        </p:nvSpPr>
        <p:spPr>
          <a:xfrm>
            <a:off x="9227133" y="3588055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</a:t>
            </a:r>
            <a:r>
              <a:rPr lang="en-K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ormal queue </a:t>
            </a:r>
            <a:r>
              <a:rPr lang="en-K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(for all flows)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C9896652-8E70-E5CA-0597-E653E3C479CD}"/>
              </a:ext>
            </a:extLst>
          </p:cNvPr>
          <p:cNvSpPr/>
          <p:nvPr/>
        </p:nvSpPr>
        <p:spPr>
          <a:xfrm>
            <a:off x="3344562" y="4160108"/>
            <a:ext cx="5395784" cy="1013254"/>
          </a:xfrm>
          <a:custGeom>
            <a:avLst/>
            <a:gdLst>
              <a:gd name="connsiteX0" fmla="*/ 0 w 5395784"/>
              <a:gd name="connsiteY0" fmla="*/ 659027 h 1013254"/>
              <a:gd name="connsiteX1" fmla="*/ 304800 w 5395784"/>
              <a:gd name="connsiteY1" fmla="*/ 1013254 h 1013254"/>
              <a:gd name="connsiteX2" fmla="*/ 4563762 w 5395784"/>
              <a:gd name="connsiteY2" fmla="*/ 1013254 h 1013254"/>
              <a:gd name="connsiteX3" fmla="*/ 4563762 w 5395784"/>
              <a:gd name="connsiteY3" fmla="*/ 0 h 1013254"/>
              <a:gd name="connsiteX4" fmla="*/ 5395784 w 5395784"/>
              <a:gd name="connsiteY4" fmla="*/ 0 h 1013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5784" h="1013254">
                <a:moveTo>
                  <a:pt x="0" y="659027"/>
                </a:moveTo>
                <a:lnTo>
                  <a:pt x="304800" y="1013254"/>
                </a:lnTo>
                <a:lnTo>
                  <a:pt x="4563762" y="1013254"/>
                </a:lnTo>
                <a:lnTo>
                  <a:pt x="4563762" y="0"/>
                </a:lnTo>
                <a:lnTo>
                  <a:pt x="5395784" y="0"/>
                </a:lnTo>
              </a:path>
            </a:pathLst>
          </a:custGeom>
          <a:noFill/>
          <a:ln w="76200">
            <a:solidFill>
              <a:schemeClr val="accent6">
                <a:alpha val="83000"/>
              </a:schemeClr>
            </a:solidFill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Rectangle: Rounded Corners 18">
            <a:extLst>
              <a:ext uri="{FF2B5EF4-FFF2-40B4-BE49-F238E27FC236}">
                <a16:creationId xmlns:a16="http://schemas.microsoft.com/office/drawing/2014/main" id="{CE01C661-3FB4-BD5E-3CE4-0CD4AB70736F}"/>
              </a:ext>
            </a:extLst>
          </p:cNvPr>
          <p:cNvSpPr/>
          <p:nvPr/>
        </p:nvSpPr>
        <p:spPr>
          <a:xfrm>
            <a:off x="3881408" y="5262360"/>
            <a:ext cx="4038099" cy="847976"/>
          </a:xfrm>
          <a:prstGeom prst="roundRect">
            <a:avLst>
              <a:gd name="adj" fmla="val 3022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KR" sz="2000" u="sng" dirty="0">
                <a:solidFill>
                  <a:srgbClr val="7030A0"/>
                </a:solidFill>
                <a:latin typeface="Fira Sans" panose="020B0503050000020004" pitchFamily="34" charset="0"/>
              </a:rPr>
              <a:t>Release</a:t>
            </a:r>
            <a:r>
              <a:rPr lang="en-KR" sz="2000" dirty="0">
                <a:latin typeface="Fira Sans" panose="020B0503050000020004" pitchFamily="34" charset="0"/>
              </a:rPr>
              <a:t> the reorder queue, and </a:t>
            </a:r>
            <a:br>
              <a:rPr lang="en-KR" sz="2000" dirty="0">
                <a:latin typeface="Fira Sans" panose="020B0503050000020004" pitchFamily="34" charset="0"/>
              </a:rPr>
            </a:br>
            <a:r>
              <a:rPr lang="en-KR" sz="2000" dirty="0">
                <a:latin typeface="Fira Sans" panose="020B0503050000020004" pitchFamily="34" charset="0"/>
              </a:rPr>
              <a:t>redirect a flow to </a:t>
            </a:r>
            <a:r>
              <a:rPr lang="en-KR" sz="2000" i="1" dirty="0">
                <a:latin typeface="Fira Sans" panose="020B0503050000020004" pitchFamily="34" charset="0"/>
              </a:rPr>
              <a:t>normal queue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EE8CB64-05ED-DF2A-BBE0-1FC5CE3BBB7A}"/>
              </a:ext>
            </a:extLst>
          </p:cNvPr>
          <p:cNvSpPr/>
          <p:nvPr/>
        </p:nvSpPr>
        <p:spPr>
          <a:xfrm>
            <a:off x="8022967" y="5226072"/>
            <a:ext cx="1850572" cy="847976"/>
          </a:xfrm>
          <a:custGeom>
            <a:avLst/>
            <a:gdLst>
              <a:gd name="connsiteX0" fmla="*/ 1850572 w 1850572"/>
              <a:gd name="connsiteY0" fmla="*/ 838200 h 1175657"/>
              <a:gd name="connsiteX1" fmla="*/ 1850572 w 1850572"/>
              <a:gd name="connsiteY1" fmla="*/ 1175657 h 1175657"/>
              <a:gd name="connsiteX2" fmla="*/ 0 w 1850572"/>
              <a:gd name="connsiteY2" fmla="*/ 1175657 h 1175657"/>
              <a:gd name="connsiteX3" fmla="*/ 0 w 1850572"/>
              <a:gd name="connsiteY3" fmla="*/ 0 h 117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572" h="1175657">
                <a:moveTo>
                  <a:pt x="1850572" y="838200"/>
                </a:moveTo>
                <a:lnTo>
                  <a:pt x="1850572" y="1175657"/>
                </a:lnTo>
                <a:lnTo>
                  <a:pt x="0" y="1175657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31210A0-EB82-2BD2-BA35-84D436DD90D7}"/>
              </a:ext>
            </a:extLst>
          </p:cNvPr>
          <p:cNvSpPr/>
          <p:nvPr/>
        </p:nvSpPr>
        <p:spPr>
          <a:xfrm>
            <a:off x="1026615" y="1227523"/>
            <a:ext cx="9688788" cy="1082947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Reroute “only if” there is no inflight out-of-order packets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	 Enable switch to reorder a flow using a single reorder queue</a:t>
            </a:r>
            <a:endParaRPr lang="en-KR" sz="2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80B0E4-3E62-D3D3-3F90-A483350D4E50}"/>
              </a:ext>
            </a:extLst>
          </p:cNvPr>
          <p:cNvSpPr/>
          <p:nvPr/>
        </p:nvSpPr>
        <p:spPr>
          <a:xfrm>
            <a:off x="5078061" y="984907"/>
            <a:ext cx="1585897" cy="400110"/>
          </a:xfrm>
          <a:prstGeom prst="roundRect">
            <a:avLst>
              <a:gd name="adj" fmla="val 399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Key Idea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414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1"/>
      <p:bldP spid="6" grpId="0" animBg="1"/>
      <p:bldP spid="12" grpId="0" animBg="1"/>
      <p:bldP spid="49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6CE1894-CCA1-3702-8EB9-349B45AB540E}"/>
              </a:ext>
            </a:extLst>
          </p:cNvPr>
          <p:cNvSpPr/>
          <p:nvPr/>
        </p:nvSpPr>
        <p:spPr>
          <a:xfrm>
            <a:off x="1026615" y="1227523"/>
            <a:ext cx="9688788" cy="1082947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Reroute “only if” there is no inflight out-of-order packets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	 Enable switch to reorder a flow using a single reorder queue</a:t>
            </a:r>
            <a:endParaRPr lang="en-KR" sz="2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14F8F38-447D-2A2B-B7DA-49FEE3522F72}"/>
              </a:ext>
            </a:extLst>
          </p:cNvPr>
          <p:cNvSpPr/>
          <p:nvPr/>
        </p:nvSpPr>
        <p:spPr>
          <a:xfrm>
            <a:off x="5078061" y="984907"/>
            <a:ext cx="1585897" cy="400110"/>
          </a:xfrm>
          <a:prstGeom prst="roundRect">
            <a:avLst>
              <a:gd name="adj" fmla="val 399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Key Idea</a:t>
            </a: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EF75B579-7897-C35B-2541-434BCBEDC2A4}"/>
              </a:ext>
            </a:extLst>
          </p:cNvPr>
          <p:cNvSpPr/>
          <p:nvPr/>
        </p:nvSpPr>
        <p:spPr>
          <a:xfrm rot="5400000">
            <a:off x="5389386" y="3472785"/>
            <a:ext cx="912955" cy="3837120"/>
          </a:xfrm>
          <a:prstGeom prst="can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33179544-C89B-749A-EA19-BCC7DAF49DAD}"/>
              </a:ext>
            </a:extLst>
          </p:cNvPr>
          <p:cNvSpPr/>
          <p:nvPr/>
        </p:nvSpPr>
        <p:spPr>
          <a:xfrm>
            <a:off x="3344562" y="4160108"/>
            <a:ext cx="5395784" cy="1013254"/>
          </a:xfrm>
          <a:custGeom>
            <a:avLst/>
            <a:gdLst>
              <a:gd name="connsiteX0" fmla="*/ 0 w 5395784"/>
              <a:gd name="connsiteY0" fmla="*/ 659027 h 1013254"/>
              <a:gd name="connsiteX1" fmla="*/ 304800 w 5395784"/>
              <a:gd name="connsiteY1" fmla="*/ 1013254 h 1013254"/>
              <a:gd name="connsiteX2" fmla="*/ 4563762 w 5395784"/>
              <a:gd name="connsiteY2" fmla="*/ 1013254 h 1013254"/>
              <a:gd name="connsiteX3" fmla="*/ 4563762 w 5395784"/>
              <a:gd name="connsiteY3" fmla="*/ 0 h 1013254"/>
              <a:gd name="connsiteX4" fmla="*/ 5395784 w 5395784"/>
              <a:gd name="connsiteY4" fmla="*/ 0 h 1013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5784" h="1013254">
                <a:moveTo>
                  <a:pt x="0" y="659027"/>
                </a:moveTo>
                <a:lnTo>
                  <a:pt x="304800" y="1013254"/>
                </a:lnTo>
                <a:lnTo>
                  <a:pt x="4563762" y="1013254"/>
                </a:lnTo>
                <a:lnTo>
                  <a:pt x="4563762" y="0"/>
                </a:lnTo>
                <a:lnTo>
                  <a:pt x="5395784" y="0"/>
                </a:lnTo>
              </a:path>
            </a:pathLst>
          </a:custGeom>
          <a:noFill/>
          <a:ln w="76200">
            <a:solidFill>
              <a:schemeClr val="accent6">
                <a:alpha val="83000"/>
              </a:schemeClr>
            </a:solidFill>
            <a:headEnd type="none" w="med" len="med"/>
            <a:tailEnd type="arrow" w="med" len="med"/>
          </a:ln>
          <a:effectLst>
            <a:glow rad="38100">
              <a:schemeClr val="accent4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0EC144-D65E-7043-F508-E250991A4D64}"/>
              </a:ext>
            </a:extLst>
          </p:cNvPr>
          <p:cNvGrpSpPr/>
          <p:nvPr/>
        </p:nvGrpSpPr>
        <p:grpSpPr>
          <a:xfrm>
            <a:off x="8663351" y="3957387"/>
            <a:ext cx="2170985" cy="524390"/>
            <a:chOff x="9152238" y="2883243"/>
            <a:chExt cx="986012" cy="23816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C0CCDF1-B158-DC57-7A01-5B8E5776A162}"/>
                </a:ext>
              </a:extLst>
            </p:cNvPr>
            <p:cNvCxnSpPr/>
            <p:nvPr/>
          </p:nvCxnSpPr>
          <p:spPr>
            <a:xfrm>
              <a:off x="9152238" y="2883243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DC79D2D-E079-8077-98BC-BBAA5C8D020D}"/>
                </a:ext>
              </a:extLst>
            </p:cNvPr>
            <p:cNvCxnSpPr/>
            <p:nvPr/>
          </p:nvCxnSpPr>
          <p:spPr>
            <a:xfrm>
              <a:off x="9152238" y="3103967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F978FC2-4966-E8C4-5642-249EBCD55125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83243"/>
              <a:ext cx="0" cy="2381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83D3D1BE-0CEE-FE67-FB77-63A42E172A24}"/>
              </a:ext>
            </a:extLst>
          </p:cNvPr>
          <p:cNvSpPr txBox="1"/>
          <p:nvPr/>
        </p:nvSpPr>
        <p:spPr>
          <a:xfrm>
            <a:off x="9227133" y="3588055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</a:t>
            </a:r>
            <a:r>
              <a:rPr lang="en-K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ormal queue </a:t>
            </a:r>
            <a:r>
              <a:rPr lang="en-K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(for all flows)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65BEF7-0285-E460-62F9-F94B2511DA85}"/>
              </a:ext>
            </a:extLst>
          </p:cNvPr>
          <p:cNvSpPr txBox="1"/>
          <p:nvPr/>
        </p:nvSpPr>
        <p:spPr>
          <a:xfrm>
            <a:off x="8722092" y="3021447"/>
            <a:ext cx="2308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0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ConWeave </a:t>
            </a:r>
            <a:r>
              <a:rPr lang="en-KR" sz="2000" u="sng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DstToR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3F6D95-ADA5-C494-4441-09C2D16875C9}"/>
              </a:ext>
            </a:extLst>
          </p:cNvPr>
          <p:cNvSpPr txBox="1"/>
          <p:nvPr/>
        </p:nvSpPr>
        <p:spPr>
          <a:xfrm>
            <a:off x="1262719" y="3021447"/>
            <a:ext cx="2297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0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ConWeave </a:t>
            </a:r>
            <a:r>
              <a:rPr lang="en-KR" sz="2000" u="sng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SrcToR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5378E0-ECD0-4DB3-79FD-FA905C5087D4}"/>
              </a:ext>
            </a:extLst>
          </p:cNvPr>
          <p:cNvCxnSpPr>
            <a:cxnSpLocks/>
          </p:cNvCxnSpPr>
          <p:nvPr/>
        </p:nvCxnSpPr>
        <p:spPr>
          <a:xfrm>
            <a:off x="4149518" y="2614027"/>
            <a:ext cx="0" cy="397633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ECAEC4-FA15-22B0-CC38-58E047401534}"/>
              </a:ext>
            </a:extLst>
          </p:cNvPr>
          <p:cNvCxnSpPr>
            <a:cxnSpLocks/>
          </p:cNvCxnSpPr>
          <p:nvPr/>
        </p:nvCxnSpPr>
        <p:spPr>
          <a:xfrm>
            <a:off x="7491927" y="2614026"/>
            <a:ext cx="0" cy="3887126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Cautious Rerouting</a:t>
            </a:r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16B3FACE-EC0A-DAA4-27E1-B8BFB353736E}"/>
              </a:ext>
            </a:extLst>
          </p:cNvPr>
          <p:cNvSpPr/>
          <p:nvPr/>
        </p:nvSpPr>
        <p:spPr>
          <a:xfrm rot="5400000">
            <a:off x="5389386" y="2021030"/>
            <a:ext cx="912955" cy="3837120"/>
          </a:xfrm>
          <a:prstGeom prst="can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27" name="Picture 12" descr="Download Sign Warning Exclamation Mark Royalty-Free Vector Graphic - Pixabay">
            <a:extLst>
              <a:ext uri="{FF2B5EF4-FFF2-40B4-BE49-F238E27FC236}">
                <a16:creationId xmlns:a16="http://schemas.microsoft.com/office/drawing/2014/main" id="{C8DB2D17-43FF-478F-CD97-80184C5F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11" y="3268999"/>
            <a:ext cx="447447" cy="40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495A0B8-CCA7-AA45-438A-721A7E63F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7199" y="4730299"/>
            <a:ext cx="409136" cy="409136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D5D21895-FFEE-0627-1BAC-06535F009E6E}"/>
              </a:ext>
            </a:extLst>
          </p:cNvPr>
          <p:cNvSpPr/>
          <p:nvPr/>
        </p:nvSpPr>
        <p:spPr>
          <a:xfrm>
            <a:off x="3116086" y="3471385"/>
            <a:ext cx="5509845" cy="931503"/>
          </a:xfrm>
          <a:custGeom>
            <a:avLst/>
            <a:gdLst>
              <a:gd name="connsiteX0" fmla="*/ 3728720 w 3728720"/>
              <a:gd name="connsiteY0" fmla="*/ 0 h 1026267"/>
              <a:gd name="connsiteX1" fmla="*/ 1920240 w 3728720"/>
              <a:gd name="connsiteY1" fmla="*/ 1026160 h 1026267"/>
              <a:gd name="connsiteX2" fmla="*/ 0 w 3728720"/>
              <a:gd name="connsiteY2" fmla="*/ 50800 h 102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28720" h="1026267">
                <a:moveTo>
                  <a:pt x="3728720" y="0"/>
                </a:moveTo>
                <a:cubicBezTo>
                  <a:pt x="3135206" y="508846"/>
                  <a:pt x="2541693" y="1017693"/>
                  <a:pt x="1920240" y="1026160"/>
                </a:cubicBezTo>
                <a:cubicBezTo>
                  <a:pt x="1298787" y="1034627"/>
                  <a:pt x="649393" y="542713"/>
                  <a:pt x="0" y="50800"/>
                </a:cubicBezTo>
              </a:path>
            </a:pathLst>
          </a:custGeom>
          <a:noFill/>
          <a:ln w="5715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arrow" w="med" len="med"/>
          </a:ln>
          <a:effectLst>
            <a:glow rad="381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latin typeface="Fira Sans" panose="020B0503050000020004" pitchFamily="34" charset="0"/>
            </a:endParaRPr>
          </a:p>
        </p:txBody>
      </p:sp>
      <p:sp>
        <p:nvSpPr>
          <p:cNvPr id="12" name="Rectangle: Rounded Corners 18">
            <a:extLst>
              <a:ext uri="{FF2B5EF4-FFF2-40B4-BE49-F238E27FC236}">
                <a16:creationId xmlns:a16="http://schemas.microsoft.com/office/drawing/2014/main" id="{4BBEC749-B10F-6B18-8B74-20D6061D42F8}"/>
              </a:ext>
            </a:extLst>
          </p:cNvPr>
          <p:cNvSpPr/>
          <p:nvPr/>
        </p:nvSpPr>
        <p:spPr>
          <a:xfrm>
            <a:off x="3626456" y="2629264"/>
            <a:ext cx="4489104" cy="1189115"/>
          </a:xfrm>
          <a:prstGeom prst="roundRect">
            <a:avLst>
              <a:gd name="adj" fmla="val 30223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KR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”CLEAR” – no more </a:t>
            </a:r>
            <a:r>
              <a:rPr lang="en-KR" sz="2000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inflight</a:t>
            </a:r>
            <a:r>
              <a:rPr lang="en-KR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br>
              <a:rPr lang="en-KR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KR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out-of-order packets</a:t>
            </a:r>
            <a:endParaRPr lang="en-KR" sz="2000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2" name="Picture 41" descr="Icon&#10;&#10;Description automatically generated">
            <a:extLst>
              <a:ext uri="{FF2B5EF4-FFF2-40B4-BE49-F238E27FC236}">
                <a16:creationId xmlns:a16="http://schemas.microsoft.com/office/drawing/2014/main" id="{F4DD8794-D600-27A6-D22A-EB26CA1528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4730" y="1466849"/>
            <a:ext cx="548700" cy="548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A9BA3AB-A4A9-2529-FA33-46DCE6490AF6}"/>
              </a:ext>
            </a:extLst>
          </p:cNvPr>
          <p:cNvSpPr/>
          <p:nvPr/>
        </p:nvSpPr>
        <p:spPr>
          <a:xfrm>
            <a:off x="0" y="974991"/>
            <a:ext cx="12192000" cy="5873092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17A768D-B46C-268C-C2C6-4B12C021606E}"/>
              </a:ext>
            </a:extLst>
          </p:cNvPr>
          <p:cNvGrpSpPr/>
          <p:nvPr/>
        </p:nvGrpSpPr>
        <p:grpSpPr>
          <a:xfrm>
            <a:off x="1367337" y="4161955"/>
            <a:ext cx="9510665" cy="1309884"/>
            <a:chOff x="1623133" y="2011271"/>
            <a:chExt cx="9510665" cy="1309884"/>
          </a:xfrm>
        </p:grpSpPr>
        <p:sp>
          <p:nvSpPr>
            <p:cNvPr id="26" name="Rounded Rectangular Callout 25">
              <a:extLst>
                <a:ext uri="{FF2B5EF4-FFF2-40B4-BE49-F238E27FC236}">
                  <a16:creationId xmlns:a16="http://schemas.microsoft.com/office/drawing/2014/main" id="{1EEC7B46-16C6-8656-E5F0-FF84555571BC}"/>
                </a:ext>
              </a:extLst>
            </p:cNvPr>
            <p:cNvSpPr/>
            <p:nvPr/>
          </p:nvSpPr>
          <p:spPr>
            <a:xfrm>
              <a:off x="1623133" y="2011271"/>
              <a:ext cx="9510665" cy="1309884"/>
            </a:xfrm>
            <a:prstGeom prst="wedgeRoundRectCallout">
              <a:avLst>
                <a:gd name="adj1" fmla="val -41259"/>
                <a:gd name="adj2" fmla="val 33129"/>
                <a:gd name="adj3" fmla="val 16667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60000" rtlCol="0" anchor="ctr"/>
            <a:lstStyle/>
            <a:p>
              <a:pPr algn="ctr"/>
              <a:r>
                <a:rPr lang="en-US" sz="2400" dirty="0" err="1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ConWeave</a:t>
              </a:r>
              <a:r>
                <a:rPr lang="en-US" sz="2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 reroutes a flow when </a:t>
              </a:r>
              <a:r>
                <a:rPr lang="en-US" sz="2400" b="1" dirty="0">
                  <a:solidFill>
                    <a:schemeClr val="accen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congestion is detected*</a:t>
              </a:r>
              <a:br>
                <a:rPr lang="en-US" sz="2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</a:br>
              <a:r>
                <a:rPr lang="en-US" sz="2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while </a:t>
              </a:r>
              <a:r>
                <a:rPr lang="en-US" altLang="ko-KR" sz="2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delivering</a:t>
              </a:r>
              <a:r>
                <a:rPr lang="ko-KR" altLang="en-US" sz="2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 </a:t>
              </a:r>
              <a:r>
                <a:rPr lang="en-US" altLang="ko-KR" sz="2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packets</a:t>
              </a:r>
              <a:r>
                <a:rPr lang="ko-KR" altLang="en-US" sz="2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 </a:t>
              </a:r>
              <a:r>
                <a:rPr lang="en-US" altLang="ko-KR" sz="2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in</a:t>
              </a:r>
              <a:r>
                <a:rPr lang="ko-KR" altLang="en-US" sz="2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 </a:t>
              </a:r>
              <a:r>
                <a:rPr lang="en-US" altLang="ko-KR" sz="2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Wingdings" pitchFamily="2" charset="2"/>
                </a:rPr>
                <a:t>order</a:t>
              </a:r>
              <a:endParaRPr lang="en-KR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85D7BCF-4994-6A7C-3B1F-903293357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44483" y="2237303"/>
              <a:ext cx="837562" cy="837562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27ACFD4-3D89-EE9A-F832-51C84481CA9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24126" b="31045"/>
          <a:stretch/>
        </p:blipFill>
        <p:spPr>
          <a:xfrm>
            <a:off x="1740539" y="2486807"/>
            <a:ext cx="1327506" cy="595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CB4A44-7A36-0FFE-50F6-1B82F863F83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24126" b="31045"/>
          <a:stretch/>
        </p:blipFill>
        <p:spPr>
          <a:xfrm>
            <a:off x="9072570" y="2486807"/>
            <a:ext cx="1327506" cy="5951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DC1F8C-9A5D-2A67-69F0-3F89A25B04A4}"/>
              </a:ext>
            </a:extLst>
          </p:cNvPr>
          <p:cNvSpPr txBox="1"/>
          <p:nvPr/>
        </p:nvSpPr>
        <p:spPr>
          <a:xfrm>
            <a:off x="-900545" y="18980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D781293-BAAD-20E0-196E-5B3D5B4EC9BE}"/>
              </a:ext>
            </a:extLst>
          </p:cNvPr>
          <p:cNvGrpSpPr/>
          <p:nvPr/>
        </p:nvGrpSpPr>
        <p:grpSpPr>
          <a:xfrm>
            <a:off x="3336052" y="1745174"/>
            <a:ext cx="5521992" cy="960064"/>
            <a:chOff x="3336052" y="1745174"/>
            <a:chExt cx="5521992" cy="960064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15A33B1-7767-90E6-207D-DDDC405E42CC}"/>
                </a:ext>
              </a:extLst>
            </p:cNvPr>
            <p:cNvSpPr/>
            <p:nvPr/>
          </p:nvSpPr>
          <p:spPr>
            <a:xfrm rot="10800000">
              <a:off x="3336052" y="2350208"/>
              <a:ext cx="5521992" cy="355030"/>
            </a:xfrm>
            <a:custGeom>
              <a:avLst/>
              <a:gdLst>
                <a:gd name="connsiteX0" fmla="*/ 3728720 w 3728720"/>
                <a:gd name="connsiteY0" fmla="*/ 0 h 1026267"/>
                <a:gd name="connsiteX1" fmla="*/ 1920240 w 3728720"/>
                <a:gd name="connsiteY1" fmla="*/ 1026160 h 1026267"/>
                <a:gd name="connsiteX2" fmla="*/ 0 w 3728720"/>
                <a:gd name="connsiteY2" fmla="*/ 50800 h 1026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28720" h="1026267">
                  <a:moveTo>
                    <a:pt x="3728720" y="0"/>
                  </a:moveTo>
                  <a:cubicBezTo>
                    <a:pt x="3135206" y="508846"/>
                    <a:pt x="2541693" y="1017693"/>
                    <a:pt x="1920240" y="1026160"/>
                  </a:cubicBezTo>
                  <a:cubicBezTo>
                    <a:pt x="1298787" y="1034627"/>
                    <a:pt x="649393" y="542713"/>
                    <a:pt x="0" y="50800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  <a:prstDash val="dash"/>
              <a:headEnd type="none" w="med" len="med"/>
              <a:tailEnd type="arrow" w="med" len="med"/>
            </a:ln>
            <a:effectLst>
              <a:glow rad="38100">
                <a:srgbClr val="FF0000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latin typeface="Fira Sans" panose="020B05030500000200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C2DEC8-0297-5A37-09EB-6FC714887B3F}"/>
                </a:ext>
              </a:extLst>
            </p:cNvPr>
            <p:cNvSpPr txBox="1"/>
            <p:nvPr/>
          </p:nvSpPr>
          <p:spPr>
            <a:xfrm>
              <a:off x="5571245" y="1745174"/>
              <a:ext cx="89018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3200" b="1" i="1" dirty="0">
                  <a:solidFill>
                    <a:srgbClr val="C00000"/>
                  </a:solidFill>
                </a:rPr>
                <a:t>TAIL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8C2777B-E40C-8AD4-1920-02339C35A09E}"/>
              </a:ext>
            </a:extLst>
          </p:cNvPr>
          <p:cNvSpPr txBox="1"/>
          <p:nvPr/>
        </p:nvSpPr>
        <p:spPr>
          <a:xfrm>
            <a:off x="1879965" y="2050999"/>
            <a:ext cx="20874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3200" b="1" i="1" dirty="0">
                <a:solidFill>
                  <a:srgbClr val="7030A0"/>
                </a:solidFill>
              </a:rPr>
              <a:t>(1) Reroute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D18C7C-1526-251C-5B1F-20C3A64F2488}"/>
              </a:ext>
            </a:extLst>
          </p:cNvPr>
          <p:cNvSpPr txBox="1"/>
          <p:nvPr/>
        </p:nvSpPr>
        <p:spPr>
          <a:xfrm>
            <a:off x="8660107" y="2000294"/>
            <a:ext cx="1793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3200" b="1" i="1" dirty="0">
                <a:solidFill>
                  <a:srgbClr val="7030A0"/>
                </a:solidFill>
              </a:rPr>
              <a:t>(2) Buffer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8A12D6-F3A8-EFC8-B5AA-8F0A857E7AA5}"/>
              </a:ext>
            </a:extLst>
          </p:cNvPr>
          <p:cNvSpPr txBox="1"/>
          <p:nvPr/>
        </p:nvSpPr>
        <p:spPr>
          <a:xfrm>
            <a:off x="8660107" y="3038278"/>
            <a:ext cx="16273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3200" b="1" i="1" dirty="0">
                <a:solidFill>
                  <a:srgbClr val="7030A0"/>
                </a:solidFill>
              </a:rPr>
              <a:t>(3) Flush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ADBAED3-F414-B88F-FCA6-0E0184D7A5F9}"/>
              </a:ext>
            </a:extLst>
          </p:cNvPr>
          <p:cNvGrpSpPr/>
          <p:nvPr/>
        </p:nvGrpSpPr>
        <p:grpSpPr>
          <a:xfrm>
            <a:off x="3296239" y="2999502"/>
            <a:ext cx="5521992" cy="926234"/>
            <a:chOff x="3296239" y="2999502"/>
            <a:chExt cx="5521992" cy="926234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8A749F9-C267-1A2F-E1BB-54DCA56FF4A8}"/>
                </a:ext>
              </a:extLst>
            </p:cNvPr>
            <p:cNvSpPr/>
            <p:nvPr/>
          </p:nvSpPr>
          <p:spPr>
            <a:xfrm>
              <a:off x="3296239" y="2999502"/>
              <a:ext cx="5521992" cy="355030"/>
            </a:xfrm>
            <a:custGeom>
              <a:avLst/>
              <a:gdLst>
                <a:gd name="connsiteX0" fmla="*/ 3728720 w 3728720"/>
                <a:gd name="connsiteY0" fmla="*/ 0 h 1026267"/>
                <a:gd name="connsiteX1" fmla="*/ 1920240 w 3728720"/>
                <a:gd name="connsiteY1" fmla="*/ 1026160 h 1026267"/>
                <a:gd name="connsiteX2" fmla="*/ 0 w 3728720"/>
                <a:gd name="connsiteY2" fmla="*/ 50800 h 1026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28720" h="1026267">
                  <a:moveTo>
                    <a:pt x="3728720" y="0"/>
                  </a:moveTo>
                  <a:cubicBezTo>
                    <a:pt x="3135206" y="508846"/>
                    <a:pt x="2541693" y="1017693"/>
                    <a:pt x="1920240" y="1026160"/>
                  </a:cubicBezTo>
                  <a:cubicBezTo>
                    <a:pt x="1298787" y="1034627"/>
                    <a:pt x="649393" y="542713"/>
                    <a:pt x="0" y="50800"/>
                  </a:cubicBezTo>
                </a:path>
              </a:pathLst>
            </a:custGeom>
            <a:noFill/>
            <a:ln w="57150">
              <a:solidFill>
                <a:schemeClr val="tx1">
                  <a:lumMod val="50000"/>
                  <a:lumOff val="50000"/>
                </a:schemeClr>
              </a:solidFill>
              <a:prstDash val="dash"/>
              <a:headEnd type="none" w="med" len="med"/>
              <a:tailEnd type="arrow" w="med" len="med"/>
            </a:ln>
            <a:effectLst>
              <a:glow rad="38100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latin typeface="Fira Sans" panose="020B05030500000200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AF7A6A-71D2-0198-5CA0-84B3E08CBA10}"/>
                </a:ext>
              </a:extLst>
            </p:cNvPr>
            <p:cNvSpPr txBox="1"/>
            <p:nvPr/>
          </p:nvSpPr>
          <p:spPr>
            <a:xfrm>
              <a:off x="5477276" y="3340961"/>
              <a:ext cx="124566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3200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CLEAR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3B79D36-1E62-83F1-8F09-3763742F12DB}"/>
              </a:ext>
            </a:extLst>
          </p:cNvPr>
          <p:cNvSpPr txBox="1"/>
          <p:nvPr/>
        </p:nvSpPr>
        <p:spPr>
          <a:xfrm>
            <a:off x="7720887" y="5480536"/>
            <a:ext cx="3012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000" dirty="0">
                <a:solidFill>
                  <a:schemeClr val="accent1"/>
                </a:solidFill>
              </a:rPr>
              <a:t>* More details in the paper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FAC75-A7C8-389C-EF84-300A6656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28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315BC6-AF41-8BDE-7501-93B3B75B86EE}"/>
              </a:ext>
            </a:extLst>
          </p:cNvPr>
          <p:cNvSpPr txBox="1"/>
          <p:nvPr/>
        </p:nvSpPr>
        <p:spPr>
          <a:xfrm>
            <a:off x="1951609" y="1664412"/>
            <a:ext cx="2197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b="1" i="1" dirty="0">
                <a:solidFill>
                  <a:schemeClr val="bg2">
                    <a:lumMod val="50000"/>
                  </a:schemeClr>
                </a:solidFill>
              </a:rPr>
              <a:t>(0) Monitoring*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31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2" grpId="0"/>
      <p:bldP spid="31" grpId="0"/>
      <p:bldP spid="33" grpId="0"/>
      <p:bldP spid="18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</a:t>
            </a:r>
            <a:endParaRPr lang="en-KR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C8E8B-C212-F039-25B3-883779091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29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08DC8E2-891C-6297-67CE-BCC4F8279741}"/>
              </a:ext>
            </a:extLst>
          </p:cNvPr>
          <p:cNvSpPr txBox="1">
            <a:spLocks/>
          </p:cNvSpPr>
          <p:nvPr/>
        </p:nvSpPr>
        <p:spPr>
          <a:xfrm>
            <a:off x="1005380" y="1431213"/>
            <a:ext cx="10234579" cy="572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Experiment Setup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9315469-CE74-5AE1-59F8-C9CFE47539DD}"/>
              </a:ext>
            </a:extLst>
          </p:cNvPr>
          <p:cNvSpPr txBox="1">
            <a:spLocks/>
          </p:cNvSpPr>
          <p:nvPr/>
        </p:nvSpPr>
        <p:spPr>
          <a:xfrm>
            <a:off x="1313423" y="2088741"/>
            <a:ext cx="10234579" cy="572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RoCEv2 with Lossless Ethernet (i.e., PFC-enabled)</a:t>
            </a:r>
          </a:p>
          <a:p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6BCAD38-EAC8-E941-F921-83AE4DA84175}"/>
              </a:ext>
            </a:extLst>
          </p:cNvPr>
          <p:cNvSpPr txBox="1">
            <a:spLocks/>
          </p:cNvSpPr>
          <p:nvPr/>
        </p:nvSpPr>
        <p:spPr>
          <a:xfrm>
            <a:off x="1313422" y="2886681"/>
            <a:ext cx="10234579" cy="572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2x4 Leaf-Spine topology with all 25G links (oversubscription ratio 2:1)</a:t>
            </a:r>
          </a:p>
          <a:p>
            <a:pPr lvl="1"/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Total 16 RDMA nodes (mix of NVIDIA CX-5 and CX-6)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72B8F8A-782F-FACE-D15D-FD45688D35FC}"/>
              </a:ext>
            </a:extLst>
          </p:cNvPr>
          <p:cNvSpPr txBox="1">
            <a:spLocks/>
          </p:cNvSpPr>
          <p:nvPr/>
        </p:nvSpPr>
        <p:spPr>
          <a:xfrm>
            <a:off x="1313420" y="4604944"/>
            <a:ext cx="10234579" cy="572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Network load: 80%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063C1F5-3218-A9C2-1F80-1A46959C2EDC}"/>
              </a:ext>
            </a:extLst>
          </p:cNvPr>
          <p:cNvSpPr txBox="1">
            <a:spLocks/>
          </p:cNvSpPr>
          <p:nvPr/>
        </p:nvSpPr>
        <p:spPr>
          <a:xfrm>
            <a:off x="1313419" y="5385912"/>
            <a:ext cx="10234579" cy="5726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RPC workload</a:t>
            </a:r>
            <a:endParaRPr lang="en-US" sz="2400" baseline="30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B961ED9-BE22-4FC7-963A-342EE3B02DAF}"/>
              </a:ext>
            </a:extLst>
          </p:cNvPr>
          <p:cNvSpPr txBox="1">
            <a:spLocks/>
          </p:cNvSpPr>
          <p:nvPr/>
        </p:nvSpPr>
        <p:spPr>
          <a:xfrm>
            <a:off x="1313420" y="3888984"/>
            <a:ext cx="10234579" cy="572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Comparison: ECMP,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Letflow</a:t>
            </a:r>
            <a:r>
              <a:rPr lang="en-US" sz="24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[1]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flowlet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∆ = 100µs), DRILL</a:t>
            </a:r>
            <a:r>
              <a:rPr lang="en-US" sz="24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[2]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(per-packet)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95AD9B-7DC6-8459-573C-2ECD7791156F}"/>
              </a:ext>
            </a:extLst>
          </p:cNvPr>
          <p:cNvSpPr txBox="1"/>
          <p:nvPr/>
        </p:nvSpPr>
        <p:spPr>
          <a:xfrm>
            <a:off x="341060" y="6261913"/>
            <a:ext cx="10646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Let it flow: Resilient asymmetric load balancing with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flowlet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switching [NSDI’17]</a:t>
            </a:r>
          </a:p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[2] Resilient datacenter load balancing in the wild [SIGCOMM’17]</a:t>
            </a:r>
          </a:p>
        </p:txBody>
      </p:sp>
      <p:pic>
        <p:nvPicPr>
          <p:cNvPr id="1028" name="Picture 4" descr="Intel® Tofino™">
            <a:extLst>
              <a:ext uri="{FF2B5EF4-FFF2-40B4-BE49-F238E27FC236}">
                <a16:creationId xmlns:a16="http://schemas.microsoft.com/office/drawing/2014/main" id="{40212665-99AB-D971-BF9B-C4667E81F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266" y="1206102"/>
            <a:ext cx="1230134" cy="69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Logos &amp; Brand Guidelines | NVIDIA">
            <a:extLst>
              <a:ext uri="{FF2B5EF4-FFF2-40B4-BE49-F238E27FC236}">
                <a16:creationId xmlns:a16="http://schemas.microsoft.com/office/drawing/2014/main" id="{AE89A84E-3AE3-75A8-C1B2-23948B8384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2" t="35139" r="7313" b="34942"/>
          <a:stretch/>
        </p:blipFill>
        <p:spPr bwMode="auto">
          <a:xfrm>
            <a:off x="5557916" y="1346371"/>
            <a:ext cx="2246998" cy="450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927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31" grpId="0"/>
      <p:bldP spid="3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ConWeave is effective in reducing RDMA FCTs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831E823-0C0D-3AAF-0C1B-B4EED97486F3}"/>
              </a:ext>
            </a:extLst>
          </p:cNvPr>
          <p:cNvGrpSpPr/>
          <p:nvPr/>
        </p:nvGrpSpPr>
        <p:grpSpPr>
          <a:xfrm>
            <a:off x="3465978" y="1227026"/>
            <a:ext cx="7435202" cy="446675"/>
            <a:chOff x="3465978" y="1227026"/>
            <a:chExt cx="7435202" cy="446675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71E3B02-4F4E-7FBB-7F4B-400BC524F026}"/>
                </a:ext>
              </a:extLst>
            </p:cNvPr>
            <p:cNvSpPr/>
            <p:nvPr/>
          </p:nvSpPr>
          <p:spPr>
            <a:xfrm>
              <a:off x="3465978" y="1228625"/>
              <a:ext cx="2637858" cy="445076"/>
            </a:xfrm>
            <a:prstGeom prst="roundRect">
              <a:avLst>
                <a:gd name="adj" fmla="val 39948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Average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74EDC110-6363-AE43-F027-77F8D66FE2EA}"/>
                </a:ext>
              </a:extLst>
            </p:cNvPr>
            <p:cNvSpPr/>
            <p:nvPr/>
          </p:nvSpPr>
          <p:spPr>
            <a:xfrm>
              <a:off x="7756722" y="1227026"/>
              <a:ext cx="3144458" cy="445076"/>
            </a:xfrm>
            <a:prstGeom prst="roundRect">
              <a:avLst>
                <a:gd name="adj" fmla="val 39948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99.9</a:t>
              </a:r>
              <a:r>
                <a:rPr lang="en-US" sz="2400" baseline="300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th</a:t>
              </a:r>
              <a:r>
                <a:rPr lang="en-US" sz="24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-percentile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C8E8B-C212-F039-25B3-883779091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30</a:t>
            </a:fld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E067923-89E9-E4FB-078A-5D95D1DB34DD}"/>
              </a:ext>
            </a:extLst>
          </p:cNvPr>
          <p:cNvGrpSpPr/>
          <p:nvPr/>
        </p:nvGrpSpPr>
        <p:grpSpPr>
          <a:xfrm>
            <a:off x="742724" y="1730652"/>
            <a:ext cx="5849731" cy="3606315"/>
            <a:chOff x="742724" y="1730652"/>
            <a:chExt cx="5849731" cy="3606315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98D6124-4202-6356-A0F1-B6BB3BFAA399}"/>
                </a:ext>
              </a:extLst>
            </p:cNvPr>
            <p:cNvSpPr/>
            <p:nvPr/>
          </p:nvSpPr>
          <p:spPr>
            <a:xfrm>
              <a:off x="3391254" y="2432201"/>
              <a:ext cx="361123" cy="2442705"/>
            </a:xfrm>
            <a:prstGeom prst="rect">
              <a:avLst/>
            </a:prstGeom>
            <a:solidFill>
              <a:srgbClr val="C00000">
                <a:alpha val="80000"/>
              </a:srgb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A825467-B7BE-633D-D5D6-8D06B3EC3A19}"/>
                </a:ext>
              </a:extLst>
            </p:cNvPr>
            <p:cNvSpPr/>
            <p:nvPr/>
          </p:nvSpPr>
          <p:spPr>
            <a:xfrm>
              <a:off x="4161997" y="2369740"/>
              <a:ext cx="361123" cy="2505165"/>
            </a:xfrm>
            <a:prstGeom prst="rect">
              <a:avLst/>
            </a:prstGeom>
            <a:solidFill>
              <a:schemeClr val="accent2">
                <a:alpha val="83137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C86998D-AE7E-98A6-1683-CB0D1DD150A2}"/>
                </a:ext>
              </a:extLst>
            </p:cNvPr>
            <p:cNvSpPr txBox="1"/>
            <p:nvPr/>
          </p:nvSpPr>
          <p:spPr>
            <a:xfrm rot="20700000">
              <a:off x="3050656" y="4936857"/>
              <a:ext cx="966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sz="2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ECMP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6345357-57E2-6900-62B5-2EFC8160EBB4}"/>
                </a:ext>
              </a:extLst>
            </p:cNvPr>
            <p:cNvSpPr txBox="1"/>
            <p:nvPr/>
          </p:nvSpPr>
          <p:spPr>
            <a:xfrm rot="20700000">
              <a:off x="3763237" y="4914026"/>
              <a:ext cx="11382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sz="2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Letflow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3A22039-7B04-E157-63B6-9081D9173F45}"/>
                </a:ext>
              </a:extLst>
            </p:cNvPr>
            <p:cNvGrpSpPr/>
            <p:nvPr/>
          </p:nvGrpSpPr>
          <p:grpSpPr>
            <a:xfrm>
              <a:off x="742724" y="2667883"/>
              <a:ext cx="1574469" cy="1923939"/>
              <a:chOff x="1533454" y="2498559"/>
              <a:chExt cx="1574469" cy="1923939"/>
            </a:xfrm>
          </p:grpSpPr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191871F8-E40F-7030-14FC-4DAE47BDEF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6335" y="3560880"/>
                <a:ext cx="0" cy="861618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83EB55-9D69-CEED-ADB4-81605E4389D4}"/>
                  </a:ext>
                </a:extLst>
              </p:cNvPr>
              <p:cNvSpPr txBox="1"/>
              <p:nvPr/>
            </p:nvSpPr>
            <p:spPr>
              <a:xfrm>
                <a:off x="1533454" y="2498559"/>
                <a:ext cx="157446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20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Flow </a:t>
                </a:r>
                <a:br>
                  <a:rPr lang="en-KR" sz="20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</a:br>
                <a:r>
                  <a:rPr lang="en-KR" sz="20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Completion </a:t>
                </a:r>
                <a:br>
                  <a:rPr lang="en-KR" sz="20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</a:br>
                <a:r>
                  <a:rPr lang="en-KR" sz="20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Time (µs)</a:t>
                </a:r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8EC85B0-51C6-F1CD-83D5-9D0D48D5C4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8753" y="3560880"/>
                <a:ext cx="800953" cy="800953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677BEB7-7C6D-079F-9723-55CD940C74D2}"/>
                </a:ext>
              </a:extLst>
            </p:cNvPr>
            <p:cNvSpPr txBox="1"/>
            <p:nvPr/>
          </p:nvSpPr>
          <p:spPr>
            <a:xfrm rot="20700000">
              <a:off x="4652762" y="4919162"/>
              <a:ext cx="8579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sz="2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DRILL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3C00D0-A982-E432-9E55-BA5B6FC09394}"/>
                </a:ext>
              </a:extLst>
            </p:cNvPr>
            <p:cNvSpPr/>
            <p:nvPr/>
          </p:nvSpPr>
          <p:spPr>
            <a:xfrm>
              <a:off x="4960298" y="1972114"/>
              <a:ext cx="358121" cy="2896319"/>
            </a:xfrm>
            <a:prstGeom prst="rect">
              <a:avLst/>
            </a:prstGeom>
            <a:solidFill>
              <a:schemeClr val="accent6">
                <a:alpha val="81176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122256AE-8D58-2D28-E173-0C8E2A9102D9}"/>
                </a:ext>
              </a:extLst>
            </p:cNvPr>
            <p:cNvGrpSpPr/>
            <p:nvPr/>
          </p:nvGrpSpPr>
          <p:grpSpPr>
            <a:xfrm>
              <a:off x="2147654" y="1730652"/>
              <a:ext cx="4444801" cy="3342486"/>
              <a:chOff x="2147654" y="1730652"/>
              <a:chExt cx="4444801" cy="3342486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CA638DB9-662C-303F-621A-35B7EF5F8391}"/>
                  </a:ext>
                </a:extLst>
              </p:cNvPr>
              <p:cNvCxnSpPr/>
              <p:nvPr/>
            </p:nvCxnSpPr>
            <p:spPr>
              <a:xfrm>
                <a:off x="2805039" y="4874170"/>
                <a:ext cx="3787416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334EA36F-85C1-1480-2619-3D7D42593E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16161" y="2241602"/>
                <a:ext cx="0" cy="2776502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50A3A1B-46C3-352D-131D-69A3F7ABB5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6161" y="4293680"/>
                <a:ext cx="359954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A9241CB3-F708-2065-1F88-26A8F8D861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8976" y="3709480"/>
                <a:ext cx="359954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2FBAF2F-5DE1-6B03-FB37-157FF72E35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6161" y="3167613"/>
                <a:ext cx="359954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2391353C-1466-D4B2-E0FE-653A28169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6161" y="2600347"/>
                <a:ext cx="359954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99A4149-576D-E0F3-7F3D-68B8EB9C3A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6161" y="1930707"/>
                <a:ext cx="359954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DBD7B28-3C23-6CA9-7BE0-12E3647B6639}"/>
                  </a:ext>
                </a:extLst>
              </p:cNvPr>
              <p:cNvSpPr txBox="1"/>
              <p:nvPr/>
            </p:nvSpPr>
            <p:spPr>
              <a:xfrm>
                <a:off x="2350308" y="4673028"/>
                <a:ext cx="3580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0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57C8194-63FD-5039-64A0-6A1D1E821B21}"/>
                  </a:ext>
                </a:extLst>
              </p:cNvPr>
              <p:cNvSpPr txBox="1"/>
              <p:nvPr/>
            </p:nvSpPr>
            <p:spPr>
              <a:xfrm>
                <a:off x="2270535" y="4093625"/>
                <a:ext cx="5175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30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72A1E43-F924-007A-2391-4FD5E06CD50D}"/>
                  </a:ext>
                </a:extLst>
              </p:cNvPr>
              <p:cNvSpPr txBox="1"/>
              <p:nvPr/>
            </p:nvSpPr>
            <p:spPr>
              <a:xfrm>
                <a:off x="2281778" y="3514222"/>
                <a:ext cx="5175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60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9A17CDB-4907-10DA-F1A9-DB84A34BC773}"/>
                  </a:ext>
                </a:extLst>
              </p:cNvPr>
              <p:cNvSpPr txBox="1"/>
              <p:nvPr/>
            </p:nvSpPr>
            <p:spPr>
              <a:xfrm>
                <a:off x="2270814" y="2967558"/>
                <a:ext cx="5175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90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1D355DD-835A-69B4-BB11-91D1B058859B}"/>
                  </a:ext>
                </a:extLst>
              </p:cNvPr>
              <p:cNvSpPr txBox="1"/>
              <p:nvPr/>
            </p:nvSpPr>
            <p:spPr>
              <a:xfrm>
                <a:off x="2194757" y="1730652"/>
                <a:ext cx="6174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600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C8BDBF5-E8E9-5717-DB8E-624579FDD9F2}"/>
                  </a:ext>
                </a:extLst>
              </p:cNvPr>
              <p:cNvSpPr txBox="1"/>
              <p:nvPr/>
            </p:nvSpPr>
            <p:spPr>
              <a:xfrm>
                <a:off x="2147654" y="2420894"/>
                <a:ext cx="6753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120</a:t>
                </a:r>
              </a:p>
            </p:txBody>
          </p: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79810F83-A777-A2DC-2E7F-6E7DFB822C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23004" y="2191821"/>
                <a:ext cx="214657" cy="94682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C39D7C4D-6B87-5C03-034F-A7CDC4FDD0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20238" y="2100764"/>
                <a:ext cx="214657" cy="94682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9E6CA39-1684-404B-A95D-09CD094086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13052" y="1841492"/>
                <a:ext cx="0" cy="306613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C46EDAC-BCA1-8F4A-EF5C-226A0DE39F56}"/>
              </a:ext>
            </a:extLst>
          </p:cNvPr>
          <p:cNvGrpSpPr/>
          <p:nvPr/>
        </p:nvGrpSpPr>
        <p:grpSpPr>
          <a:xfrm>
            <a:off x="6744008" y="1747586"/>
            <a:ext cx="4466101" cy="3595610"/>
            <a:chOff x="6744008" y="1747586"/>
            <a:chExt cx="4466101" cy="359561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115CED2-C687-604F-8378-AB210BE944F1}"/>
                </a:ext>
              </a:extLst>
            </p:cNvPr>
            <p:cNvSpPr/>
            <p:nvPr/>
          </p:nvSpPr>
          <p:spPr>
            <a:xfrm>
              <a:off x="8008736" y="2757532"/>
              <a:ext cx="361123" cy="2123603"/>
            </a:xfrm>
            <a:prstGeom prst="rect">
              <a:avLst/>
            </a:prstGeom>
            <a:solidFill>
              <a:srgbClr val="C00000">
                <a:alpha val="80000"/>
              </a:srgb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3094BC2-BC71-5838-AFBA-807B36D8C109}"/>
                </a:ext>
              </a:extLst>
            </p:cNvPr>
            <p:cNvSpPr/>
            <p:nvPr/>
          </p:nvSpPr>
          <p:spPr>
            <a:xfrm>
              <a:off x="8779479" y="2883803"/>
              <a:ext cx="361123" cy="1997331"/>
            </a:xfrm>
            <a:prstGeom prst="rect">
              <a:avLst/>
            </a:prstGeom>
            <a:solidFill>
              <a:schemeClr val="accent2">
                <a:alpha val="83137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C5564F-077A-807E-8761-0C7F42365DC2}"/>
                </a:ext>
              </a:extLst>
            </p:cNvPr>
            <p:cNvSpPr txBox="1"/>
            <p:nvPr/>
          </p:nvSpPr>
          <p:spPr>
            <a:xfrm rot="20700000">
              <a:off x="7668138" y="4943086"/>
              <a:ext cx="966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sz="2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ECMP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A5DAF41-761F-3A1C-76CC-CDCB69115021}"/>
                </a:ext>
              </a:extLst>
            </p:cNvPr>
            <p:cNvSpPr txBox="1"/>
            <p:nvPr/>
          </p:nvSpPr>
          <p:spPr>
            <a:xfrm rot="20700000">
              <a:off x="8380719" y="4920255"/>
              <a:ext cx="11382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sz="2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Letflow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6160B2A-53D2-AD5B-A7C8-9CFB0EE53C84}"/>
                </a:ext>
              </a:extLst>
            </p:cNvPr>
            <p:cNvSpPr txBox="1"/>
            <p:nvPr/>
          </p:nvSpPr>
          <p:spPr>
            <a:xfrm rot="20700000">
              <a:off x="9270244" y="4925391"/>
              <a:ext cx="8579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sz="20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DRILL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C6ADF85-535A-AFB1-D8F0-89F3A8E5E060}"/>
                </a:ext>
              </a:extLst>
            </p:cNvPr>
            <p:cNvSpPr/>
            <p:nvPr/>
          </p:nvSpPr>
          <p:spPr>
            <a:xfrm>
              <a:off x="9577780" y="1972114"/>
              <a:ext cx="358121" cy="2902547"/>
            </a:xfrm>
            <a:prstGeom prst="rect">
              <a:avLst/>
            </a:prstGeom>
            <a:solidFill>
              <a:schemeClr val="accent6">
                <a:alpha val="81176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E5B20A27-BC02-53FA-37AC-01942935A6A6}"/>
                </a:ext>
              </a:extLst>
            </p:cNvPr>
            <p:cNvGrpSpPr/>
            <p:nvPr/>
          </p:nvGrpSpPr>
          <p:grpSpPr>
            <a:xfrm>
              <a:off x="6744008" y="1747586"/>
              <a:ext cx="4466101" cy="3342486"/>
              <a:chOff x="6744008" y="1747586"/>
              <a:chExt cx="4466101" cy="3342486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BFA8260-F482-33D2-4977-E81633B0F2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6366" y="4293680"/>
                <a:ext cx="359954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C81C2E9-F44D-0723-9002-FD401AA04F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29180" y="3709480"/>
                <a:ext cx="359954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D985BA5-0E6A-FA74-7A87-3AA2B9C2BB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6366" y="3167613"/>
                <a:ext cx="359954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E3DAAC9-6526-362D-105F-7ADAF94708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6366" y="2600347"/>
                <a:ext cx="359954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F2EA9A8A-0D14-6DFA-6172-70CE9D836A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6366" y="1930707"/>
                <a:ext cx="359954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C321EB2-905F-2057-698E-A320F914B256}"/>
                  </a:ext>
                </a:extLst>
              </p:cNvPr>
              <p:cNvSpPr txBox="1"/>
              <p:nvPr/>
            </p:nvSpPr>
            <p:spPr>
              <a:xfrm>
                <a:off x="7055039" y="4689962"/>
                <a:ext cx="3580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0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4A423D9-CA63-513A-77B9-5C769D927F1B}"/>
                  </a:ext>
                </a:extLst>
              </p:cNvPr>
              <p:cNvSpPr txBox="1"/>
              <p:nvPr/>
            </p:nvSpPr>
            <p:spPr>
              <a:xfrm>
                <a:off x="6897525" y="4110559"/>
                <a:ext cx="6174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500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F2680BA-032D-75B1-9A98-BFA9F4E970F7}"/>
                  </a:ext>
                </a:extLst>
              </p:cNvPr>
              <p:cNvSpPr txBox="1"/>
              <p:nvPr/>
            </p:nvSpPr>
            <p:spPr>
              <a:xfrm>
                <a:off x="6769940" y="3531156"/>
                <a:ext cx="76174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1000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166906D-074D-305C-16B8-ABAA6104AF01}"/>
                  </a:ext>
                </a:extLst>
              </p:cNvPr>
              <p:cNvSpPr txBox="1"/>
              <p:nvPr/>
            </p:nvSpPr>
            <p:spPr>
              <a:xfrm>
                <a:off x="6770105" y="2984492"/>
                <a:ext cx="7617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1500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95B8394-2DCD-2F9D-327B-DC9E095F8E17}"/>
                  </a:ext>
                </a:extLst>
              </p:cNvPr>
              <p:cNvSpPr txBox="1"/>
              <p:nvPr/>
            </p:nvSpPr>
            <p:spPr>
              <a:xfrm>
                <a:off x="6762884" y="2437828"/>
                <a:ext cx="76174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2000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24CF0F4-A341-AF22-472F-C1E6CBAAD515}"/>
                  </a:ext>
                </a:extLst>
              </p:cNvPr>
              <p:cNvSpPr txBox="1"/>
              <p:nvPr/>
            </p:nvSpPr>
            <p:spPr>
              <a:xfrm>
                <a:off x="6744008" y="1747586"/>
                <a:ext cx="76174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KR" sz="20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6000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281D2968-4E85-FA99-43FF-F2C4BCCF8526}"/>
                  </a:ext>
                </a:extLst>
              </p:cNvPr>
              <p:cNvCxnSpPr/>
              <p:nvPr/>
            </p:nvCxnSpPr>
            <p:spPr>
              <a:xfrm>
                <a:off x="7422693" y="4884742"/>
                <a:ext cx="3787416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E307E61D-BF09-1955-216B-0D1C314801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33772" y="2246800"/>
                <a:ext cx="0" cy="2776502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8B147FAF-3A8B-DDAB-7C0D-6726E31427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40615" y="2197019"/>
                <a:ext cx="214657" cy="94682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A6EA4DB8-F979-3776-F424-7D2CC7A159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37849" y="2105962"/>
                <a:ext cx="214657" cy="94682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C8BCE544-0302-BC2A-FCF9-E3174B1ABD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30663" y="1846690"/>
                <a:ext cx="0" cy="306613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9AA4BE7-EC9A-FF09-E474-44B5EC57087F}"/>
              </a:ext>
            </a:extLst>
          </p:cNvPr>
          <p:cNvGrpSpPr/>
          <p:nvPr/>
        </p:nvGrpSpPr>
        <p:grpSpPr>
          <a:xfrm>
            <a:off x="3397015" y="2436883"/>
            <a:ext cx="3532796" cy="2895414"/>
            <a:chOff x="3397015" y="2436883"/>
            <a:chExt cx="3532796" cy="2895414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519B246-6F3F-C2CA-9CAD-E1A0ACB76201}"/>
                </a:ext>
              </a:extLst>
            </p:cNvPr>
            <p:cNvSpPr/>
            <p:nvPr/>
          </p:nvSpPr>
          <p:spPr>
            <a:xfrm>
              <a:off x="5721733" y="2955612"/>
              <a:ext cx="358010" cy="190498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96489C1-F4F6-7D96-D5F0-EA30DB3589F8}"/>
                </a:ext>
              </a:extLst>
            </p:cNvPr>
            <p:cNvSpPr txBox="1"/>
            <p:nvPr/>
          </p:nvSpPr>
          <p:spPr>
            <a:xfrm rot="20700000">
              <a:off x="5200990" y="4932187"/>
              <a:ext cx="14093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</a:t>
              </a:r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8D66849B-B3D2-EE4D-BA0F-3CD4AD6038D7}"/>
                </a:ext>
              </a:extLst>
            </p:cNvPr>
            <p:cNvGrpSpPr/>
            <p:nvPr/>
          </p:nvGrpSpPr>
          <p:grpSpPr>
            <a:xfrm>
              <a:off x="3397015" y="2436883"/>
              <a:ext cx="3532796" cy="518729"/>
              <a:chOff x="8868739" y="2247893"/>
              <a:chExt cx="1020429" cy="518729"/>
            </a:xfrm>
          </p:grpSpPr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895B9946-8DC8-168B-C37C-289EB8492990}"/>
                  </a:ext>
                </a:extLst>
              </p:cNvPr>
              <p:cNvCxnSpPr>
                <a:cxnSpLocks/>
                <a:endCxn id="57" idx="0"/>
              </p:cNvCxnSpPr>
              <p:nvPr/>
            </p:nvCxnSpPr>
            <p:spPr>
              <a:xfrm>
                <a:off x="9591771" y="2265280"/>
                <a:ext cx="155" cy="50134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A3E605F-A6FC-FA66-2B2C-06B516799F7F}"/>
                  </a:ext>
                </a:extLst>
              </p:cNvPr>
              <p:cNvSpPr txBox="1"/>
              <p:nvPr/>
            </p:nvSpPr>
            <p:spPr>
              <a:xfrm>
                <a:off x="9598381" y="2291380"/>
                <a:ext cx="2907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KR" sz="2400" dirty="0">
                    <a:solidFill>
                      <a:srgbClr val="FF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16.8%</a:t>
                </a:r>
              </a:p>
            </p:txBody>
          </p: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CEA7A21A-10DA-ACC2-E9AA-6979467B8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8739" y="2247893"/>
                <a:ext cx="827665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190E500-1524-2812-EC27-6BAC58C37662}"/>
              </a:ext>
            </a:extLst>
          </p:cNvPr>
          <p:cNvGrpSpPr/>
          <p:nvPr/>
        </p:nvGrpSpPr>
        <p:grpSpPr>
          <a:xfrm>
            <a:off x="8009898" y="2767815"/>
            <a:ext cx="3532796" cy="2570711"/>
            <a:chOff x="8009898" y="2767815"/>
            <a:chExt cx="3532796" cy="257071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9E58FA7-F19A-9177-9757-A292F78EE41F}"/>
                </a:ext>
              </a:extLst>
            </p:cNvPr>
            <p:cNvSpPr/>
            <p:nvPr/>
          </p:nvSpPr>
          <p:spPr>
            <a:xfrm>
              <a:off x="10339215" y="3636781"/>
              <a:ext cx="358010" cy="123976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80F7016-B263-B1FB-F610-1BD2C49B9B37}"/>
                </a:ext>
              </a:extLst>
            </p:cNvPr>
            <p:cNvSpPr txBox="1"/>
            <p:nvPr/>
          </p:nvSpPr>
          <p:spPr>
            <a:xfrm rot="20700000">
              <a:off x="9818472" y="4938416"/>
              <a:ext cx="14093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ConWeave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6CC1F253-567C-11A2-AB0C-257D64655301}"/>
                </a:ext>
              </a:extLst>
            </p:cNvPr>
            <p:cNvGrpSpPr/>
            <p:nvPr/>
          </p:nvGrpSpPr>
          <p:grpSpPr>
            <a:xfrm>
              <a:off x="8009898" y="2767815"/>
              <a:ext cx="3532796" cy="860773"/>
              <a:chOff x="8868739" y="2247893"/>
              <a:chExt cx="1020429" cy="498049"/>
            </a:xfrm>
          </p:grpSpPr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B33B4FE3-54EE-50CA-53B4-237BBEF4C6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91771" y="2265280"/>
                <a:ext cx="0" cy="48066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FD0DA36-2039-9C0A-1B1A-C88F5F6E01ED}"/>
                  </a:ext>
                </a:extLst>
              </p:cNvPr>
              <p:cNvSpPr txBox="1"/>
              <p:nvPr/>
            </p:nvSpPr>
            <p:spPr>
              <a:xfrm>
                <a:off x="9598381" y="2291380"/>
                <a:ext cx="290787" cy="267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KR" sz="2400" dirty="0">
                    <a:solidFill>
                      <a:srgbClr val="FF0000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44.4%</a:t>
                </a:r>
              </a:p>
            </p:txBody>
          </p: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C3F5E5EA-C3DA-D6C8-48A1-4E35634885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8739" y="2247893"/>
                <a:ext cx="827665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9A76DAAF-BBA8-6DA6-BD4F-153E7CB6D641}"/>
              </a:ext>
            </a:extLst>
          </p:cNvPr>
          <p:cNvSpPr txBox="1">
            <a:spLocks/>
          </p:cNvSpPr>
          <p:nvPr/>
        </p:nvSpPr>
        <p:spPr>
          <a:xfrm>
            <a:off x="742724" y="5577605"/>
            <a:ext cx="10637014" cy="572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Flowlet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per-packet rerouting performs worse than ECMP, if not on par</a:t>
            </a:r>
          </a:p>
        </p:txBody>
      </p: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F3AAC1E1-02DD-C892-20D4-CCB0B0509AC8}"/>
              </a:ext>
            </a:extLst>
          </p:cNvPr>
          <p:cNvSpPr txBox="1">
            <a:spLocks/>
          </p:cNvSpPr>
          <p:nvPr/>
        </p:nvSpPr>
        <p:spPr>
          <a:xfrm>
            <a:off x="742724" y="6051463"/>
            <a:ext cx="11300460" cy="572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Avg and 99.9-percentile FCT reduction by 16.8% and 44.4%, respectively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517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1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Buffer and Queue Usage Overhead for Reordering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BC6107C-A05B-DF6F-86D9-EF34168949F7}"/>
              </a:ext>
            </a:extLst>
          </p:cNvPr>
          <p:cNvSpPr/>
          <p:nvPr/>
        </p:nvSpPr>
        <p:spPr>
          <a:xfrm>
            <a:off x="1040858" y="5314291"/>
            <a:ext cx="10048674" cy="675425"/>
          </a:xfrm>
          <a:prstGeom prst="roundRect">
            <a:avLst>
              <a:gd name="adj" fmla="val 2650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algn="ctr"/>
            <a:r>
              <a:rPr lang="en-KR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Switches have </a:t>
            </a:r>
            <a:r>
              <a:rPr lang="en-KR" sz="2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10’s of MBs </a:t>
            </a:r>
            <a:r>
              <a:rPr lang="en-KR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 packet buffer and up to</a:t>
            </a:r>
            <a:r>
              <a:rPr lang="en-KR" sz="2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128 </a:t>
            </a:r>
            <a:r>
              <a:rPr lang="en-KR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physical queues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A21FB4-88D5-9755-C971-9E4146E9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31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590FD5-EC3B-C299-D05E-4CDE06527B7D}"/>
              </a:ext>
            </a:extLst>
          </p:cNvPr>
          <p:cNvSpPr txBox="1">
            <a:spLocks/>
          </p:cNvSpPr>
          <p:nvPr/>
        </p:nvSpPr>
        <p:spPr>
          <a:xfrm>
            <a:off x="1024539" y="1235885"/>
            <a:ext cx="10234579" cy="572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Experiment setup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BC426D-1A70-7123-0926-2FCEF71D23C2}"/>
              </a:ext>
            </a:extLst>
          </p:cNvPr>
          <p:cNvSpPr txBox="1">
            <a:spLocks/>
          </p:cNvSpPr>
          <p:nvPr/>
        </p:nvSpPr>
        <p:spPr>
          <a:xfrm>
            <a:off x="1332582" y="1793980"/>
            <a:ext cx="10234579" cy="15355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8x8 Leaf-Spine (128 hosts), all 100Gbps links</a:t>
            </a:r>
          </a:p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Network load: 80%</a:t>
            </a:r>
          </a:p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Diverse workloads such as RPC, Storage, and Hadoop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A436B409-CE38-A8D0-1CDB-100C1E3D08CC}"/>
              </a:ext>
            </a:extLst>
          </p:cNvPr>
          <p:cNvSpPr/>
          <p:nvPr/>
        </p:nvSpPr>
        <p:spPr>
          <a:xfrm>
            <a:off x="1040858" y="3514176"/>
            <a:ext cx="4766554" cy="1615506"/>
          </a:xfrm>
          <a:prstGeom prst="wedgeRoundRectCallout">
            <a:avLst>
              <a:gd name="adj1" fmla="val -41259"/>
              <a:gd name="adj2" fmla="val 33129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en-KR" sz="22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Maximum</a:t>
            </a:r>
            <a:r>
              <a:rPr lang="en-KR" sz="2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 size of </a:t>
            </a:r>
            <a:br>
              <a:rPr lang="en-KR" sz="2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</a:br>
            <a:r>
              <a:rPr lang="en-KR" sz="2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buffer usage per switch </a:t>
            </a:r>
          </a:p>
          <a:p>
            <a:pPr algn="ctr"/>
            <a:r>
              <a:rPr lang="en-KR" sz="2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&lt; 2.5 MB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21622BB-4AD8-E085-EDCA-EBFCDA36D2A7}"/>
              </a:ext>
            </a:extLst>
          </p:cNvPr>
          <p:cNvSpPr/>
          <p:nvPr/>
        </p:nvSpPr>
        <p:spPr>
          <a:xfrm>
            <a:off x="1785024" y="3328379"/>
            <a:ext cx="3278222" cy="400110"/>
          </a:xfrm>
          <a:prstGeom prst="roundRect">
            <a:avLst>
              <a:gd name="adj" fmla="val 399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Packet buffer overhead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F3642612-E9C9-BEB7-5FE7-C73304275078}"/>
              </a:ext>
            </a:extLst>
          </p:cNvPr>
          <p:cNvSpPr/>
          <p:nvPr/>
        </p:nvSpPr>
        <p:spPr>
          <a:xfrm>
            <a:off x="6227323" y="3514175"/>
            <a:ext cx="4766554" cy="1535587"/>
          </a:xfrm>
          <a:prstGeom prst="wedgeRoundRectCallout">
            <a:avLst>
              <a:gd name="adj1" fmla="val -41259"/>
              <a:gd name="adj2" fmla="val 33129"/>
              <a:gd name="adj3" fmla="val 16667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en-KR" sz="22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Maximum</a:t>
            </a:r>
            <a:r>
              <a:rPr lang="en-KR" sz="2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 number of </a:t>
            </a:r>
            <a:br>
              <a:rPr lang="en-KR" sz="2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</a:br>
            <a:r>
              <a:rPr lang="en-KR" sz="2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queue usage per port </a:t>
            </a:r>
            <a:br>
              <a:rPr lang="en-KR" sz="2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</a:br>
            <a:r>
              <a:rPr lang="en-KR" sz="2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&lt; 10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99DEBB7-A5A9-E1A4-7D2B-4A5AD1A06522}"/>
              </a:ext>
            </a:extLst>
          </p:cNvPr>
          <p:cNvSpPr/>
          <p:nvPr/>
        </p:nvSpPr>
        <p:spPr>
          <a:xfrm>
            <a:off x="6971489" y="3328379"/>
            <a:ext cx="3278222" cy="400110"/>
          </a:xfrm>
          <a:prstGeom prst="roundRect">
            <a:avLst>
              <a:gd name="adj" fmla="val 399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Queue usage overhead</a:t>
            </a:r>
          </a:p>
        </p:txBody>
      </p:sp>
      <p:pic>
        <p:nvPicPr>
          <p:cNvPr id="2052" name="Picture 4" descr="ns-3 | a discrete-event network simulator for internet systems">
            <a:extLst>
              <a:ext uri="{FF2B5EF4-FFF2-40B4-BE49-F238E27FC236}">
                <a16:creationId xmlns:a16="http://schemas.microsoft.com/office/drawing/2014/main" id="{E84008C1-4710-B38E-57B1-A5DB474C7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832" y="1290049"/>
            <a:ext cx="1687039" cy="32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099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" grpId="0"/>
      <p:bldP spid="6" grpId="0"/>
      <p:bldP spid="8" grpId="0" animBg="1"/>
      <p:bldP spid="9" grpId="0" animBg="1"/>
      <p:bldP spid="10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Summary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722C75-83CA-884E-F69A-4ABA8EB88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32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2DFE729-D6F0-2B6E-6FE9-86767C8F5580}"/>
              </a:ext>
            </a:extLst>
          </p:cNvPr>
          <p:cNvGrpSpPr/>
          <p:nvPr/>
        </p:nvGrpSpPr>
        <p:grpSpPr>
          <a:xfrm>
            <a:off x="472439" y="1182907"/>
            <a:ext cx="11300459" cy="2972858"/>
            <a:chOff x="495771" y="4081939"/>
            <a:chExt cx="11300459" cy="2972858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27E86D5E-7F0C-C59A-14DC-3689D2B2565A}"/>
                </a:ext>
              </a:extLst>
            </p:cNvPr>
            <p:cNvSpPr/>
            <p:nvPr/>
          </p:nvSpPr>
          <p:spPr>
            <a:xfrm>
              <a:off x="495771" y="4348633"/>
              <a:ext cx="11300459" cy="2706164"/>
            </a:xfrm>
            <a:prstGeom prst="roundRect">
              <a:avLst>
                <a:gd name="adj" fmla="val 19436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latin typeface="Fira Sans" panose="020B0503050000020004" pitchFamily="34" charset="0"/>
              </a:endParaRP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5B1263B4-2052-6F8B-922D-1F64C6D103B3}"/>
                </a:ext>
              </a:extLst>
            </p:cNvPr>
            <p:cNvSpPr/>
            <p:nvPr/>
          </p:nvSpPr>
          <p:spPr>
            <a:xfrm>
              <a:off x="2109732" y="4081939"/>
              <a:ext cx="7801583" cy="533390"/>
            </a:xfrm>
            <a:prstGeom prst="roundRect">
              <a:avLst>
                <a:gd name="adj" fmla="val 3994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>
                  <a:solidFill>
                    <a:schemeClr val="bg1"/>
                  </a:solidFill>
                  <a:latin typeface="Fira Sans" panose="020B0503050000020004" pitchFamily="34" charset="0"/>
                </a:rPr>
                <a:t>ConWeave</a:t>
              </a:r>
              <a:r>
                <a:rPr lang="en-US" sz="2400" dirty="0">
                  <a:solidFill>
                    <a:schemeClr val="bg1"/>
                  </a:solidFill>
                  <a:latin typeface="Fira Sans" panose="020B0503050000020004" pitchFamily="34" charset="0"/>
                </a:rPr>
                <a:t> – Network Load Balancer for </a:t>
              </a:r>
              <a:r>
                <a:rPr lang="en-US" sz="2400" b="1" dirty="0">
                  <a:solidFill>
                    <a:schemeClr val="bg1"/>
                  </a:solidFill>
                  <a:latin typeface="Fira Sans" panose="020B0503050000020004" pitchFamily="34" charset="0"/>
                </a:rPr>
                <a:t>RDMA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A8400A7-CB61-E1DF-D035-07904E459CB6}"/>
              </a:ext>
            </a:extLst>
          </p:cNvPr>
          <p:cNvGrpSpPr/>
          <p:nvPr/>
        </p:nvGrpSpPr>
        <p:grpSpPr>
          <a:xfrm>
            <a:off x="6376330" y="4408570"/>
            <a:ext cx="2696572" cy="1359136"/>
            <a:chOff x="6730955" y="4437020"/>
            <a:chExt cx="2696572" cy="1359136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712A804-B3DA-5A0E-32E4-A186F34BF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14002" y="4437020"/>
              <a:ext cx="796555" cy="796555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88FB455-7706-59AF-6982-4EFCAFBE7773}"/>
                </a:ext>
              </a:extLst>
            </p:cNvPr>
            <p:cNvSpPr txBox="1"/>
            <p:nvPr/>
          </p:nvSpPr>
          <p:spPr>
            <a:xfrm>
              <a:off x="6730955" y="5365269"/>
              <a:ext cx="26965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2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RoCEv2 Compatible</a:t>
              </a:r>
              <a:endParaRPr lang="en-KR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8314D91-B6D2-0157-9A1A-ACE960BE9098}"/>
              </a:ext>
            </a:extLst>
          </p:cNvPr>
          <p:cNvGrpSpPr/>
          <p:nvPr/>
        </p:nvGrpSpPr>
        <p:grpSpPr>
          <a:xfrm>
            <a:off x="3378853" y="4320702"/>
            <a:ext cx="2501006" cy="1657192"/>
            <a:chOff x="3264922" y="4214900"/>
            <a:chExt cx="2501006" cy="165719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E7B122D-D91B-4918-ADC6-EBDC4645CBAF}"/>
                </a:ext>
              </a:extLst>
            </p:cNvPr>
            <p:cNvSpPr txBox="1"/>
            <p:nvPr/>
          </p:nvSpPr>
          <p:spPr>
            <a:xfrm>
              <a:off x="3264922" y="5102651"/>
              <a:ext cx="250100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2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Finer-granularity</a:t>
              </a:r>
              <a:br>
                <a:rPr lang="en-US" sz="22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</a:br>
              <a:r>
                <a:rPr lang="en-US" sz="22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+ in-order delivery</a:t>
              </a:r>
              <a:endParaRPr lang="en-KR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7AB3F75-7FDF-B77D-6E4F-9E2F7987B9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89581" y="4214900"/>
              <a:ext cx="856974" cy="856974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32BE2CC-CC9D-856D-1E53-C01EB5E4899D}"/>
              </a:ext>
            </a:extLst>
          </p:cNvPr>
          <p:cNvGrpSpPr/>
          <p:nvPr/>
        </p:nvGrpSpPr>
        <p:grpSpPr>
          <a:xfrm>
            <a:off x="691662" y="1950984"/>
            <a:ext cx="2590523" cy="1921176"/>
            <a:chOff x="1664690" y="2386925"/>
            <a:chExt cx="2590523" cy="192117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BABF58B-9261-E8DF-D32A-D87B145E0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78912" y="2386925"/>
              <a:ext cx="751750" cy="7517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7D2D4D3-B117-0508-ACF5-18FF970E49AB}"/>
                </a:ext>
              </a:extLst>
            </p:cNvPr>
            <p:cNvSpPr txBox="1"/>
            <p:nvPr/>
          </p:nvSpPr>
          <p:spPr>
            <a:xfrm>
              <a:off x="1664690" y="3306383"/>
              <a:ext cx="25905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Fira Sans" panose="020B0503050000020004" pitchFamily="34" charset="0"/>
                </a:rPr>
                <a:t>Path Monitoring</a:t>
              </a:r>
              <a:endParaRPr lang="en-KR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DCFDBB-7667-4D74-39A5-BAECECAC4CB3}"/>
                </a:ext>
              </a:extLst>
            </p:cNvPr>
            <p:cNvSpPr txBox="1"/>
            <p:nvPr/>
          </p:nvSpPr>
          <p:spPr>
            <a:xfrm>
              <a:off x="1859333" y="3723326"/>
              <a:ext cx="220124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Fira Sans" panose="020B0503050000020004" pitchFamily="34" charset="0"/>
                </a:rPr>
                <a:t>Agile and lightweight</a:t>
              </a:r>
              <a:r>
                <a:rPr lang="en-KR" sz="1600" dirty="0">
                  <a:latin typeface="Fira Sans" panose="020B0503050000020004" pitchFamily="34" charset="0"/>
                </a:rPr>
                <a:t> </a:t>
              </a:r>
              <a:br>
                <a:rPr lang="en-KR" sz="1600" dirty="0">
                  <a:latin typeface="Fira Sans" panose="020B0503050000020004" pitchFamily="34" charset="0"/>
                </a:rPr>
              </a:br>
              <a:r>
                <a:rPr lang="en-KR" sz="1600" dirty="0">
                  <a:latin typeface="Fira Sans" panose="020B0503050000020004" pitchFamily="34" charset="0"/>
                </a:rPr>
                <a:t>congestion detection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819C6BB-273C-C245-3D13-9DFC55B664B7}"/>
              </a:ext>
            </a:extLst>
          </p:cNvPr>
          <p:cNvGrpSpPr/>
          <p:nvPr/>
        </p:nvGrpSpPr>
        <p:grpSpPr>
          <a:xfrm>
            <a:off x="3378853" y="1908123"/>
            <a:ext cx="2392288" cy="1990468"/>
            <a:chOff x="4736437" y="2355632"/>
            <a:chExt cx="2392288" cy="199046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81E5CF4-89FA-DE0C-CF5D-750BD1DD9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24768" y="2355632"/>
              <a:ext cx="838170" cy="86946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C1EE239-2903-619F-7843-1FD31DFA789F}"/>
                </a:ext>
              </a:extLst>
            </p:cNvPr>
            <p:cNvSpPr txBox="1"/>
            <p:nvPr/>
          </p:nvSpPr>
          <p:spPr>
            <a:xfrm>
              <a:off x="4736437" y="3320045"/>
              <a:ext cx="23922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Fira Sans" panose="020B0503050000020004" pitchFamily="34" charset="0"/>
                </a:rPr>
                <a:t>Path Selecting</a:t>
              </a:r>
              <a:endParaRPr lang="en-KR" sz="24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FF6E9FA-FE1F-3A53-D982-13968655C226}"/>
                </a:ext>
              </a:extLst>
            </p:cNvPr>
            <p:cNvSpPr txBox="1"/>
            <p:nvPr/>
          </p:nvSpPr>
          <p:spPr>
            <a:xfrm>
              <a:off x="4942617" y="3761325"/>
              <a:ext cx="20024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latin typeface="Fira Sans" panose="020B0503050000020004" pitchFamily="34" charset="0"/>
                </a:rPr>
                <a:t>C</a:t>
              </a:r>
              <a:r>
                <a:rPr lang="en-US" sz="1600" dirty="0">
                  <a:latin typeface="Fira Sans" panose="020B0503050000020004" pitchFamily="34" charset="0"/>
                </a:rPr>
                <a:t>ongestion-evasive</a:t>
              </a:r>
              <a:br>
                <a:rPr lang="en-US" sz="1600" dirty="0">
                  <a:latin typeface="Fira Sans" panose="020B0503050000020004" pitchFamily="34" charset="0"/>
                </a:rPr>
              </a:br>
              <a:r>
                <a:rPr lang="en-US" sz="1600" dirty="0">
                  <a:latin typeface="Fira Sans" panose="020B0503050000020004" pitchFamily="34" charset="0"/>
                </a:rPr>
                <a:t>rerouting</a:t>
              </a:r>
              <a:endParaRPr lang="en-KR" sz="1600" dirty="0">
                <a:latin typeface="Fira Sans" panose="020B05030500000200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C3A1EE-BB34-0367-9E7C-132D93095C6A}"/>
              </a:ext>
            </a:extLst>
          </p:cNvPr>
          <p:cNvGrpSpPr/>
          <p:nvPr/>
        </p:nvGrpSpPr>
        <p:grpSpPr>
          <a:xfrm>
            <a:off x="6027713" y="1950885"/>
            <a:ext cx="3068773" cy="1947706"/>
            <a:chOff x="7458536" y="2398394"/>
            <a:chExt cx="3068773" cy="194770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9D5492-377F-30F9-E1BC-9908445F63F4}"/>
                </a:ext>
              </a:extLst>
            </p:cNvPr>
            <p:cNvSpPr txBox="1"/>
            <p:nvPr/>
          </p:nvSpPr>
          <p:spPr>
            <a:xfrm>
              <a:off x="7458536" y="3300290"/>
              <a:ext cx="306877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Fira Sans" panose="020B0503050000020004" pitchFamily="34" charset="0"/>
                </a:rPr>
                <a:t>Cautious Rerouting</a:t>
              </a:r>
              <a:endParaRPr lang="en-KR" sz="2400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935BA3-F848-D6F6-DDFF-70A4B5A41AF1}"/>
                </a:ext>
              </a:extLst>
            </p:cNvPr>
            <p:cNvSpPr txBox="1"/>
            <p:nvPr/>
          </p:nvSpPr>
          <p:spPr>
            <a:xfrm>
              <a:off x="7561983" y="3761325"/>
              <a:ext cx="293541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Fira Sans" panose="020B0503050000020004" pitchFamily="34" charset="0"/>
                </a:rPr>
                <a:t>Tight incorporation with</a:t>
              </a:r>
              <a:br>
                <a:rPr lang="en-US" sz="1600" dirty="0">
                  <a:latin typeface="Fira Sans" panose="020B0503050000020004" pitchFamily="34" charset="0"/>
                </a:rPr>
              </a:br>
              <a:r>
                <a:rPr lang="en-US" sz="1600" dirty="0">
                  <a:latin typeface="Fira Sans" panose="020B0503050000020004" pitchFamily="34" charset="0"/>
                </a:rPr>
                <a:t>switch’s reordering capability</a:t>
              </a:r>
              <a:endParaRPr lang="en-KR" sz="1600" dirty="0">
                <a:latin typeface="Fira Sans" panose="020B0503050000020004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4642DCE-E304-C4AE-B6D7-AA3E8238A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11651" y="2398394"/>
              <a:ext cx="838171" cy="838171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D2605D-7459-CA4C-81B4-C911C412C201}"/>
              </a:ext>
            </a:extLst>
          </p:cNvPr>
          <p:cNvGrpSpPr/>
          <p:nvPr/>
        </p:nvGrpSpPr>
        <p:grpSpPr>
          <a:xfrm>
            <a:off x="9309042" y="1878687"/>
            <a:ext cx="2392288" cy="2038195"/>
            <a:chOff x="9309042" y="2314628"/>
            <a:chExt cx="2392288" cy="2038195"/>
          </a:xfrm>
        </p:grpSpPr>
        <p:pic>
          <p:nvPicPr>
            <p:cNvPr id="26" name="Picture 25" descr="Icon&#10;&#10;Description automatically generated">
              <a:extLst>
                <a:ext uri="{FF2B5EF4-FFF2-40B4-BE49-F238E27FC236}">
                  <a16:creationId xmlns:a16="http://schemas.microsoft.com/office/drawing/2014/main" id="{D42D7E8A-A2EB-75ED-C4D7-6CFE62017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031998" y="2314628"/>
              <a:ext cx="829916" cy="82991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7B9053-5BC4-A763-1A37-7BBE595CF331}"/>
                </a:ext>
              </a:extLst>
            </p:cNvPr>
            <p:cNvSpPr txBox="1"/>
            <p:nvPr/>
          </p:nvSpPr>
          <p:spPr>
            <a:xfrm>
              <a:off x="9309042" y="3297305"/>
              <a:ext cx="23922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Fira Sans" panose="020B0503050000020004" pitchFamily="34" charset="0"/>
                </a:rPr>
                <a:t>Pkt Reordering</a:t>
              </a:r>
              <a:endParaRPr lang="en-KR" sz="2400" b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22B3742-8DFD-8C6F-267E-9C3215560550}"/>
                </a:ext>
              </a:extLst>
            </p:cNvPr>
            <p:cNvSpPr txBox="1"/>
            <p:nvPr/>
          </p:nvSpPr>
          <p:spPr>
            <a:xfrm>
              <a:off x="9409372" y="3768048"/>
              <a:ext cx="219162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Fira Sans" panose="020B0503050000020004" pitchFamily="34" charset="0"/>
                </a:rPr>
                <a:t>Efficient queue flush</a:t>
              </a:r>
              <a:br>
                <a:rPr lang="en-US" sz="1600" dirty="0">
                  <a:latin typeface="Fira Sans" panose="020B0503050000020004" pitchFamily="34" charset="0"/>
                </a:rPr>
              </a:br>
              <a:r>
                <a:rPr lang="en-US" sz="1600" dirty="0">
                  <a:latin typeface="Fira Sans" panose="020B0503050000020004" pitchFamily="34" charset="0"/>
                </a:rPr>
                <a:t>via strict priority</a:t>
              </a:r>
              <a:endParaRPr lang="en-KR" sz="1600" dirty="0">
                <a:latin typeface="Fira Sans" panose="020B0503050000020004" pitchFamily="34" charset="0"/>
              </a:endParaRPr>
            </a:p>
          </p:txBody>
        </p:sp>
      </p:grpSp>
      <p:pic>
        <p:nvPicPr>
          <p:cNvPr id="1028" name="Picture 4" descr="Artifact Review and Badging – Version 1.0 (not current)">
            <a:extLst>
              <a:ext uri="{FF2B5EF4-FFF2-40B4-BE49-F238E27FC236}">
                <a16:creationId xmlns:a16="http://schemas.microsoft.com/office/drawing/2014/main" id="{56C11299-319F-E00E-DE28-4B47659E8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39" y="5025384"/>
            <a:ext cx="1521586" cy="1513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825874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Question and answer - Free ui icons">
            <a:extLst>
              <a:ext uri="{FF2B5EF4-FFF2-40B4-BE49-F238E27FC236}">
                <a16:creationId xmlns:a16="http://schemas.microsoft.com/office/drawing/2014/main" id="{4877654A-433F-598E-4B5F-8C8BAB09E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3469" y="2458885"/>
            <a:ext cx="1119092" cy="1119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F2AFC3-C84F-D1E4-50A2-940929CB88E8}"/>
              </a:ext>
            </a:extLst>
          </p:cNvPr>
          <p:cNvSpPr txBox="1"/>
          <p:nvPr/>
        </p:nvSpPr>
        <p:spPr>
          <a:xfrm>
            <a:off x="2925368" y="3224034"/>
            <a:ext cx="60974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KR" sz="4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you!</a:t>
            </a:r>
            <a:endParaRPr lang="en-KR" sz="40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779AB1-0DB2-9988-A067-3A7E3DB41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33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DDB95-A5E7-C856-98B8-CE209E9EEBA2}"/>
              </a:ext>
            </a:extLst>
          </p:cNvPr>
          <p:cNvSpPr txBox="1"/>
          <p:nvPr/>
        </p:nvSpPr>
        <p:spPr>
          <a:xfrm>
            <a:off x="358540" y="6187073"/>
            <a:ext cx="106469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Credit of icons: </a:t>
            </a:r>
            <a:r>
              <a:rPr lang="en-US" sz="1600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flaticon.com</a:t>
            </a:r>
            <a:endParaRPr lang="en-SG" sz="1600" i="1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618FBF-05CC-C8D2-9C5E-F39E091127FA}"/>
              </a:ext>
            </a:extLst>
          </p:cNvPr>
          <p:cNvSpPr txBox="1"/>
          <p:nvPr/>
        </p:nvSpPr>
        <p:spPr>
          <a:xfrm>
            <a:off x="4775798" y="3931920"/>
            <a:ext cx="2640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songch@comp.nus.edu.sg</a:t>
            </a:r>
          </a:p>
        </p:txBody>
      </p:sp>
    </p:spTree>
    <p:extLst>
      <p:ext uri="{BB962C8B-B14F-4D97-AF65-F5344CB8AC3E}">
        <p14:creationId xmlns:p14="http://schemas.microsoft.com/office/powerpoint/2010/main" val="2723820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BACKUP SLIDE – ConWeave Packet Loss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A1FDF39-8BA6-2AF9-F256-CEF101D32674}"/>
              </a:ext>
            </a:extLst>
          </p:cNvPr>
          <p:cNvGrpSpPr/>
          <p:nvPr/>
        </p:nvGrpSpPr>
        <p:grpSpPr>
          <a:xfrm>
            <a:off x="1441366" y="2901733"/>
            <a:ext cx="3846738" cy="1951019"/>
            <a:chOff x="1849197" y="1524443"/>
            <a:chExt cx="3544711" cy="166872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48B85FD-798F-193C-480E-0DC3108AAF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1699" b="21485"/>
            <a:stretch/>
          </p:blipFill>
          <p:spPr>
            <a:xfrm>
              <a:off x="2535446" y="1524443"/>
              <a:ext cx="1810773" cy="102881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AB7AF32-BE2E-BC78-13FD-D0FEC449F719}"/>
                </a:ext>
              </a:extLst>
            </p:cNvPr>
            <p:cNvSpPr txBox="1"/>
            <p:nvPr/>
          </p:nvSpPr>
          <p:spPr>
            <a:xfrm>
              <a:off x="1849197" y="2482410"/>
              <a:ext cx="3544711" cy="7107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Fira Sans" panose="020B0503050000020004" pitchFamily="34" charset="0"/>
                </a:rPr>
                <a:t>Packet Loss</a:t>
              </a:r>
            </a:p>
            <a:p>
              <a:pPr algn="ctr"/>
              <a:r>
                <a:rPr lang="en-US" sz="2400" b="1" dirty="0">
                  <a:latin typeface="Fira Sans" panose="020B0503050000020004" pitchFamily="34" charset="0"/>
                </a:rPr>
                <a:t>(TAIL, CLEAR)</a:t>
              </a:r>
              <a:endParaRPr lang="en-KR" sz="2400" b="1" dirty="0"/>
            </a:p>
          </p:txBody>
        </p:sp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D847FF1-0C4F-5143-4867-6C3A9A5325C9}"/>
              </a:ext>
            </a:extLst>
          </p:cNvPr>
          <p:cNvSpPr/>
          <p:nvPr/>
        </p:nvSpPr>
        <p:spPr>
          <a:xfrm>
            <a:off x="445770" y="1497442"/>
            <a:ext cx="11300460" cy="471351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latin typeface="Fira Sans" panose="020B05030500000200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1CC0436-5D09-A124-284E-62A11F02D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736" y="2776114"/>
            <a:ext cx="717627" cy="717627"/>
          </a:xfrm>
          <a:prstGeom prst="rect">
            <a:avLst/>
          </a:prstGeom>
        </p:spPr>
      </p:pic>
      <p:sp>
        <p:nvSpPr>
          <p:cNvPr id="26" name="Right Arrow 25">
            <a:extLst>
              <a:ext uri="{FF2B5EF4-FFF2-40B4-BE49-F238E27FC236}">
                <a16:creationId xmlns:a16="http://schemas.microsoft.com/office/drawing/2014/main" id="{81610C7A-C0B8-C42E-CE9F-88EECDBD1B36}"/>
              </a:ext>
            </a:extLst>
          </p:cNvPr>
          <p:cNvSpPr/>
          <p:nvPr/>
        </p:nvSpPr>
        <p:spPr>
          <a:xfrm>
            <a:off x="5328664" y="2314701"/>
            <a:ext cx="1119562" cy="391487"/>
          </a:xfrm>
          <a:prstGeom prst="rightArrow">
            <a:avLst>
              <a:gd name="adj1" fmla="val 50000"/>
              <a:gd name="adj2" fmla="val 93254"/>
            </a:avLst>
          </a:prstGeom>
          <a:ln>
            <a:solidFill>
              <a:srgbClr val="B5FF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4EE54C-B33F-3B81-670D-7B0E974D73D0}"/>
              </a:ext>
            </a:extLst>
          </p:cNvPr>
          <p:cNvSpPr txBox="1"/>
          <p:nvPr/>
        </p:nvSpPr>
        <p:spPr>
          <a:xfrm>
            <a:off x="5166527" y="2032337"/>
            <a:ext cx="1411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000" dirty="0">
                <a:latin typeface="Fira Sans" panose="020B0503050000020004" pitchFamily="34" charset="0"/>
              </a:rPr>
              <a:t>TAIL loss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AA7E3D2-3C20-BE4F-277A-F13FF9DAB2E5}"/>
              </a:ext>
            </a:extLst>
          </p:cNvPr>
          <p:cNvSpPr/>
          <p:nvPr/>
        </p:nvSpPr>
        <p:spPr>
          <a:xfrm>
            <a:off x="6832839" y="1904334"/>
            <a:ext cx="4270214" cy="48124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000" dirty="0">
                <a:solidFill>
                  <a:schemeClr val="bg1"/>
                </a:solidFill>
                <a:latin typeface="Fira Sans" panose="020B0503050000020004" pitchFamily="34" charset="0"/>
              </a:rPr>
              <a:t>Queue will not be flushed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FEFFC8-52A3-6562-F189-434F02B20E6A}"/>
              </a:ext>
            </a:extLst>
          </p:cNvPr>
          <p:cNvSpPr txBox="1"/>
          <p:nvPr/>
        </p:nvSpPr>
        <p:spPr>
          <a:xfrm>
            <a:off x="7675983" y="2627095"/>
            <a:ext cx="35253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KR" sz="2000" dirty="0">
                <a:latin typeface="Fira Sans" panose="020B0503050000020004" pitchFamily="34" charset="0"/>
              </a:rPr>
              <a:t>Calculate </a:t>
            </a:r>
            <a:br>
              <a:rPr lang="en-KR" sz="2000" dirty="0">
                <a:latin typeface="Fira Sans" panose="020B0503050000020004" pitchFamily="34" charset="0"/>
              </a:rPr>
            </a:br>
            <a:r>
              <a:rPr lang="en-KR" sz="2000" dirty="0">
                <a:latin typeface="Fira Sans" panose="020B0503050000020004" pitchFamily="34" charset="0"/>
              </a:rPr>
              <a:t>“</a:t>
            </a:r>
            <a:r>
              <a:rPr lang="en-KR" sz="2000" b="1" dirty="0">
                <a:latin typeface="Fira Sans" panose="020B0503050000020004" pitchFamily="34" charset="0"/>
              </a:rPr>
              <a:t>expected TAIL arrival time</a:t>
            </a:r>
            <a:r>
              <a:rPr lang="en-KR" sz="2000" dirty="0">
                <a:latin typeface="Fira Sans" panose="020B0503050000020004" pitchFamily="34" charset="0"/>
              </a:rPr>
              <a:t>” and flush if timeout</a:t>
            </a:r>
            <a:endParaRPr lang="en-KR" sz="2000" dirty="0"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D84CA1E1-4B47-1374-4F88-CED2722A8371}"/>
              </a:ext>
            </a:extLst>
          </p:cNvPr>
          <p:cNvSpPr/>
          <p:nvPr/>
        </p:nvSpPr>
        <p:spPr>
          <a:xfrm>
            <a:off x="8202435" y="7918143"/>
            <a:ext cx="1119562" cy="391487"/>
          </a:xfrm>
          <a:prstGeom prst="rightArrow">
            <a:avLst>
              <a:gd name="adj1" fmla="val 50000"/>
              <a:gd name="adj2" fmla="val 93254"/>
            </a:avLst>
          </a:prstGeom>
          <a:ln>
            <a:solidFill>
              <a:srgbClr val="B5FF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795FCB4-A60C-73AE-C911-1B59B31F2E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0489" y="7762565"/>
            <a:ext cx="903795" cy="90379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0243167-1AD0-3268-8873-6A921383FBAB}"/>
              </a:ext>
            </a:extLst>
          </p:cNvPr>
          <p:cNvSpPr txBox="1"/>
          <p:nvPr/>
        </p:nvSpPr>
        <p:spPr>
          <a:xfrm>
            <a:off x="10645856" y="7887686"/>
            <a:ext cx="27424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KR" sz="2000" dirty="0">
                <a:latin typeface="Fira Sans" panose="020B0503050000020004" pitchFamily="34" charset="0"/>
              </a:rPr>
              <a:t>Leveraging </a:t>
            </a:r>
            <a:br>
              <a:rPr lang="en-KR" sz="2000" dirty="0">
                <a:latin typeface="Fira Sans" panose="020B0503050000020004" pitchFamily="34" charset="0"/>
              </a:rPr>
            </a:br>
            <a:r>
              <a:rPr lang="en-KR" sz="2000" i="1" dirty="0">
                <a:latin typeface="Fira Sans" panose="020B0503050000020004" pitchFamily="34" charset="0"/>
              </a:rPr>
              <a:t>in-band telemetry</a:t>
            </a:r>
            <a:endParaRPr lang="en-KR" sz="2000" i="1" dirty="0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E3608067-DA78-46BF-AA45-11A4CAFD34A3}"/>
              </a:ext>
            </a:extLst>
          </p:cNvPr>
          <p:cNvSpPr/>
          <p:nvPr/>
        </p:nvSpPr>
        <p:spPr>
          <a:xfrm>
            <a:off x="5374569" y="4680754"/>
            <a:ext cx="1119562" cy="391487"/>
          </a:xfrm>
          <a:prstGeom prst="rightArrow">
            <a:avLst>
              <a:gd name="adj1" fmla="val 50000"/>
              <a:gd name="adj2" fmla="val 93254"/>
            </a:avLst>
          </a:prstGeom>
          <a:ln>
            <a:solidFill>
              <a:srgbClr val="B5FF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6C6725-14D8-1A0E-C2A3-D9F3A9B4F2F3}"/>
              </a:ext>
            </a:extLst>
          </p:cNvPr>
          <p:cNvSpPr txBox="1"/>
          <p:nvPr/>
        </p:nvSpPr>
        <p:spPr>
          <a:xfrm>
            <a:off x="5111389" y="4385838"/>
            <a:ext cx="1512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000" dirty="0">
                <a:latin typeface="Fira Sans" panose="020B0503050000020004" pitchFamily="34" charset="0"/>
              </a:rPr>
              <a:t>CLEAR loss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ECF6A0-B2CF-92BD-C4CD-842E5281E217}"/>
              </a:ext>
            </a:extLst>
          </p:cNvPr>
          <p:cNvSpPr txBox="1"/>
          <p:nvPr/>
        </p:nvSpPr>
        <p:spPr>
          <a:xfrm>
            <a:off x="7735363" y="4846987"/>
            <a:ext cx="34066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KR" sz="2000" dirty="0">
                <a:latin typeface="Fira Sans" panose="020B0503050000020004" pitchFamily="34" charset="0"/>
              </a:rPr>
              <a:t>Resume after </a:t>
            </a:r>
            <a:br>
              <a:rPr lang="en-KR" sz="2000" dirty="0">
                <a:latin typeface="Fira Sans" panose="020B0503050000020004" pitchFamily="34" charset="0"/>
              </a:rPr>
            </a:br>
            <a:r>
              <a:rPr lang="en-KR" sz="2000" i="1" dirty="0">
                <a:latin typeface="Fira Sans" panose="020B0503050000020004" pitchFamily="34" charset="0"/>
              </a:rPr>
              <a:t>sufficient</a:t>
            </a:r>
            <a:r>
              <a:rPr lang="en-KR" sz="2000" dirty="0">
                <a:latin typeface="Fira Sans" panose="020B0503050000020004" pitchFamily="34" charset="0"/>
              </a:rPr>
              <a:t> inactive time</a:t>
            </a:r>
            <a:endParaRPr lang="en-KR" sz="20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74D56242-799C-52D6-11D0-2C95673164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8861" y="4857760"/>
            <a:ext cx="793458" cy="793458"/>
          </a:xfrm>
          <a:prstGeom prst="rect">
            <a:avLst/>
          </a:prstGeom>
        </p:spPr>
      </p:pic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C16DD87-7A5B-A84C-46AE-C55BF59072B5}"/>
              </a:ext>
            </a:extLst>
          </p:cNvPr>
          <p:cNvSpPr/>
          <p:nvPr/>
        </p:nvSpPr>
        <p:spPr>
          <a:xfrm>
            <a:off x="6885011" y="4117940"/>
            <a:ext cx="4270214" cy="42411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000" dirty="0">
                <a:solidFill>
                  <a:schemeClr val="bg1"/>
                </a:solidFill>
                <a:latin typeface="Fira Sans" panose="020B0503050000020004" pitchFamily="34" charset="0"/>
              </a:rPr>
              <a:t>No more rerouting of the 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15979E-D9AD-0B8C-C474-6B461FF8C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34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1602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BACKUP SLIDE – Challenge. Path Monitoring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8756A2-D4D6-93C7-11BD-41FE24CB4AFB}"/>
              </a:ext>
            </a:extLst>
          </p:cNvPr>
          <p:cNvSpPr txBox="1"/>
          <p:nvPr/>
        </p:nvSpPr>
        <p:spPr>
          <a:xfrm>
            <a:off x="1524874" y="1371459"/>
            <a:ext cx="8329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Fira Sans" panose="020B0503050000020004" pitchFamily="34" charset="0"/>
              </a:rPr>
              <a:t>Goal: Timely monitor current path’s congestion</a:t>
            </a:r>
            <a:endParaRPr lang="en-US" sz="2800" dirty="0">
              <a:latin typeface="Fira Sans" panose="020B0503050000020004" pitchFamily="34" charset="0"/>
            </a:endParaRPr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6CE106F0-882F-3BB1-F2AC-71E1F428E968}"/>
              </a:ext>
            </a:extLst>
          </p:cNvPr>
          <p:cNvSpPr/>
          <p:nvPr/>
        </p:nvSpPr>
        <p:spPr>
          <a:xfrm rot="10800000">
            <a:off x="3904724" y="3799376"/>
            <a:ext cx="4030059" cy="702341"/>
          </a:xfrm>
          <a:custGeom>
            <a:avLst/>
            <a:gdLst>
              <a:gd name="connsiteX0" fmla="*/ 0 w 3688861"/>
              <a:gd name="connsiteY0" fmla="*/ 312834 h 312834"/>
              <a:gd name="connsiteX1" fmla="*/ 2008554 w 3688861"/>
              <a:gd name="connsiteY1" fmla="*/ 218 h 312834"/>
              <a:gd name="connsiteX2" fmla="*/ 3688861 w 3688861"/>
              <a:gd name="connsiteY2" fmla="*/ 273757 h 312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8861" h="312834">
                <a:moveTo>
                  <a:pt x="0" y="312834"/>
                </a:moveTo>
                <a:cubicBezTo>
                  <a:pt x="696872" y="159782"/>
                  <a:pt x="1393744" y="6731"/>
                  <a:pt x="2008554" y="218"/>
                </a:cubicBezTo>
                <a:cubicBezTo>
                  <a:pt x="2623364" y="-6295"/>
                  <a:pt x="3156112" y="133731"/>
                  <a:pt x="3688861" y="273757"/>
                </a:cubicBezTo>
              </a:path>
            </a:pathLst>
          </a:custGeom>
          <a:noFill/>
          <a:ln w="762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688861"/>
                      <a:gd name="connsiteY0" fmla="*/ 312834 h 312834"/>
                      <a:gd name="connsiteX1" fmla="*/ 2008554 w 3688861"/>
                      <a:gd name="connsiteY1" fmla="*/ 218 h 312834"/>
                      <a:gd name="connsiteX2" fmla="*/ 3688861 w 3688861"/>
                      <a:gd name="connsiteY2" fmla="*/ 273757 h 312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688861" h="312834" extrusionOk="0">
                        <a:moveTo>
                          <a:pt x="0" y="312834"/>
                        </a:moveTo>
                        <a:cubicBezTo>
                          <a:pt x="606260" y="103890"/>
                          <a:pt x="1289000" y="46043"/>
                          <a:pt x="2008554" y="218"/>
                        </a:cubicBezTo>
                        <a:cubicBezTo>
                          <a:pt x="2642095" y="-2352"/>
                          <a:pt x="3099090" y="135544"/>
                          <a:pt x="3688861" y="273757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36409">
              <a:schemeClr val="accent2">
                <a:lumMod val="60000"/>
                <a:lumOff val="40000"/>
                <a:alpha val="40000"/>
              </a:schemeClr>
            </a:glow>
            <a:outerShdw dist="50800" sx="1000" sy="1000" algn="ctr" rotWithShape="0">
              <a:srgbClr val="000000"/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 sz="2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Fira Sans" panose="020B0503050000020004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74D64CB-E9C2-81B9-20FE-604014BF20EC}"/>
              </a:ext>
            </a:extLst>
          </p:cNvPr>
          <p:cNvSpPr txBox="1"/>
          <p:nvPr/>
        </p:nvSpPr>
        <p:spPr>
          <a:xfrm>
            <a:off x="696629" y="4734520"/>
            <a:ext cx="1090875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600" dirty="0">
                <a:latin typeface="Fira Sans" panose="020B0503050000020004" pitchFamily="34" charset="0"/>
              </a:rPr>
              <a:t>Notification delay = </a:t>
            </a:r>
            <a:r>
              <a:rPr lang="en-KR" sz="2600" dirty="0">
                <a:solidFill>
                  <a:srgbClr val="FF0000"/>
                </a:solidFill>
                <a:latin typeface="Fira Sans" panose="020B0503050000020004" pitchFamily="34" charset="0"/>
              </a:rPr>
              <a:t>DATA (forward) delay</a:t>
            </a:r>
            <a:r>
              <a:rPr lang="en-KR" sz="2600" dirty="0">
                <a:latin typeface="Fira Sans" panose="020B0503050000020004" pitchFamily="34" charset="0"/>
              </a:rPr>
              <a:t> + </a:t>
            </a:r>
            <a:r>
              <a:rPr lang="en-KR" sz="2600" dirty="0">
                <a:solidFill>
                  <a:schemeClr val="tx1">
                    <a:lumMod val="50000"/>
                    <a:lumOff val="50000"/>
                  </a:schemeClr>
                </a:solidFill>
                <a:latin typeface="Fira Sans" panose="020B0503050000020004" pitchFamily="34" charset="0"/>
              </a:rPr>
              <a:t>Piggyback (backward) delay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8C41B31-76E6-CFD9-BB0C-C3FB9C8F8935}"/>
              </a:ext>
            </a:extLst>
          </p:cNvPr>
          <p:cNvSpPr txBox="1"/>
          <p:nvPr/>
        </p:nvSpPr>
        <p:spPr>
          <a:xfrm>
            <a:off x="7828805" y="5208426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i="1" dirty="0">
                <a:solidFill>
                  <a:schemeClr val="accent6"/>
                </a:solidFill>
                <a:latin typeface="Fira Sans" panose="020B0503050000020004" pitchFamily="34" charset="0"/>
                <a:sym typeface="Wingdings" pitchFamily="2" charset="2"/>
              </a:rPr>
              <a:t> </a:t>
            </a:r>
            <a:r>
              <a:rPr lang="en-KR" sz="2400" i="1" dirty="0">
                <a:solidFill>
                  <a:schemeClr val="accent6"/>
                </a:solidFill>
                <a:latin typeface="Fira Sans" panose="020B0503050000020004" pitchFamily="34" charset="0"/>
              </a:rPr>
              <a:t>Sol: Set high-prio.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1EDDB52-E7EF-17FF-7C9A-61C6B37767E6}"/>
              </a:ext>
            </a:extLst>
          </p:cNvPr>
          <p:cNvSpPr txBox="1"/>
          <p:nvPr/>
        </p:nvSpPr>
        <p:spPr>
          <a:xfrm>
            <a:off x="4058240" y="5208426"/>
            <a:ext cx="2702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Fira Sans" panose="020B0503050000020004" pitchFamily="34" charset="0"/>
                <a:sym typeface="Wingdings" pitchFamily="2" charset="2"/>
              </a:rPr>
              <a:t> </a:t>
            </a:r>
            <a:r>
              <a:rPr lang="en-US" sz="2400" i="1" dirty="0">
                <a:solidFill>
                  <a:srgbClr val="FF0000"/>
                </a:solidFill>
                <a:latin typeface="Fira Sans" panose="020B0503050000020004" pitchFamily="34" charset="0"/>
              </a:rPr>
              <a:t>I</a:t>
            </a:r>
            <a:r>
              <a:rPr lang="en-KR" sz="2400" i="1" dirty="0">
                <a:solidFill>
                  <a:srgbClr val="FF0000"/>
                </a:solidFill>
                <a:latin typeface="Fira Sans" panose="020B0503050000020004" pitchFamily="34" charset="0"/>
              </a:rPr>
              <a:t>nevitably high!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EECCBD9-2AC3-B77B-C6C6-5BEF8BC2B10F}"/>
              </a:ext>
            </a:extLst>
          </p:cNvPr>
          <p:cNvSpPr txBox="1"/>
          <p:nvPr/>
        </p:nvSpPr>
        <p:spPr>
          <a:xfrm>
            <a:off x="6952674" y="4150547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i="1" dirty="0">
                <a:latin typeface="Fira Sans" panose="020B0503050000020004" pitchFamily="34" charset="0"/>
              </a:rPr>
              <a:t>Piggyback!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B12E7A-B1F2-838C-FFCA-956FE8F7BAE6}"/>
              </a:ext>
            </a:extLst>
          </p:cNvPr>
          <p:cNvGrpSpPr/>
          <p:nvPr/>
        </p:nvGrpSpPr>
        <p:grpSpPr>
          <a:xfrm>
            <a:off x="1667368" y="2889109"/>
            <a:ext cx="8564073" cy="1147525"/>
            <a:chOff x="1690615" y="3281863"/>
            <a:chExt cx="8564073" cy="114752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F9A6C81-C1AB-C3DA-DF89-34D261C26BA8}"/>
                </a:ext>
              </a:extLst>
            </p:cNvPr>
            <p:cNvSpPr/>
            <p:nvPr/>
          </p:nvSpPr>
          <p:spPr>
            <a:xfrm>
              <a:off x="2824775" y="4035523"/>
              <a:ext cx="1037518" cy="269075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 sz="2400" dirty="0">
                <a:latin typeface="Fira Sans" panose="020B05030500000200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D968292-CB0A-3877-0F78-0F07EC5D7C75}"/>
                </a:ext>
              </a:extLst>
            </p:cNvPr>
            <p:cNvSpPr/>
            <p:nvPr/>
          </p:nvSpPr>
          <p:spPr>
            <a:xfrm>
              <a:off x="7958032" y="4035522"/>
              <a:ext cx="1092256" cy="269076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 sz="2400" dirty="0">
                <a:latin typeface="Fira Sans" panose="020B0503050000020004" pitchFamily="34" charset="0"/>
              </a:endParaRPr>
            </a:p>
          </p:txBody>
        </p:sp>
        <p:sp>
          <p:nvSpPr>
            <p:cNvPr id="85" name="Cloud 84">
              <a:extLst>
                <a:ext uri="{FF2B5EF4-FFF2-40B4-BE49-F238E27FC236}">
                  <a16:creationId xmlns:a16="http://schemas.microsoft.com/office/drawing/2014/main" id="{D23364EF-36D5-9347-509A-19692293DE8E}"/>
                </a:ext>
              </a:extLst>
            </p:cNvPr>
            <p:cNvSpPr/>
            <p:nvPr/>
          </p:nvSpPr>
          <p:spPr>
            <a:xfrm>
              <a:off x="5064919" y="3868571"/>
              <a:ext cx="1607343" cy="560817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2400" dirty="0">
                <a:solidFill>
                  <a:schemeClr val="tx1"/>
                </a:solidFill>
                <a:latin typeface="Fira Sans" panose="020B05030500000200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78FA724-9795-67CF-A077-6753E75509C8}"/>
                </a:ext>
              </a:extLst>
            </p:cNvPr>
            <p:cNvSpPr txBox="1"/>
            <p:nvPr/>
          </p:nvSpPr>
          <p:spPr>
            <a:xfrm>
              <a:off x="5320803" y="3281863"/>
              <a:ext cx="188224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>
                  <a:solidFill>
                    <a:srgbClr val="FF0000"/>
                  </a:solidFill>
                  <a:latin typeface="Fira Sans" panose="020B0503050000020004" pitchFamily="34" charset="0"/>
                </a:rPr>
                <a:t>C</a:t>
              </a:r>
              <a:r>
                <a:rPr lang="en-KR" sz="2800" i="1" dirty="0">
                  <a:solidFill>
                    <a:srgbClr val="FF0000"/>
                  </a:solidFill>
                  <a:latin typeface="Fira Sans" panose="020B0503050000020004" pitchFamily="34" charset="0"/>
                </a:rPr>
                <a:t>ongested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3C61935-95E2-EDE7-562A-5653449EF317}"/>
                </a:ext>
              </a:extLst>
            </p:cNvPr>
            <p:cNvCxnSpPr>
              <a:cxnSpLocks/>
              <a:stCxn id="66" idx="3"/>
              <a:endCxn id="67" idx="1"/>
            </p:cNvCxnSpPr>
            <p:nvPr/>
          </p:nvCxnSpPr>
          <p:spPr>
            <a:xfrm flipV="1">
              <a:off x="3862293" y="4170060"/>
              <a:ext cx="4095739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headEnd type="none" w="med" len="med"/>
              <a:tailEnd type="arrow" w="med" len="med"/>
            </a:ln>
            <a:effectLst>
              <a:glow rad="45737">
                <a:schemeClr val="tx1">
                  <a:alpha val="40000"/>
                </a:schemeClr>
              </a:glo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9" name="Picture 12" descr="Download Sign Warning Exclamation Mark Royalty-Free Vector Graphic - Pixabay">
              <a:extLst>
                <a:ext uri="{FF2B5EF4-FFF2-40B4-BE49-F238E27FC236}">
                  <a16:creationId xmlns:a16="http://schemas.microsoft.com/office/drawing/2014/main" id="{5DF54155-5C45-5500-C981-F54C72999D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2979" y="3828194"/>
              <a:ext cx="651422" cy="5918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F29EE6-90C8-7FB3-7906-DE41DAB203BB}"/>
                </a:ext>
              </a:extLst>
            </p:cNvPr>
            <p:cNvSpPr txBox="1"/>
            <p:nvPr/>
          </p:nvSpPr>
          <p:spPr>
            <a:xfrm>
              <a:off x="1690615" y="3941198"/>
              <a:ext cx="12031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sz="2400" dirty="0">
                  <a:latin typeface="Fira Sans" panose="020B0503050000020004" pitchFamily="34" charset="0"/>
                </a:rPr>
                <a:t>SrcToR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DA6EB8-EB44-F8DD-76B7-6ECA3CE851CA}"/>
                </a:ext>
              </a:extLst>
            </p:cNvPr>
            <p:cNvSpPr txBox="1"/>
            <p:nvPr/>
          </p:nvSpPr>
          <p:spPr>
            <a:xfrm>
              <a:off x="9092190" y="3939226"/>
              <a:ext cx="11624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400" dirty="0">
                  <a:latin typeface="Fira Sans" panose="020B0503050000020004" pitchFamily="34" charset="0"/>
                </a:rPr>
                <a:t>DstToR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6C350D6-31F2-A18D-749D-0779B61D3467}"/>
              </a:ext>
            </a:extLst>
          </p:cNvPr>
          <p:cNvSpPr/>
          <p:nvPr/>
        </p:nvSpPr>
        <p:spPr>
          <a:xfrm>
            <a:off x="3669376" y="3664781"/>
            <a:ext cx="238136" cy="225049"/>
          </a:xfrm>
          <a:prstGeom prst="rect">
            <a:avLst/>
          </a:prstGeom>
          <a:solidFill>
            <a:srgbClr val="1515FF"/>
          </a:solidFill>
          <a:ln w="28575">
            <a:solidFill>
              <a:srgbClr val="B5FF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FFFF00"/>
              </a:solidFill>
              <a:latin typeface="Fira Sans" panose="020B05030500000200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F01C3-C7B5-E171-9170-9B60D42C44BB}"/>
              </a:ext>
            </a:extLst>
          </p:cNvPr>
          <p:cNvSpPr txBox="1"/>
          <p:nvPr/>
        </p:nvSpPr>
        <p:spPr>
          <a:xfrm>
            <a:off x="2841808" y="2752502"/>
            <a:ext cx="1931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2400" dirty="0">
                <a:solidFill>
                  <a:srgbClr val="1515FF"/>
                </a:solidFill>
                <a:latin typeface="Fira Sans" panose="020B0503050000020004" pitchFamily="34" charset="0"/>
              </a:rPr>
              <a:t>Probing</a:t>
            </a:r>
            <a:br>
              <a:rPr lang="en-KR" sz="2400" dirty="0">
                <a:solidFill>
                  <a:srgbClr val="1515FF"/>
                </a:solidFill>
                <a:latin typeface="Fira Sans" panose="020B0503050000020004" pitchFamily="34" charset="0"/>
              </a:rPr>
            </a:br>
            <a:r>
              <a:rPr lang="en-KR" sz="2400" dirty="0">
                <a:solidFill>
                  <a:srgbClr val="1515FF"/>
                </a:solidFill>
                <a:latin typeface="Fira Sans" panose="020B0503050000020004" pitchFamily="34" charset="0"/>
              </a:rPr>
              <a:t>current path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6ABD27-4319-5B9F-7B7C-92DBC650D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470" y="1319459"/>
            <a:ext cx="713404" cy="71340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9C4DAC0-9C03-6737-87FB-AB8CD33EB6EA}"/>
              </a:ext>
            </a:extLst>
          </p:cNvPr>
          <p:cNvGrpSpPr/>
          <p:nvPr/>
        </p:nvGrpSpPr>
        <p:grpSpPr>
          <a:xfrm>
            <a:off x="2063416" y="1959385"/>
            <a:ext cx="8579021" cy="461665"/>
            <a:chOff x="2070932" y="2350923"/>
            <a:chExt cx="8579021" cy="4616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1A64E97-4F11-ED9E-0305-D4DCE1534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70932" y="2385260"/>
              <a:ext cx="447034" cy="42376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941985-6D60-5B9C-A7F9-D60AC0F526B2}"/>
                </a:ext>
              </a:extLst>
            </p:cNvPr>
            <p:cNvSpPr txBox="1"/>
            <p:nvPr/>
          </p:nvSpPr>
          <p:spPr>
            <a:xfrm>
              <a:off x="2510450" y="2350923"/>
              <a:ext cx="813950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Fira Sans" panose="020B0503050000020004" pitchFamily="34" charset="0"/>
                </a:rPr>
                <a:t>Piggybacking is </a:t>
              </a:r>
              <a:r>
                <a:rPr lang="en-US" sz="2400" i="1" dirty="0">
                  <a:solidFill>
                    <a:srgbClr val="FF0000"/>
                  </a:solidFill>
                  <a:latin typeface="Fira Sans" panose="020B0503050000020004" pitchFamily="34" charset="0"/>
                </a:rPr>
                <a:t>slow </a:t>
              </a:r>
              <a:r>
                <a:rPr lang="en-US" sz="2400" dirty="0">
                  <a:latin typeface="Fira Sans" panose="020B0503050000020004" pitchFamily="34" charset="0"/>
                </a:rPr>
                <a:t>to know a current path’s congestion</a:t>
              </a: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003B2-BF2F-1E29-B78C-D03F07DAB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35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69437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BACKUP SLIDE – Challenge. Restoring Packet Order</a:t>
            </a:r>
          </a:p>
        </p:txBody>
      </p:sp>
      <p:pic>
        <p:nvPicPr>
          <p:cNvPr id="13" name="Picture 12" descr="Image result for wedge 100 bf">
            <a:extLst>
              <a:ext uri="{FF2B5EF4-FFF2-40B4-BE49-F238E27FC236}">
                <a16:creationId xmlns:a16="http://schemas.microsoft.com/office/drawing/2014/main" id="{C2AE0575-E4D4-15C3-87C7-2F161CEED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149" y="1802966"/>
            <a:ext cx="2919105" cy="78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nip Single Corner of Rectangle 1274">
            <a:extLst>
              <a:ext uri="{FF2B5EF4-FFF2-40B4-BE49-F238E27FC236}">
                <a16:creationId xmlns:a16="http://schemas.microsoft.com/office/drawing/2014/main" id="{921F0F0B-D48A-791F-2621-347E3D331430}"/>
              </a:ext>
            </a:extLst>
          </p:cNvPr>
          <p:cNvSpPr/>
          <p:nvPr/>
        </p:nvSpPr>
        <p:spPr>
          <a:xfrm>
            <a:off x="7929914" y="1110947"/>
            <a:ext cx="3273681" cy="461665"/>
          </a:xfrm>
          <a:prstGeom prst="snip1Rect">
            <a:avLst/>
          </a:prstGeom>
          <a:gradFill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</a:gradFill>
          <a:scene3d>
            <a:camera prst="orthographicFront"/>
            <a:lightRig rig="threePt" dir="t">
              <a:rot lat="0" lon="0" rev="0"/>
            </a:lightRig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Fira Sans" panose="020B0503050000020004" pitchFamily="34" charset="0"/>
              </a:rPr>
              <a:t>Queue </a:t>
            </a:r>
            <a:r>
              <a:rPr lang="en-US" b="1" i="1" dirty="0">
                <a:latin typeface="Fira Sans" panose="020B0503050000020004" pitchFamily="34" charset="0"/>
              </a:rPr>
              <a:t>pause/ resume </a:t>
            </a:r>
            <a:r>
              <a:rPr lang="en-US" i="1" dirty="0">
                <a:latin typeface="Fira Sans" panose="020B0503050000020004" pitchFamily="34" charset="0"/>
              </a:rPr>
              <a:t>cap.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490688-2AB2-791B-CDD0-501207C463CE}"/>
              </a:ext>
            </a:extLst>
          </p:cNvPr>
          <p:cNvSpPr txBox="1"/>
          <p:nvPr/>
        </p:nvSpPr>
        <p:spPr>
          <a:xfrm>
            <a:off x="8676706" y="2530602"/>
            <a:ext cx="19848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2400" i="1" dirty="0">
                <a:solidFill>
                  <a:schemeClr val="accent1"/>
                </a:solidFill>
                <a:latin typeface="Fira Sans" panose="020B0503050000020004" pitchFamily="34" charset="0"/>
              </a:rPr>
              <a:t>Intel Tofino2</a:t>
            </a:r>
          </a:p>
        </p:txBody>
      </p:sp>
      <p:sp>
        <p:nvSpPr>
          <p:cNvPr id="17" name="Snip Single Corner of Rectangle 1274">
            <a:extLst>
              <a:ext uri="{FF2B5EF4-FFF2-40B4-BE49-F238E27FC236}">
                <a16:creationId xmlns:a16="http://schemas.microsoft.com/office/drawing/2014/main" id="{C09FE72B-E3AD-5CDE-0A4D-9E570997DB38}"/>
              </a:ext>
            </a:extLst>
          </p:cNvPr>
          <p:cNvSpPr/>
          <p:nvPr/>
        </p:nvSpPr>
        <p:spPr>
          <a:xfrm>
            <a:off x="7925657" y="1607053"/>
            <a:ext cx="3273681" cy="404660"/>
          </a:xfrm>
          <a:prstGeom prst="snip1Rect">
            <a:avLst/>
          </a:prstGeom>
          <a:gradFill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</a:gradFill>
          <a:scene3d>
            <a:camera prst="orthographicFront"/>
            <a:lightRig rig="threePt" dir="t">
              <a:rot lat="0" lon="0" rev="0"/>
            </a:lightRig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Fira Sans" panose="020B0503050000020004" pitchFamily="34" charset="0"/>
              </a:rPr>
              <a:t>~128 </a:t>
            </a:r>
            <a:r>
              <a:rPr lang="en-US" b="1" i="1" dirty="0">
                <a:latin typeface="Fira Sans" panose="020B0503050000020004" pitchFamily="34" charset="0"/>
              </a:rPr>
              <a:t>FIFO</a:t>
            </a:r>
            <a:r>
              <a:rPr lang="en-US" i="1" dirty="0">
                <a:latin typeface="Fira Sans" panose="020B0503050000020004" pitchFamily="34" charset="0"/>
              </a:rPr>
              <a:t> queues per </a:t>
            </a:r>
            <a:r>
              <a:rPr lang="en-US" i="1" dirty="0" err="1">
                <a:latin typeface="Fira Sans" panose="020B0503050000020004" pitchFamily="34" charset="0"/>
              </a:rPr>
              <a:t>Eg.</a:t>
            </a:r>
            <a:r>
              <a:rPr lang="en-US" i="1" dirty="0">
                <a:latin typeface="Fira Sans" panose="020B0503050000020004" pitchFamily="34" charset="0"/>
              </a:rPr>
              <a:t> port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A5C4A03-2852-81E1-1414-099EE5B96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992" y="1525435"/>
            <a:ext cx="647443" cy="64744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E3313C4-D935-89CE-2311-545B25761621}"/>
              </a:ext>
            </a:extLst>
          </p:cNvPr>
          <p:cNvSpPr txBox="1"/>
          <p:nvPr/>
        </p:nvSpPr>
        <p:spPr>
          <a:xfrm>
            <a:off x="1570521" y="1602215"/>
            <a:ext cx="63593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2800" b="1" dirty="0">
                <a:solidFill>
                  <a:schemeClr val="tx1"/>
                </a:solidFill>
                <a:latin typeface="Fira Sans" panose="020B0503050000020004" pitchFamily="34" charset="0"/>
              </a:rPr>
              <a:t>Goal: Restoring packet back in-order</a:t>
            </a:r>
            <a:endParaRPr lang="en-KR" sz="2800" b="1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9A6142A-FE17-E250-E9E4-0D5652196D0B}"/>
              </a:ext>
            </a:extLst>
          </p:cNvPr>
          <p:cNvGrpSpPr/>
          <p:nvPr/>
        </p:nvGrpSpPr>
        <p:grpSpPr>
          <a:xfrm>
            <a:off x="1093556" y="2254583"/>
            <a:ext cx="8318549" cy="861706"/>
            <a:chOff x="1407361" y="2614487"/>
            <a:chExt cx="8318549" cy="86170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40C6B86-4C14-E579-4134-B138D9540C63}"/>
                </a:ext>
              </a:extLst>
            </p:cNvPr>
            <p:cNvSpPr txBox="1"/>
            <p:nvPr/>
          </p:nvSpPr>
          <p:spPr>
            <a:xfrm>
              <a:off x="2177778" y="3076083"/>
              <a:ext cx="754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Fira Sans" panose="020B0503050000020004" pitchFamily="34" charset="0"/>
                </a:rPr>
                <a:t>: Lack of sorting primitives and limited FIFO queues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A0E068D-23AF-1EFF-841C-185C176D6005}"/>
                </a:ext>
              </a:extLst>
            </p:cNvPr>
            <p:cNvGrpSpPr/>
            <p:nvPr/>
          </p:nvGrpSpPr>
          <p:grpSpPr>
            <a:xfrm>
              <a:off x="1407361" y="2614487"/>
              <a:ext cx="7220688" cy="523220"/>
              <a:chOff x="2538291" y="3321403"/>
              <a:chExt cx="7220688" cy="52322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C33029-2493-B4B1-C703-754DBC0A69E2}"/>
                  </a:ext>
                </a:extLst>
              </p:cNvPr>
              <p:cNvSpPr txBox="1"/>
              <p:nvPr/>
            </p:nvSpPr>
            <p:spPr>
              <a:xfrm>
                <a:off x="2921851" y="3321403"/>
                <a:ext cx="683712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  <a:latin typeface="Fira Sans" panose="020B0503050000020004" pitchFamily="34" charset="0"/>
                  </a:rPr>
                  <a:t>Hard</a:t>
                </a:r>
                <a:r>
                  <a:rPr lang="en-US" sz="2800" dirty="0">
                    <a:latin typeface="Fira Sans" panose="020B0503050000020004" pitchFamily="34" charset="0"/>
                  </a:rPr>
                  <a:t> to restore </a:t>
                </a:r>
                <a:r>
                  <a:rPr lang="en-US" sz="2800" dirty="0">
                    <a:solidFill>
                      <a:srgbClr val="FF0000"/>
                    </a:solidFill>
                    <a:latin typeface="Fira Sans" panose="020B0503050000020004" pitchFamily="34" charset="0"/>
                  </a:rPr>
                  <a:t>“</a:t>
                </a:r>
                <a:r>
                  <a:rPr lang="en-US" sz="2800" i="1" dirty="0">
                    <a:solidFill>
                      <a:srgbClr val="FF0000"/>
                    </a:solidFill>
                    <a:latin typeface="Fira Sans" panose="020B0503050000020004" pitchFamily="34" charset="0"/>
                  </a:rPr>
                  <a:t>arbitrary</a:t>
                </a:r>
                <a:r>
                  <a:rPr lang="en-US" sz="2800" dirty="0">
                    <a:solidFill>
                      <a:srgbClr val="FF0000"/>
                    </a:solidFill>
                    <a:latin typeface="Fira Sans" panose="020B0503050000020004" pitchFamily="34" charset="0"/>
                  </a:rPr>
                  <a:t>” </a:t>
                </a:r>
                <a:r>
                  <a:rPr lang="en-US" sz="2800" dirty="0">
                    <a:latin typeface="Fira Sans" panose="020B0503050000020004" pitchFamily="34" charset="0"/>
                  </a:rPr>
                  <a:t>packet orders</a:t>
                </a:r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896B0925-0D40-1A7C-53C0-2BA51F4461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38291" y="3408636"/>
                <a:ext cx="404659" cy="404659"/>
              </a:xfrm>
              <a:prstGeom prst="rect">
                <a:avLst/>
              </a:prstGeom>
            </p:spPr>
          </p:pic>
        </p:grp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C670C6C7-281D-DD6A-BAC9-51CA0E469F1D}"/>
              </a:ext>
            </a:extLst>
          </p:cNvPr>
          <p:cNvSpPr/>
          <p:nvPr/>
        </p:nvSpPr>
        <p:spPr>
          <a:xfrm>
            <a:off x="2849317" y="4225505"/>
            <a:ext cx="357447" cy="357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47A5E1-704F-EC29-FE8F-BAA11695EBB7}"/>
              </a:ext>
            </a:extLst>
          </p:cNvPr>
          <p:cNvSpPr/>
          <p:nvPr/>
        </p:nvSpPr>
        <p:spPr>
          <a:xfrm>
            <a:off x="2378132" y="4225504"/>
            <a:ext cx="357447" cy="35744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47FE6D-B778-6CEF-FC65-F22538354A7A}"/>
              </a:ext>
            </a:extLst>
          </p:cNvPr>
          <p:cNvSpPr/>
          <p:nvPr/>
        </p:nvSpPr>
        <p:spPr>
          <a:xfrm>
            <a:off x="1906947" y="4225504"/>
            <a:ext cx="357447" cy="35744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F5081F-214E-2697-067F-EB30422E75E0}"/>
              </a:ext>
            </a:extLst>
          </p:cNvPr>
          <p:cNvSpPr/>
          <p:nvPr/>
        </p:nvSpPr>
        <p:spPr>
          <a:xfrm>
            <a:off x="1462159" y="4225504"/>
            <a:ext cx="357447" cy="35744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2ADFC7B-8937-2F74-AA15-6ED5448909F6}"/>
              </a:ext>
            </a:extLst>
          </p:cNvPr>
          <p:cNvCxnSpPr/>
          <p:nvPr/>
        </p:nvCxnSpPr>
        <p:spPr>
          <a:xfrm>
            <a:off x="1295885" y="4781064"/>
            <a:ext cx="1299817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DF1F99-1D5E-7535-50A7-EAE433A3FA84}"/>
              </a:ext>
            </a:extLst>
          </p:cNvPr>
          <p:cNvGrpSpPr/>
          <p:nvPr/>
        </p:nvGrpSpPr>
        <p:grpSpPr>
          <a:xfrm>
            <a:off x="4023345" y="4327133"/>
            <a:ext cx="1374060" cy="466606"/>
            <a:chOff x="9152238" y="2843659"/>
            <a:chExt cx="986012" cy="27775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4E4EAE6-8515-FE2D-D276-AF4F06D78049}"/>
                </a:ext>
              </a:extLst>
            </p:cNvPr>
            <p:cNvCxnSpPr/>
            <p:nvPr/>
          </p:nvCxnSpPr>
          <p:spPr>
            <a:xfrm>
              <a:off x="9152238" y="2843659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1561F24-3EC8-4E2C-A477-CBA02491FBC3}"/>
                </a:ext>
              </a:extLst>
            </p:cNvPr>
            <p:cNvCxnSpPr/>
            <p:nvPr/>
          </p:nvCxnSpPr>
          <p:spPr>
            <a:xfrm>
              <a:off x="9152238" y="3113864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B846828-08E3-CB8B-7D14-984CBEC7B54D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43659"/>
              <a:ext cx="0" cy="2777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809F86AD-D4D8-1695-A096-C59A4B959BDC}"/>
              </a:ext>
            </a:extLst>
          </p:cNvPr>
          <p:cNvSpPr txBox="1"/>
          <p:nvPr/>
        </p:nvSpPr>
        <p:spPr>
          <a:xfrm>
            <a:off x="964277" y="4880009"/>
            <a:ext cx="18165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Next SEQ = 1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B3A7F9F-74CE-A772-C201-2ECF649DA834}"/>
              </a:ext>
            </a:extLst>
          </p:cNvPr>
          <p:cNvGrpSpPr/>
          <p:nvPr/>
        </p:nvGrpSpPr>
        <p:grpSpPr>
          <a:xfrm>
            <a:off x="4023345" y="4917883"/>
            <a:ext cx="1374060" cy="466606"/>
            <a:chOff x="9152238" y="2843659"/>
            <a:chExt cx="986012" cy="277750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1AF7C98-F731-C6A1-C151-F0CBEEB9E480}"/>
                </a:ext>
              </a:extLst>
            </p:cNvPr>
            <p:cNvCxnSpPr/>
            <p:nvPr/>
          </p:nvCxnSpPr>
          <p:spPr>
            <a:xfrm>
              <a:off x="9152238" y="2843659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CDD994-6D91-5B21-7166-0CECDC852ED5}"/>
                </a:ext>
              </a:extLst>
            </p:cNvPr>
            <p:cNvCxnSpPr/>
            <p:nvPr/>
          </p:nvCxnSpPr>
          <p:spPr>
            <a:xfrm>
              <a:off x="9152238" y="3113864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18712C8-2417-E566-11EA-660EF78CF01C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43659"/>
              <a:ext cx="0" cy="2777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DFD81F9-F501-4C0B-697C-2576AB8F23E6}"/>
              </a:ext>
            </a:extLst>
          </p:cNvPr>
          <p:cNvGrpSpPr/>
          <p:nvPr/>
        </p:nvGrpSpPr>
        <p:grpSpPr>
          <a:xfrm>
            <a:off x="4023345" y="5508633"/>
            <a:ext cx="1374060" cy="466606"/>
            <a:chOff x="9152238" y="2843659"/>
            <a:chExt cx="986012" cy="277750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FE355F2-FBF0-6A65-1DE0-0A130784052B}"/>
                </a:ext>
              </a:extLst>
            </p:cNvPr>
            <p:cNvCxnSpPr/>
            <p:nvPr/>
          </p:nvCxnSpPr>
          <p:spPr>
            <a:xfrm>
              <a:off x="9152238" y="2843659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2F2810A-6F9D-8215-ED2E-D4C39127758D}"/>
                </a:ext>
              </a:extLst>
            </p:cNvPr>
            <p:cNvCxnSpPr/>
            <p:nvPr/>
          </p:nvCxnSpPr>
          <p:spPr>
            <a:xfrm>
              <a:off x="9152238" y="3113864"/>
              <a:ext cx="9860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62EF873-80DC-FC00-53EC-9E5CBB6EA453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250" y="2843659"/>
              <a:ext cx="0" cy="2777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6315177-40F0-99B7-9373-A924DD404A07}"/>
              </a:ext>
            </a:extLst>
          </p:cNvPr>
          <p:cNvSpPr/>
          <p:nvPr/>
        </p:nvSpPr>
        <p:spPr>
          <a:xfrm>
            <a:off x="579119" y="3731327"/>
            <a:ext cx="5433061" cy="2479676"/>
          </a:xfrm>
          <a:prstGeom prst="roundRect">
            <a:avLst>
              <a:gd name="adj" fmla="val 990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43CCD7-738A-6274-6033-01C21BC897BB}"/>
              </a:ext>
            </a:extLst>
          </p:cNvPr>
          <p:cNvCxnSpPr>
            <a:cxnSpLocks/>
          </p:cNvCxnSpPr>
          <p:nvPr/>
        </p:nvCxnSpPr>
        <p:spPr>
          <a:xfrm>
            <a:off x="7120137" y="5229363"/>
            <a:ext cx="1103943" cy="0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4CC4F4D-3BC6-ACA3-9A86-C04743D4D71C}"/>
              </a:ext>
            </a:extLst>
          </p:cNvPr>
          <p:cNvSpPr txBox="1"/>
          <p:nvPr/>
        </p:nvSpPr>
        <p:spPr>
          <a:xfrm>
            <a:off x="6343764" y="4224482"/>
            <a:ext cx="18165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Next SEQ = 2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DC2B40F-5727-5609-D6C9-D702E357AF40}"/>
              </a:ext>
            </a:extLst>
          </p:cNvPr>
          <p:cNvSpPr/>
          <p:nvPr/>
        </p:nvSpPr>
        <p:spPr>
          <a:xfrm>
            <a:off x="828170" y="3392287"/>
            <a:ext cx="4940170" cy="712991"/>
          </a:xfrm>
          <a:prstGeom prst="round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FF00"/>
                </a:solidFill>
                <a:latin typeface="Fira Sans" panose="020B0503050000020004" pitchFamily="34" charset="0"/>
              </a:rPr>
              <a:t>Costly</a:t>
            </a:r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 to store pkts to FIFO queues </a:t>
            </a:r>
            <a:b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and flush them in relay</a:t>
            </a:r>
            <a:endParaRPr lang="en-KR" sz="2000" dirty="0">
              <a:solidFill>
                <a:schemeClr val="bg1"/>
              </a:solidFill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1ED93FCA-29E8-AF06-8616-F71C4E6433DD}"/>
              </a:ext>
            </a:extLst>
          </p:cNvPr>
          <p:cNvSpPr/>
          <p:nvPr/>
        </p:nvSpPr>
        <p:spPr>
          <a:xfrm>
            <a:off x="6138408" y="3731327"/>
            <a:ext cx="5492917" cy="2479676"/>
          </a:xfrm>
          <a:prstGeom prst="roundRect">
            <a:avLst>
              <a:gd name="adj" fmla="val 990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505A91B-EA5B-5355-7F29-B1FAD08B1E78}"/>
              </a:ext>
            </a:extLst>
          </p:cNvPr>
          <p:cNvSpPr/>
          <p:nvPr/>
        </p:nvSpPr>
        <p:spPr>
          <a:xfrm>
            <a:off x="6524511" y="3375061"/>
            <a:ext cx="4656107" cy="712991"/>
          </a:xfrm>
          <a:prstGeom prst="round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ira Sans" panose="020B0503050000020004" pitchFamily="34" charset="0"/>
              </a:rPr>
              <a:t>Recirculation increases </a:t>
            </a:r>
            <a:r>
              <a:rPr lang="en-US" sz="2000" dirty="0">
                <a:solidFill>
                  <a:srgbClr val="FFFF00"/>
                </a:solidFill>
                <a:latin typeface="Fira Sans" panose="020B0503050000020004" pitchFamily="34" charset="0"/>
              </a:rPr>
              <a:t>more out-of-order packets</a:t>
            </a:r>
            <a:endParaRPr lang="en-KR" sz="2000" dirty="0">
              <a:solidFill>
                <a:srgbClr val="FFFF00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6D7B8AC-F116-68AC-D978-3F7A61739499}"/>
              </a:ext>
            </a:extLst>
          </p:cNvPr>
          <p:cNvGrpSpPr/>
          <p:nvPr/>
        </p:nvGrpSpPr>
        <p:grpSpPr>
          <a:xfrm>
            <a:off x="8157600" y="4122570"/>
            <a:ext cx="2563679" cy="1249244"/>
            <a:chOff x="8157600" y="4122570"/>
            <a:chExt cx="2563679" cy="124924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FE6C706-4403-8733-86EA-89B4F249571B}"/>
                </a:ext>
              </a:extLst>
            </p:cNvPr>
            <p:cNvGrpSpPr/>
            <p:nvPr/>
          </p:nvGrpSpPr>
          <p:grpSpPr>
            <a:xfrm>
              <a:off x="8477382" y="4905208"/>
              <a:ext cx="1842078" cy="466606"/>
              <a:chOff x="9152238" y="2843659"/>
              <a:chExt cx="986012" cy="27775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CFD7346-D8A0-C96D-14D5-90F8A49F3328}"/>
                  </a:ext>
                </a:extLst>
              </p:cNvPr>
              <p:cNvCxnSpPr/>
              <p:nvPr/>
            </p:nvCxnSpPr>
            <p:spPr>
              <a:xfrm>
                <a:off x="9152238" y="2843659"/>
                <a:ext cx="98601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16231CD-6D16-67DD-C425-BFF3C31BFA99}"/>
                  </a:ext>
                </a:extLst>
              </p:cNvPr>
              <p:cNvCxnSpPr/>
              <p:nvPr/>
            </p:nvCxnSpPr>
            <p:spPr>
              <a:xfrm>
                <a:off x="9152238" y="3113864"/>
                <a:ext cx="98601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18C4BD2-CEDF-A198-C6E4-B26AAF854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38250" y="2843659"/>
                <a:ext cx="0" cy="277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E48C6B2-0A65-8C3F-8D72-F9483B4166B9}"/>
                </a:ext>
              </a:extLst>
            </p:cNvPr>
            <p:cNvSpPr/>
            <p:nvPr/>
          </p:nvSpPr>
          <p:spPr>
            <a:xfrm>
              <a:off x="8337818" y="4585340"/>
              <a:ext cx="2307394" cy="550258"/>
            </a:xfrm>
            <a:custGeom>
              <a:avLst/>
              <a:gdLst>
                <a:gd name="connsiteX0" fmla="*/ 2516623 w 2921225"/>
                <a:gd name="connsiteY0" fmla="*/ 550258 h 550258"/>
                <a:gd name="connsiteX1" fmla="*/ 2921225 w 2921225"/>
                <a:gd name="connsiteY1" fmla="*/ 550258 h 550258"/>
                <a:gd name="connsiteX2" fmla="*/ 2921225 w 2921225"/>
                <a:gd name="connsiteY2" fmla="*/ 0 h 550258"/>
                <a:gd name="connsiteX3" fmla="*/ 0 w 2921225"/>
                <a:gd name="connsiteY3" fmla="*/ 0 h 550258"/>
                <a:gd name="connsiteX4" fmla="*/ 0 w 2921225"/>
                <a:gd name="connsiteY4" fmla="*/ 534074 h 550258"/>
                <a:gd name="connsiteX5" fmla="*/ 315590 w 2921225"/>
                <a:gd name="connsiteY5" fmla="*/ 534074 h 550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21225" h="550258">
                  <a:moveTo>
                    <a:pt x="2516623" y="550258"/>
                  </a:moveTo>
                  <a:lnTo>
                    <a:pt x="2921225" y="550258"/>
                  </a:lnTo>
                  <a:lnTo>
                    <a:pt x="2921225" y="0"/>
                  </a:lnTo>
                  <a:lnTo>
                    <a:pt x="0" y="0"/>
                  </a:lnTo>
                  <a:lnTo>
                    <a:pt x="0" y="534074"/>
                  </a:lnTo>
                  <a:lnTo>
                    <a:pt x="315590" y="534074"/>
                  </a:lnTo>
                </a:path>
              </a:pathLst>
            </a:cu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F61C32E-978D-98E5-0038-F3E9E89BE322}"/>
                </a:ext>
              </a:extLst>
            </p:cNvPr>
            <p:cNvSpPr txBox="1"/>
            <p:nvPr/>
          </p:nvSpPr>
          <p:spPr>
            <a:xfrm>
              <a:off x="8157600" y="4122570"/>
              <a:ext cx="256367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KR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Recirc. </a:t>
              </a:r>
              <a:r>
                <a:rPr 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&amp; flushing</a:t>
              </a:r>
              <a:endParaRPr lang="en-KR" sz="2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18A6D2-1390-4163-E6BF-45EB0A24DEFD}"/>
                </a:ext>
              </a:extLst>
            </p:cNvPr>
            <p:cNvSpPr/>
            <p:nvPr/>
          </p:nvSpPr>
          <p:spPr>
            <a:xfrm>
              <a:off x="9841890" y="4953450"/>
              <a:ext cx="357447" cy="35744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2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4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25A4FD-95A5-6F14-6CA0-522828EBCD0F}"/>
                </a:ext>
              </a:extLst>
            </p:cNvPr>
            <p:cNvSpPr/>
            <p:nvPr/>
          </p:nvSpPr>
          <p:spPr>
            <a:xfrm>
              <a:off x="9370705" y="4953449"/>
              <a:ext cx="357447" cy="357447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2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3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C29A34-4861-F7D8-7CB5-5D59164B2035}"/>
                </a:ext>
              </a:extLst>
            </p:cNvPr>
            <p:cNvSpPr/>
            <p:nvPr/>
          </p:nvSpPr>
          <p:spPr>
            <a:xfrm>
              <a:off x="8899520" y="4953449"/>
              <a:ext cx="357447" cy="357447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2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2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154E0CA3-6847-CECC-1832-D30D9310D2A0}"/>
              </a:ext>
            </a:extLst>
          </p:cNvPr>
          <p:cNvSpPr txBox="1"/>
          <p:nvPr/>
        </p:nvSpPr>
        <p:spPr>
          <a:xfrm>
            <a:off x="6816257" y="5481532"/>
            <a:ext cx="4166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enqueue rate </a:t>
            </a:r>
            <a:r>
              <a: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&gt;</a:t>
            </a:r>
            <a:r>
              <a:rPr lang="en-US" sz="28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 </a:t>
            </a:r>
            <a:r>
              <a:rPr lang="en-US" sz="28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flush rate</a:t>
            </a:r>
            <a:endParaRPr lang="en-KR" sz="2800" dirty="0">
              <a:solidFill>
                <a:schemeClr val="accent6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0F93C5-92E3-F368-774D-93C3E4517E57}"/>
              </a:ext>
            </a:extLst>
          </p:cNvPr>
          <p:cNvCxnSpPr>
            <a:cxnSpLocks/>
          </p:cNvCxnSpPr>
          <p:nvPr/>
        </p:nvCxnSpPr>
        <p:spPr>
          <a:xfrm>
            <a:off x="10319460" y="5213399"/>
            <a:ext cx="861158" cy="0"/>
          </a:xfrm>
          <a:prstGeom prst="straightConnector1">
            <a:avLst/>
          </a:prstGeom>
          <a:ln w="38100">
            <a:solidFill>
              <a:schemeClr val="accent6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514D1AD-6BD4-B534-D40A-6FD6DC5B088C}"/>
              </a:ext>
            </a:extLst>
          </p:cNvPr>
          <p:cNvSpPr/>
          <p:nvPr/>
        </p:nvSpPr>
        <p:spPr>
          <a:xfrm>
            <a:off x="7397709" y="4724301"/>
            <a:ext cx="357447" cy="3574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22F926C-B2D0-0091-1C41-8909ADB07776}"/>
              </a:ext>
            </a:extLst>
          </p:cNvPr>
          <p:cNvSpPr/>
          <p:nvPr/>
        </p:nvSpPr>
        <p:spPr>
          <a:xfrm>
            <a:off x="6998103" y="4724300"/>
            <a:ext cx="357447" cy="3574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15CAF7-5931-36FF-87D7-16870CF9BF3E}"/>
              </a:ext>
            </a:extLst>
          </p:cNvPr>
          <p:cNvSpPr txBox="1"/>
          <p:nvPr/>
        </p:nvSpPr>
        <p:spPr>
          <a:xfrm>
            <a:off x="6438497" y="4438056"/>
            <a:ext cx="527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40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…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6C2800D-730F-32A3-ACAE-4C9C9154374E}"/>
              </a:ext>
            </a:extLst>
          </p:cNvPr>
          <p:cNvGrpSpPr/>
          <p:nvPr/>
        </p:nvGrpSpPr>
        <p:grpSpPr>
          <a:xfrm>
            <a:off x="3206764" y="4422187"/>
            <a:ext cx="2677378" cy="1322439"/>
            <a:chOff x="3206764" y="4422187"/>
            <a:chExt cx="2677378" cy="1322439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6E596BF-7CBC-DEB5-87FE-C2D718D802E4}"/>
                </a:ext>
              </a:extLst>
            </p:cNvPr>
            <p:cNvCxnSpPr>
              <a:cxnSpLocks/>
            </p:cNvCxnSpPr>
            <p:nvPr/>
          </p:nvCxnSpPr>
          <p:spPr>
            <a:xfrm>
              <a:off x="3206764" y="4422187"/>
              <a:ext cx="558526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CB96C7B-19F2-30C1-3497-2162C31B24F8}"/>
                </a:ext>
              </a:extLst>
            </p:cNvPr>
            <p:cNvCxnSpPr>
              <a:cxnSpLocks/>
            </p:cNvCxnSpPr>
            <p:nvPr/>
          </p:nvCxnSpPr>
          <p:spPr>
            <a:xfrm>
              <a:off x="5325616" y="5744626"/>
              <a:ext cx="558526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B8B18EE-A06C-CD2D-983E-52C17A6C8110}"/>
                </a:ext>
              </a:extLst>
            </p:cNvPr>
            <p:cNvCxnSpPr>
              <a:cxnSpLocks/>
            </p:cNvCxnSpPr>
            <p:nvPr/>
          </p:nvCxnSpPr>
          <p:spPr>
            <a:xfrm>
              <a:off x="5325616" y="5135598"/>
              <a:ext cx="558526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DB6033A-0F56-0A51-EC00-DC5D11874BC9}"/>
                </a:ext>
              </a:extLst>
            </p:cNvPr>
            <p:cNvCxnSpPr>
              <a:cxnSpLocks/>
            </p:cNvCxnSpPr>
            <p:nvPr/>
          </p:nvCxnSpPr>
          <p:spPr>
            <a:xfrm>
              <a:off x="5325616" y="4582951"/>
              <a:ext cx="558526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Curved Connector 62">
              <a:extLst>
                <a:ext uri="{FF2B5EF4-FFF2-40B4-BE49-F238E27FC236}">
                  <a16:creationId xmlns:a16="http://schemas.microsoft.com/office/drawing/2014/main" id="{6735EC1F-5526-E699-B02D-CF77B083D22B}"/>
                </a:ext>
              </a:extLst>
            </p:cNvPr>
            <p:cNvCxnSpPr/>
            <p:nvPr/>
          </p:nvCxnSpPr>
          <p:spPr>
            <a:xfrm>
              <a:off x="3480619" y="4582951"/>
              <a:ext cx="1317523" cy="1161675"/>
            </a:xfrm>
            <a:prstGeom prst="curvedConnector3">
              <a:avLst>
                <a:gd name="adj1" fmla="val 26119"/>
              </a:avLst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F1E8F6B1-DCCE-0D15-0AD8-DE01BDCC2F7D}"/>
                </a:ext>
              </a:extLst>
            </p:cNvPr>
            <p:cNvSpPr/>
            <p:nvPr/>
          </p:nvSpPr>
          <p:spPr>
            <a:xfrm>
              <a:off x="4345849" y="5152103"/>
              <a:ext cx="422796" cy="491613"/>
            </a:xfrm>
            <a:custGeom>
              <a:avLst/>
              <a:gdLst>
                <a:gd name="connsiteX0" fmla="*/ 412964 w 422796"/>
                <a:gd name="connsiteY0" fmla="*/ 491613 h 491613"/>
                <a:gd name="connsiteX1" fmla="*/ 9 w 422796"/>
                <a:gd name="connsiteY1" fmla="*/ 255639 h 491613"/>
                <a:gd name="connsiteX2" fmla="*/ 422796 w 422796"/>
                <a:gd name="connsiteY2" fmla="*/ 0 h 49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796" h="491613">
                  <a:moveTo>
                    <a:pt x="412964" y="491613"/>
                  </a:moveTo>
                  <a:cubicBezTo>
                    <a:pt x="205667" y="414593"/>
                    <a:pt x="-1630" y="337574"/>
                    <a:pt x="9" y="255639"/>
                  </a:cubicBezTo>
                  <a:cubicBezTo>
                    <a:pt x="1648" y="173704"/>
                    <a:pt x="212222" y="86852"/>
                    <a:pt x="422796" y="0"/>
                  </a:cubicBez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73A0E53A-AE03-D36E-A161-3BEE8D4A4E2E}"/>
                </a:ext>
              </a:extLst>
            </p:cNvPr>
            <p:cNvSpPr/>
            <p:nvPr/>
          </p:nvSpPr>
          <p:spPr>
            <a:xfrm>
              <a:off x="4302361" y="4579363"/>
              <a:ext cx="422796" cy="491613"/>
            </a:xfrm>
            <a:custGeom>
              <a:avLst/>
              <a:gdLst>
                <a:gd name="connsiteX0" fmla="*/ 412964 w 422796"/>
                <a:gd name="connsiteY0" fmla="*/ 491613 h 491613"/>
                <a:gd name="connsiteX1" fmla="*/ 9 w 422796"/>
                <a:gd name="connsiteY1" fmla="*/ 255639 h 491613"/>
                <a:gd name="connsiteX2" fmla="*/ 422796 w 422796"/>
                <a:gd name="connsiteY2" fmla="*/ 0 h 49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796" h="491613">
                  <a:moveTo>
                    <a:pt x="412964" y="491613"/>
                  </a:moveTo>
                  <a:cubicBezTo>
                    <a:pt x="205667" y="414593"/>
                    <a:pt x="-1630" y="337574"/>
                    <a:pt x="9" y="255639"/>
                  </a:cubicBezTo>
                  <a:cubicBezTo>
                    <a:pt x="1648" y="173704"/>
                    <a:pt x="212222" y="86852"/>
                    <a:pt x="422796" y="0"/>
                  </a:cubicBez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2B8FA203-4ADF-FDAD-EE38-87E9CE79DDAC}"/>
              </a:ext>
            </a:extLst>
          </p:cNvPr>
          <p:cNvSpPr txBox="1"/>
          <p:nvPr/>
        </p:nvSpPr>
        <p:spPr>
          <a:xfrm>
            <a:off x="2198346" y="5530895"/>
            <a:ext cx="1755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flush in relays</a:t>
            </a:r>
            <a:endParaRPr lang="en-KR" sz="2000" b="1" i="1" dirty="0">
              <a:solidFill>
                <a:schemeClr val="tx1">
                  <a:lumMod val="50000"/>
                  <a:lumOff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B4243683-9BCC-1855-BED3-6D3A2A2B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36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1346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5377BBD-5B3E-872F-36B9-CCD5275D1C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16"/>
          <a:stretch/>
        </p:blipFill>
        <p:spPr>
          <a:xfrm>
            <a:off x="6538603" y="2559950"/>
            <a:ext cx="4709611" cy="31755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BACKUP SLIDE – Motivating Results</a:t>
            </a:r>
            <a:endParaRPr lang="en-KR" sz="3600" b="1" dirty="0">
              <a:latin typeface="+mn-lt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0470E6D-E634-9DAB-81D4-D1796034C701}"/>
              </a:ext>
            </a:extLst>
          </p:cNvPr>
          <p:cNvSpPr/>
          <p:nvPr/>
        </p:nvSpPr>
        <p:spPr>
          <a:xfrm>
            <a:off x="1906721" y="1592922"/>
            <a:ext cx="8729996" cy="732835"/>
          </a:xfrm>
          <a:prstGeom prst="roundRect">
            <a:avLst>
              <a:gd name="adj" fmla="val 21879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SG" sz="2400" b="1" dirty="0">
                <a:solidFill>
                  <a:srgbClr val="C00000"/>
                </a:solidFill>
                <a:effectLst/>
                <a:latin typeface="Fira Sans" panose="020B0503050000020004" pitchFamily="34" charset="0"/>
              </a:rPr>
              <a:t>Existing solutions perform worse than ECMP, if not on par. </a:t>
            </a:r>
            <a:endParaRPr lang="en-SG" sz="2400" b="1" dirty="0">
              <a:solidFill>
                <a:srgbClr val="C00000"/>
              </a:solidFill>
              <a:latin typeface="Fira Sans" panose="020B05030500000200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1819537-DC03-BB87-60FD-A9860CA9CED2}"/>
              </a:ext>
            </a:extLst>
          </p:cNvPr>
          <p:cNvSpPr/>
          <p:nvPr/>
        </p:nvSpPr>
        <p:spPr>
          <a:xfrm>
            <a:off x="3691467" y="1325563"/>
            <a:ext cx="5621866" cy="493012"/>
          </a:xfrm>
          <a:prstGeom prst="roundRect">
            <a:avLst>
              <a:gd name="adj" fmla="val 30406"/>
            </a:avLst>
          </a:prstGeom>
          <a:solidFill>
            <a:srgbClr val="C0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latin typeface="Fira Sans" panose="020B0503050000020004" pitchFamily="34" charset="0"/>
              </a:rPr>
              <a:t>Observation from our RoCEv2 Testbed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D90569F-A2EA-ABB4-0015-2ED722E9F790}"/>
              </a:ext>
            </a:extLst>
          </p:cNvPr>
          <p:cNvGrpSpPr/>
          <p:nvPr/>
        </p:nvGrpSpPr>
        <p:grpSpPr>
          <a:xfrm>
            <a:off x="5041712" y="3263744"/>
            <a:ext cx="1574469" cy="1923939"/>
            <a:chOff x="5359774" y="3436646"/>
            <a:chExt cx="1574469" cy="1923939"/>
          </a:xfrm>
        </p:grpSpPr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E426E71-CCB9-E910-F67D-882234957CC7}"/>
                </a:ext>
              </a:extLst>
            </p:cNvPr>
            <p:cNvCxnSpPr>
              <a:cxnSpLocks/>
            </p:cNvCxnSpPr>
            <p:nvPr/>
          </p:nvCxnSpPr>
          <p:spPr>
            <a:xfrm>
              <a:off x="6452655" y="4498967"/>
              <a:ext cx="0" cy="861618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03A0340-25F4-B05C-B4D0-4382BDB9764A}"/>
                </a:ext>
              </a:extLst>
            </p:cNvPr>
            <p:cNvSpPr txBox="1"/>
            <p:nvPr/>
          </p:nvSpPr>
          <p:spPr>
            <a:xfrm>
              <a:off x="5359774" y="3436646"/>
              <a:ext cx="157446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Flow </a:t>
              </a:r>
              <a:br>
                <a:rPr lang="en-KR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</a:br>
              <a:r>
                <a:rPr lang="en-KR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Completion </a:t>
              </a:r>
              <a:br>
                <a:rPr lang="en-KR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</a:br>
              <a:r>
                <a:rPr lang="en-KR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Time (µs)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9FA7F0F-227A-F0C3-C6AA-5DA387D7A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45073" y="4498967"/>
              <a:ext cx="800953" cy="800953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90B8A6B-63B1-4CF5-3D96-B8CB6EA4A097}"/>
              </a:ext>
            </a:extLst>
          </p:cNvPr>
          <p:cNvGrpSpPr/>
          <p:nvPr/>
        </p:nvGrpSpPr>
        <p:grpSpPr>
          <a:xfrm>
            <a:off x="1180866" y="2629212"/>
            <a:ext cx="3453313" cy="3680987"/>
            <a:chOff x="1180866" y="2629212"/>
            <a:chExt cx="3453313" cy="368098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6857BFC-6619-EB4B-3AAF-65D0569A9AE7}"/>
                </a:ext>
              </a:extLst>
            </p:cNvPr>
            <p:cNvSpPr/>
            <p:nvPr/>
          </p:nvSpPr>
          <p:spPr>
            <a:xfrm>
              <a:off x="1860980" y="5267470"/>
              <a:ext cx="813660" cy="468057"/>
            </a:xfrm>
            <a:prstGeom prst="rect">
              <a:avLst/>
            </a:prstGeom>
            <a:ln w="12700">
              <a:solidFill>
                <a:schemeClr val="accent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6CA1B81-7D5E-1A50-3E0C-B006CE58AF11}"/>
                </a:ext>
              </a:extLst>
            </p:cNvPr>
            <p:cNvSpPr/>
            <p:nvPr/>
          </p:nvSpPr>
          <p:spPr>
            <a:xfrm>
              <a:off x="1924640" y="5337809"/>
              <a:ext cx="152123" cy="335605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5FA015-29EE-55C5-E87A-2CEC36EAEC2D}"/>
                </a:ext>
              </a:extLst>
            </p:cNvPr>
            <p:cNvSpPr/>
            <p:nvPr/>
          </p:nvSpPr>
          <p:spPr>
            <a:xfrm>
              <a:off x="1963472" y="4731335"/>
              <a:ext cx="667157" cy="232680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266E0A6-959E-94AB-7460-6C2A83C0A247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2297051" y="4964015"/>
              <a:ext cx="0" cy="30345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8F7B47E-A0EC-044C-3281-FEB52D014E34}"/>
                </a:ext>
              </a:extLst>
            </p:cNvPr>
            <p:cNvSpPr txBox="1"/>
            <p:nvPr/>
          </p:nvSpPr>
          <p:spPr>
            <a:xfrm>
              <a:off x="2140423" y="5212307"/>
              <a:ext cx="5677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Fira Sans" panose="020B0503050000020004" pitchFamily="34" charset="0"/>
                </a:rPr>
                <a:t>X</a:t>
              </a:r>
              <a:r>
                <a:rPr lang="en-KR" dirty="0">
                  <a:latin typeface="Fira Sans" panose="020B0503050000020004" pitchFamily="34" charset="0"/>
                </a:rPr>
                <a:t> </a:t>
              </a:r>
              <a:r>
                <a:rPr lang="en-KR" sz="2800" dirty="0">
                  <a:latin typeface="Fira Sans" panose="020B0503050000020004" pitchFamily="34" charset="0"/>
                </a:rPr>
                <a:t>8</a:t>
              </a:r>
              <a:endParaRPr lang="en-KR" dirty="0">
                <a:latin typeface="Fira Sans" panose="020B05030500000200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77A3CC5-01DF-27C1-F32C-7941A7BB62B6}"/>
                </a:ext>
              </a:extLst>
            </p:cNvPr>
            <p:cNvSpPr/>
            <p:nvPr/>
          </p:nvSpPr>
          <p:spPr>
            <a:xfrm>
              <a:off x="3157372" y="5267470"/>
              <a:ext cx="813660" cy="468057"/>
            </a:xfrm>
            <a:prstGeom prst="rect">
              <a:avLst/>
            </a:prstGeom>
            <a:ln w="12700">
              <a:solidFill>
                <a:schemeClr val="accent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B56BA81-3CC9-9772-6E10-42721595E5BC}"/>
                </a:ext>
              </a:extLst>
            </p:cNvPr>
            <p:cNvSpPr/>
            <p:nvPr/>
          </p:nvSpPr>
          <p:spPr>
            <a:xfrm>
              <a:off x="3221032" y="5337809"/>
              <a:ext cx="152123" cy="335605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AB6732C-5AFE-5C3B-A048-C09A7DDD773C}"/>
                </a:ext>
              </a:extLst>
            </p:cNvPr>
            <p:cNvSpPr/>
            <p:nvPr/>
          </p:nvSpPr>
          <p:spPr>
            <a:xfrm>
              <a:off x="3259864" y="4731335"/>
              <a:ext cx="667157" cy="232680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EE3CB5E-5D4E-6577-F6F6-1850ED71F2EC}"/>
                </a:ext>
              </a:extLst>
            </p:cNvPr>
            <p:cNvCxnSpPr>
              <a:cxnSpLocks/>
              <a:stCxn id="38" idx="2"/>
            </p:cNvCxnSpPr>
            <p:nvPr/>
          </p:nvCxnSpPr>
          <p:spPr>
            <a:xfrm>
              <a:off x="3593443" y="4964015"/>
              <a:ext cx="0" cy="30345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DE559F6-4EDB-19A7-47C1-1E667F5C9827}"/>
                </a:ext>
              </a:extLst>
            </p:cNvPr>
            <p:cNvSpPr txBox="1"/>
            <p:nvPr/>
          </p:nvSpPr>
          <p:spPr>
            <a:xfrm>
              <a:off x="3436815" y="5212307"/>
              <a:ext cx="5677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Fira Sans" panose="020B0503050000020004" pitchFamily="34" charset="0"/>
                </a:rPr>
                <a:t>X</a:t>
              </a:r>
              <a:r>
                <a:rPr lang="en-KR" dirty="0">
                  <a:latin typeface="Fira Sans" panose="020B0503050000020004" pitchFamily="34" charset="0"/>
                </a:rPr>
                <a:t> </a:t>
              </a:r>
              <a:r>
                <a:rPr lang="en-KR" sz="2800" dirty="0">
                  <a:latin typeface="Fira Sans" panose="020B0503050000020004" pitchFamily="34" charset="0"/>
                </a:rPr>
                <a:t>8</a:t>
              </a:r>
              <a:endParaRPr lang="en-KR" dirty="0">
                <a:latin typeface="Fira Sans" panose="020B0503050000020004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70101B7-42A7-C077-8044-11EE4926B27B}"/>
                </a:ext>
              </a:extLst>
            </p:cNvPr>
            <p:cNvSpPr/>
            <p:nvPr/>
          </p:nvSpPr>
          <p:spPr>
            <a:xfrm>
              <a:off x="1370082" y="3828138"/>
              <a:ext cx="667157" cy="232680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2F10720-7152-DCB4-AE5B-0564BA9601D0}"/>
                </a:ext>
              </a:extLst>
            </p:cNvPr>
            <p:cNvSpPr/>
            <p:nvPr/>
          </p:nvSpPr>
          <p:spPr>
            <a:xfrm>
              <a:off x="2183742" y="3828138"/>
              <a:ext cx="667157" cy="232680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7F564F2-DC9B-0692-0C6D-9DCAA025F48D}"/>
                </a:ext>
              </a:extLst>
            </p:cNvPr>
            <p:cNvSpPr/>
            <p:nvPr/>
          </p:nvSpPr>
          <p:spPr>
            <a:xfrm>
              <a:off x="2981425" y="3832404"/>
              <a:ext cx="667157" cy="232680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95E4B1E-8BFA-87FD-43EE-32372161839E}"/>
                </a:ext>
              </a:extLst>
            </p:cNvPr>
            <p:cNvSpPr/>
            <p:nvPr/>
          </p:nvSpPr>
          <p:spPr>
            <a:xfrm>
              <a:off x="3795085" y="3832404"/>
              <a:ext cx="667157" cy="232680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DB8C83C-B607-EE71-E2B3-65E7D895F6EB}"/>
                </a:ext>
              </a:extLst>
            </p:cNvPr>
            <p:cNvCxnSpPr>
              <a:cxnSpLocks/>
              <a:stCxn id="41" idx="2"/>
              <a:endCxn id="10" idx="0"/>
            </p:cNvCxnSpPr>
            <p:nvPr/>
          </p:nvCxnSpPr>
          <p:spPr>
            <a:xfrm>
              <a:off x="1703661" y="4060818"/>
              <a:ext cx="593390" cy="67051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C2D3497-7612-87AD-6907-FB46A3CEAA78}"/>
                </a:ext>
              </a:extLst>
            </p:cNvPr>
            <p:cNvCxnSpPr>
              <a:cxnSpLocks/>
              <a:stCxn id="41" idx="2"/>
              <a:endCxn id="38" idx="0"/>
            </p:cNvCxnSpPr>
            <p:nvPr/>
          </p:nvCxnSpPr>
          <p:spPr>
            <a:xfrm>
              <a:off x="1703661" y="4060818"/>
              <a:ext cx="1889782" cy="67051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CA2B32B-97FB-A664-D67A-AD0FB7B0BA3F}"/>
                </a:ext>
              </a:extLst>
            </p:cNvPr>
            <p:cNvCxnSpPr>
              <a:cxnSpLocks/>
              <a:stCxn id="42" idx="2"/>
              <a:endCxn id="38" idx="0"/>
            </p:cNvCxnSpPr>
            <p:nvPr/>
          </p:nvCxnSpPr>
          <p:spPr>
            <a:xfrm>
              <a:off x="2517321" y="4060818"/>
              <a:ext cx="1076122" cy="67051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8E395E9-4543-F564-DDC4-CDDD3A8A4382}"/>
                </a:ext>
              </a:extLst>
            </p:cNvPr>
            <p:cNvCxnSpPr>
              <a:cxnSpLocks/>
              <a:stCxn id="42" idx="2"/>
              <a:endCxn id="10" idx="0"/>
            </p:cNvCxnSpPr>
            <p:nvPr/>
          </p:nvCxnSpPr>
          <p:spPr>
            <a:xfrm flipH="1">
              <a:off x="2297051" y="4060818"/>
              <a:ext cx="220270" cy="67051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27EE444-228E-A4CC-2C6E-426D16F78B02}"/>
                </a:ext>
              </a:extLst>
            </p:cNvPr>
            <p:cNvCxnSpPr>
              <a:cxnSpLocks/>
              <a:stCxn id="44" idx="2"/>
              <a:endCxn id="10" idx="0"/>
            </p:cNvCxnSpPr>
            <p:nvPr/>
          </p:nvCxnSpPr>
          <p:spPr>
            <a:xfrm flipH="1">
              <a:off x="2297051" y="4065084"/>
              <a:ext cx="1017953" cy="66625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DDEDBC0-5A31-C5B3-13B2-10E70526C94D}"/>
                </a:ext>
              </a:extLst>
            </p:cNvPr>
            <p:cNvCxnSpPr>
              <a:cxnSpLocks/>
              <a:stCxn id="44" idx="2"/>
              <a:endCxn id="38" idx="0"/>
            </p:cNvCxnSpPr>
            <p:nvPr/>
          </p:nvCxnSpPr>
          <p:spPr>
            <a:xfrm>
              <a:off x="3315004" y="4065084"/>
              <a:ext cx="278439" cy="66625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74ED480-4C76-C1E8-9C34-3BCF09168B44}"/>
                </a:ext>
              </a:extLst>
            </p:cNvPr>
            <p:cNvCxnSpPr>
              <a:cxnSpLocks/>
              <a:stCxn id="45" idx="2"/>
              <a:endCxn id="10" idx="0"/>
            </p:cNvCxnSpPr>
            <p:nvPr/>
          </p:nvCxnSpPr>
          <p:spPr>
            <a:xfrm flipH="1">
              <a:off x="2297051" y="4065084"/>
              <a:ext cx="1831613" cy="66625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6A0D443-D798-DE64-E2AC-AE2F8759A7E1}"/>
                </a:ext>
              </a:extLst>
            </p:cNvPr>
            <p:cNvCxnSpPr>
              <a:cxnSpLocks/>
              <a:stCxn id="45" idx="2"/>
              <a:endCxn id="38" idx="0"/>
            </p:cNvCxnSpPr>
            <p:nvPr/>
          </p:nvCxnSpPr>
          <p:spPr>
            <a:xfrm flipH="1">
              <a:off x="3593443" y="4065084"/>
              <a:ext cx="535221" cy="66625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12CB670-FA2C-9297-D9F6-A1AF26267622}"/>
                </a:ext>
              </a:extLst>
            </p:cNvPr>
            <p:cNvSpPr txBox="1"/>
            <p:nvPr/>
          </p:nvSpPr>
          <p:spPr>
            <a:xfrm>
              <a:off x="1180866" y="2629212"/>
              <a:ext cx="3452532" cy="101566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KR" sz="2000" i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Lossless RDMA (RoCE)</a:t>
              </a:r>
            </a:p>
            <a:p>
              <a:pPr algn="ctr"/>
              <a:r>
                <a:rPr lang="en-KR" sz="2000" i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Network Load = 50%</a:t>
              </a:r>
            </a:p>
            <a:p>
              <a:pPr algn="ctr"/>
              <a:r>
                <a:rPr lang="en-KR" sz="2000" i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RPC workload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AC94F03-61E4-2DC6-B5F3-1F96CEA901D5}"/>
                </a:ext>
              </a:extLst>
            </p:cNvPr>
            <p:cNvSpPr/>
            <p:nvPr/>
          </p:nvSpPr>
          <p:spPr>
            <a:xfrm>
              <a:off x="1496865" y="5957731"/>
              <a:ext cx="152123" cy="335605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71CE3F3-EC0E-D3F8-3060-308407675239}"/>
                </a:ext>
              </a:extLst>
            </p:cNvPr>
            <p:cNvSpPr txBox="1"/>
            <p:nvPr/>
          </p:nvSpPr>
          <p:spPr>
            <a:xfrm>
              <a:off x="1626829" y="5940867"/>
              <a:ext cx="3007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KR" sz="18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:</a:t>
              </a:r>
              <a:r>
                <a:rPr lang="en-KR" sz="1800" i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NVIDIA CX-5/6 25G</a:t>
              </a:r>
              <a:r>
                <a:rPr lang="en-KR" sz="1800" b="1" i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KR" sz="1800" i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Port</a:t>
              </a:r>
              <a:endParaRPr lang="en-KR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47F617-3489-462D-0310-E54CB4D94195}"/>
                </a:ext>
              </a:extLst>
            </p:cNvPr>
            <p:cNvSpPr txBox="1"/>
            <p:nvPr/>
          </p:nvSpPr>
          <p:spPr>
            <a:xfrm>
              <a:off x="1385663" y="4289232"/>
              <a:ext cx="6434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KR" sz="1800" i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25G</a:t>
              </a:r>
              <a:endParaRPr lang="en-KR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ED7C296-263A-61A6-0BD8-570901EBC577}"/>
              </a:ext>
            </a:extLst>
          </p:cNvPr>
          <p:cNvGrpSpPr/>
          <p:nvPr/>
        </p:nvGrpSpPr>
        <p:grpSpPr>
          <a:xfrm>
            <a:off x="7097310" y="3712454"/>
            <a:ext cx="4415570" cy="2849145"/>
            <a:chOff x="7261126" y="3998688"/>
            <a:chExt cx="4415570" cy="284914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636B60-F210-54CF-03EC-AFA90A3C9DBF}"/>
                </a:ext>
              </a:extLst>
            </p:cNvPr>
            <p:cNvSpPr/>
            <p:nvPr/>
          </p:nvSpPr>
          <p:spPr>
            <a:xfrm>
              <a:off x="7261126" y="3998688"/>
              <a:ext cx="748935" cy="1988386"/>
            </a:xfrm>
            <a:prstGeom prst="rect">
              <a:avLst/>
            </a:prstGeom>
            <a:solidFill>
              <a:srgbClr val="FFFF00">
                <a:alpha val="12468"/>
              </a:srgb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CC6E11A-1809-F55E-35F2-B6475FD3611D}"/>
                </a:ext>
              </a:extLst>
            </p:cNvPr>
            <p:cNvSpPr txBox="1"/>
            <p:nvPr/>
          </p:nvSpPr>
          <p:spPr>
            <a:xfrm>
              <a:off x="8117577" y="6109169"/>
              <a:ext cx="247261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KR" sz="24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Flowlet</a:t>
              </a:r>
              <a:br>
                <a:rPr lang="en-KR" sz="24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</a:br>
              <a:r>
                <a:rPr lang="en-KR" sz="18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(timegap threshold)</a:t>
              </a:r>
              <a:endParaRPr lang="en-KR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1AA776-D061-6DD0-C4AB-C7D3881D5C00}"/>
                </a:ext>
              </a:extLst>
            </p:cNvPr>
            <p:cNvSpPr txBox="1"/>
            <p:nvPr/>
          </p:nvSpPr>
          <p:spPr>
            <a:xfrm>
              <a:off x="10243822" y="6121720"/>
              <a:ext cx="14328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KR" sz="2400" b="1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Per-pkt</a:t>
              </a:r>
              <a:endParaRPr lang="en-KR" sz="2400" dirty="0">
                <a:solidFill>
                  <a:srgbClr val="FF0000"/>
                </a:solidFill>
              </a:endParaRPr>
            </a:p>
          </p:txBody>
        </p:sp>
        <p:sp>
          <p:nvSpPr>
            <p:cNvPr id="15" name="Left Bracket 14">
              <a:extLst>
                <a:ext uri="{FF2B5EF4-FFF2-40B4-BE49-F238E27FC236}">
                  <a16:creationId xmlns:a16="http://schemas.microsoft.com/office/drawing/2014/main" id="{BE858E22-E4AC-5045-05FB-9E1876054675}"/>
                </a:ext>
              </a:extLst>
            </p:cNvPr>
            <p:cNvSpPr/>
            <p:nvPr/>
          </p:nvSpPr>
          <p:spPr>
            <a:xfrm rot="16200000">
              <a:off x="9220918" y="5092629"/>
              <a:ext cx="121386" cy="1924423"/>
            </a:xfrm>
            <a:prstGeom prst="leftBracket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6" name="Left Bracket 15">
              <a:extLst>
                <a:ext uri="{FF2B5EF4-FFF2-40B4-BE49-F238E27FC236}">
                  <a16:creationId xmlns:a16="http://schemas.microsoft.com/office/drawing/2014/main" id="{0F343A1D-2913-C33C-2203-7C558495B546}"/>
                </a:ext>
              </a:extLst>
            </p:cNvPr>
            <p:cNvSpPr/>
            <p:nvPr/>
          </p:nvSpPr>
          <p:spPr>
            <a:xfrm rot="16200000">
              <a:off x="10913795" y="5673117"/>
              <a:ext cx="92928" cy="740139"/>
            </a:xfrm>
            <a:prstGeom prst="leftBracket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51817-0294-3059-952C-C737FCC4C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37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22863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4D48-04DB-1C75-BBD8-59E23964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1300460" cy="1325563"/>
          </a:xfrm>
        </p:spPr>
        <p:txBody>
          <a:bodyPr>
            <a:normAutofit/>
          </a:bodyPr>
          <a:lstStyle/>
          <a:p>
            <a:r>
              <a:rPr lang="en-KR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BACKUP SLIDE – Evaluation on Simulation</a:t>
            </a:r>
            <a:endParaRPr lang="en-KR" sz="3600" b="1" dirty="0">
              <a:latin typeface="+mn-lt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51817-0294-3059-952C-C737FCC4C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F07-81BE-5E4C-907D-DCE44E4A1296}" type="slidenum">
              <a:rPr lang="en-US" smtClean="0"/>
              <a:t>38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CE4F35-B682-B0F9-9839-432FBC77A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530" y="2363174"/>
            <a:ext cx="4168140" cy="39585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8B6BD04-461A-6813-FB94-80FB34B36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459" y="2516378"/>
            <a:ext cx="3999157" cy="3798082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D33EBB1-0942-D5E8-EC01-9B1D63817AE7}"/>
              </a:ext>
            </a:extLst>
          </p:cNvPr>
          <p:cNvSpPr/>
          <p:nvPr/>
        </p:nvSpPr>
        <p:spPr>
          <a:xfrm>
            <a:off x="1906345" y="1919534"/>
            <a:ext cx="3487272" cy="445076"/>
          </a:xfrm>
          <a:prstGeom prst="roundRect">
            <a:avLst>
              <a:gd name="adj" fmla="val 39948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Average, short </a:t>
            </a:r>
            <a:r>
              <a:rPr lang="en-US" sz="2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msgs</a:t>
            </a:r>
            <a:endParaRPr lang="en-US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654BCEE-C665-E872-3A0C-B99C0E561072}"/>
              </a:ext>
            </a:extLst>
          </p:cNvPr>
          <p:cNvSpPr/>
          <p:nvPr/>
        </p:nvSpPr>
        <p:spPr>
          <a:xfrm>
            <a:off x="6866964" y="1918098"/>
            <a:ext cx="3487272" cy="445076"/>
          </a:xfrm>
          <a:prstGeom prst="roundRect">
            <a:avLst>
              <a:gd name="adj" fmla="val 39948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Average, long </a:t>
            </a:r>
            <a:r>
              <a:rPr lang="en-US" sz="24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msgs</a:t>
            </a:r>
            <a:endParaRPr lang="en-US" sz="2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CDE776A-5C87-1D3A-8F2B-BE0008EF353F}"/>
              </a:ext>
            </a:extLst>
          </p:cNvPr>
          <p:cNvSpPr txBox="1">
            <a:spLocks/>
          </p:cNvSpPr>
          <p:nvPr/>
        </p:nvSpPr>
        <p:spPr>
          <a:xfrm>
            <a:off x="472440" y="1190988"/>
            <a:ext cx="10473690" cy="5726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Fat-tree topology with 256 hosts, 100Gbps, 60% Network Load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66436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7.4|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4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3|6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3|6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12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9.2|25.5|3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9.2|25.5|3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9.2|25.5|3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|4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|4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2.2|4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6.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5.4|9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5.4|9.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5.4|9.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5.4|9.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5.4|9.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5.4|9.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5.4|9.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9.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1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4.1|6.6|12.9|10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5.3|7.7|4.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14.2|10.5|4.9|9|4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20589</TotalTime>
  <Words>2171</Words>
  <Application>Microsoft Macintosh PowerPoint</Application>
  <PresentationFormat>Widescreen</PresentationFormat>
  <Paragraphs>487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Söhne</vt:lpstr>
      <vt:lpstr>Arial</vt:lpstr>
      <vt:lpstr>Calibri</vt:lpstr>
      <vt:lpstr>Calibri Light</vt:lpstr>
      <vt:lpstr>Courier New</vt:lpstr>
      <vt:lpstr>Fira Sans</vt:lpstr>
      <vt:lpstr>Roboto</vt:lpstr>
      <vt:lpstr>Office Theme</vt:lpstr>
      <vt:lpstr>Network Load Balancing with  In-network Reordering Support for RDMA</vt:lpstr>
      <vt:lpstr>Remote Direct Memory Access (RDMA)</vt:lpstr>
      <vt:lpstr>This Talk: Network Load Balancing for RDMA </vt:lpstr>
      <vt:lpstr>Prior Load Balancing Designs</vt:lpstr>
      <vt:lpstr>Prior Load Balancing Designs</vt:lpstr>
      <vt:lpstr>Prior Load Balancing Designs</vt:lpstr>
      <vt:lpstr>Prior Load Balancing Designs</vt:lpstr>
      <vt:lpstr>Prior Load Balancing Designs</vt:lpstr>
      <vt:lpstr>Prior Load Balancing Designs</vt:lpstr>
      <vt:lpstr>Prior Load Balancing Designs</vt:lpstr>
      <vt:lpstr>Design Goal</vt:lpstr>
      <vt:lpstr>Idea – In-network Packet Reordering</vt:lpstr>
      <vt:lpstr>Idea – In-network Packet Reordering</vt:lpstr>
      <vt:lpstr>Idea – In-network Packet Reordering</vt:lpstr>
      <vt:lpstr>Challenges in Packet Reordering on Switches</vt:lpstr>
      <vt:lpstr>Challenges in Packet Reordering on Switches</vt:lpstr>
      <vt:lpstr>ConWeave (short for Congestion Weaving)</vt:lpstr>
      <vt:lpstr>ConWeave (short for Congestion Weaving)</vt:lpstr>
      <vt:lpstr>ConWeave (short for Congestion Weaving)</vt:lpstr>
      <vt:lpstr>Cautious Rerouting</vt:lpstr>
      <vt:lpstr>Cautious Rerouting</vt:lpstr>
      <vt:lpstr>Cautious Rerouting</vt:lpstr>
      <vt:lpstr>Cautious Rerouting</vt:lpstr>
      <vt:lpstr>Cautious Rerouting</vt:lpstr>
      <vt:lpstr>Cautious Rerouting</vt:lpstr>
      <vt:lpstr>Cautious Rerouting</vt:lpstr>
      <vt:lpstr>Cautious Rerouting</vt:lpstr>
      <vt:lpstr>Cautious Rerouting</vt:lpstr>
      <vt:lpstr>Evaluation</vt:lpstr>
      <vt:lpstr>ConWeave is effective in reducing RDMA FCTs</vt:lpstr>
      <vt:lpstr>Buffer and Queue Usage Overhead for Reordering</vt:lpstr>
      <vt:lpstr>Summary</vt:lpstr>
      <vt:lpstr>PowerPoint Presentation</vt:lpstr>
      <vt:lpstr>BACKUP SLIDE – ConWeave Packet Loss</vt:lpstr>
      <vt:lpstr>BACKUP SLIDE – Challenge. Path Monitoring</vt:lpstr>
      <vt:lpstr>BACKUP SLIDE – Challenge. Restoring Packet Order</vt:lpstr>
      <vt:lpstr>BACKUP SLIDE – Motivating Results</vt:lpstr>
      <vt:lpstr>BACKUP SLIDE – Evaluation on 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Song Cha Hwan</dc:creator>
  <cp:lastModifiedBy>Song Cha Hwan</cp:lastModifiedBy>
  <cp:revision>3836</cp:revision>
  <dcterms:created xsi:type="dcterms:W3CDTF">2023-03-14T06:59:37Z</dcterms:created>
  <dcterms:modified xsi:type="dcterms:W3CDTF">2023-10-03T02:47:09Z</dcterms:modified>
</cp:coreProperties>
</file>